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382c23a0-0edb-005f-a6e5-1bc3a5c91884}">
          <p14:sldIdLst>
            <p14:sldId id="256"/>
            <p14:sldId id="257"/>
          </p14:sldIdLst>
        </p14:section>
        <p14:section name="Présentation du sujet" id="{69986c25-721e-fe24-5091-75d623144327}">
          <p14:sldIdLst>
            <p14:sldId id="258"/>
            <p14:sldId id="259"/>
            <p14:sldId id="260"/>
            <p14:sldId id="261"/>
            <p14:sldId id="262"/>
          </p14:sldIdLst>
        </p14:section>
        <p14:section name="Partie théorique" id="{7c8da5c3-91e9-3b9b-3e1b-5e3c8e4a5236}">
          <p14:sldIdLst>
            <p14:sldId id="263"/>
            <p14:sldId id="264"/>
            <p14:sldId id="265"/>
            <p14:sldId id="266"/>
            <p14:sldId id="267"/>
            <p14:sldId id="268"/>
          </p14:sldIdLst>
        </p14:section>
        <p14:section name="Partie conception" id="{04067fee-f710-35bb-9b90-0f0d8f172cf5}">
          <p14:sldIdLst>
            <p14:sldId id="269"/>
            <p14:sldId id="270"/>
            <p14:sldId id="271"/>
            <p14:sldId id="272"/>
            <p14:sldId id="273"/>
            <p14:sldId id="274"/>
            <p14:sldId id="275"/>
            <p14:sldId id="276"/>
            <p14:sldId id="277"/>
            <p14:sldId id="278"/>
            <p14:sldId id="279"/>
            <p14:sldId id="280"/>
            <p14:sldId id="281"/>
            <p14:sldId id="282"/>
            <p14:sldId id="283"/>
            <p14:sldId id="284"/>
          </p14:sldIdLst>
        </p14:section>
        <p14:section name="Réalisation" id="{8b1110f0-8100-c05e-6fbc-f2ee65f853bf}">
          <p14:sldIdLst>
            <p14:sldId id="285"/>
            <p14:sldId id="286"/>
            <p14:sldId id="287"/>
            <p14:sldId id="288"/>
            <p14:sldId id="289"/>
            <p14:sldId id="290"/>
            <p14:sldId id="291"/>
            <p14:sldId id="292"/>
            <p14:sldId id="293"/>
          </p14:sldIdLst>
        </p14:section>
        <p14:section name="Conclusion" id="{8a2bb0d6-37c5-006d-b3d1-812a5ee505c7}">
          <p14:sldIdLst>
            <p14:sldId id="294"/>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Mesdames et Messieurs les membres du jury, bonjour. Nous avons l'honneur de vous présenter notre mémoire de fin d'études intitulé « Conception et réalisation d'une plateforme web pour la gestion intégrée de l'INSFP », réalisé au sein de l'Institut National Spécialisé de la Formation Professionnelle Mohamed Tayeb Boucenna, sous l'encadrement de Mme SAIGHI.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présentation suit le plan suivant : nous commencerons par la présentation du sujet, avec l'introduction, la problématique, les objectifs et la présentation de notre projet. La partie théorique présente l'organisme d'accueil, l'étude de cas et l'étude de faisabilité. La partie conception présente les acteurs, la méthode SCRUM, la solution informatique et la modélisation UML. Nous enchaînerons avec la réalisation : les langages, les interfaces, le contrôle et la sécurité. Nous terminerons par la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la présentation du sujet.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le contexte actuel de transformation numérique, la gestion administrative et pédagogique des établissements de formation représente un enjeu majeur. À l'INSFP, une grande partie des activités est encore traitée de manière classique, sur papier ou dans des fichiers séparés, ce qui engendre des pertes de temps, des risques d'erreurs et une difficulté d'accès à l'information. C'est dans cette perspective que s'inscrit notre projet : la conception et la réalisation d'une plateforme web de gestion intégrée de l'INSFP.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Aujourd'hui, une grande partie des activités de l'institut est encore traitée de manière classique, sur papier ou dans des fichiers séparés. Cela entraîne des saisies multiples, des démarches lentes, un accès limité à l'information et l'absence d'un canal de communication officiel. La question à laquelle notre projet répond est donc : comment transformer cette gestion manuelle en une gestion numérique centralisée, fiable et accessible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répondre à cette problématique, la plateforme doit permettre de : numériser et automatiser les processus ; assurer la traçabilité des informations ; faciliter l'accès à l'information en ligne ; automatiser les calculs pédagogiques comme les moyennes et la délibération ; améliorer la communication ; et fournir des indicateurs à travers des tableaux de bord.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répondre à ces objectifs, notre projet consiste à concevoir et réaliser une plateforme web de gestion intégrée destinée à l'administration, aux enseignants et aux stagiaires, ainsi qu'au visiteur qui s'inscrit en ligne.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avoir présenté le contexte de notre projet, passons maintenant à la partie théorique.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stage s'est déroulé à l'Institut National Spécialisé de la Formation Professionnelle Mohamed Tayeb Boucenna, à Hussein Dey. C'est un établissement public qui relève du Ministère de la Formation et de l'Enseignement Professionnels. Créé en 1880 à El Mohammadia, il a été transféré à Hussein Dey en 2016. L'institut compte 73 formateurs et 57 agents administratifs et de soutien. En bas, l'organigramme de l'institut.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ce stage, nous avons été intégrés à la sous-direction de l'apprentissage et de la formation professionnelle continue, qui constitue notre structure d'accueil. Elle assure la formation continue et les cours du soir, la formation par apprentissage, établit les contrats d'apprentissage, prépare les emplois du temps des formateurs, organise les examens semestriels et finaux, et développe les partenariats avec les secteurs économiques.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L'analyse des documents et des postes de travail nous a permis de relever plusieurs insuffisances, et pour chacune nous proposons une solution : la saisie répétée des informations est remplacée par une base de données unique ; le calcul manuel des moyennes par un calcul automatique ; les chevauchements d'emplois du temps par une détection automatique des conflits ; l'affichage papier par une consultation en ligne ; les feuilles d'absence par l'appel numérique ; l'absence de canal officiel par une messagerie interne ; et l'archivage papier par un stockage centralisé avec des sauvegardes régulières.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partir du diagnostic, nous avons établi le cahier des charges. Les besoins fonctionnels sont répartis par espace : l'administration gère les sessions, les spécialités, les numéros d'inscription, les emplois du temps et les délibérations ; l'enseignant fait l'appel, crée les examens, saisit les notes et publie des devoirs ; le stagiaire consulte son emploi du temps, ses notes et son assiduité et remet ses devoirs en ligne. Un assistant intelligent basé sur l'API Gemini répond aux questions des visiteurs.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besoins non fonctionnels définissent la qualité attendue : la sécurité, la performance, la disponibilité 24 heures sur 24, la portabilité grâce à une interface responsive, l'ergonomie avec un thème clair et sombre, et enfin la maintenabilité grâce à l'architecture MVC et aux migrations versionnées.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Maintenant que les objectifs sont bien définis, passons à la conception.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acteurs interagissent avec la plateforme : l'administration, qui gère l'institut ; l'enseignant, qui gère ses séances, ses examens et ses notes ; le stagiaire, qui consulte ses informations ; et le visiteur, c'est-à-dire le futur stagiaire, qui s'inscrit en ligne et peut interroger l'assistant. L'API Gemini est un système externe utilisé par l'assistant intelligent.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gérer notre projet, nous avons choisi la méthode agile SCRUM. Le Product Owner, Mme SAIGHI, définit la vision du produit, qui est découpée en user stories regroupées dans le Product Backlog. Avant chaque sprint, lors du Sprint Planning, l'équipe choisit les user stories à réaliser : c'est le Sprint Backlog. Pendant le sprint, qui dure de deux à quatre semaines, l'équipe de développement réalise les tâches, avec une mêlée quotidienne pour faire le point, et le Scrum Master, HAOUES Yasser, veille au respect de la méthode. À la fin de chaque sprint, nous livrons une partie fonctionnelle de l'application, que nous présentons lors de la démo, puis nous faisons une rétrospective pour nous améliorer. Notre projet a été réalisé en 7 sprints, de décembre 2025 à septembre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solution adopte une architecture trois tiers. La couche présentation est une application web Vue.js de type SPA. La couche métier est une API REST Laravel organisée selon le patron MVC. La couche données est une base MySQL accessible via l'ORM Eloquent. L'authentification se fait par cookie de session httpOnly avec Laravel Sanctum, et l'assistant interroge l'API Gemini depuis le serveur.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l'arborescence de l'application. Après l'authentification, chaque utilisateur est redirigé vers l'espace correspondant à son rôle : administration, enseignant ou stagiaire, chacun avec ses propres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concevoir la plateforme de manière claire et structurée, nous avons utilisé le langage UML. C'est un langage de modélisation graphique normalisé qui permet de représenter le fonctionnement d'un système. Nous avons utilisé quatre types de diagrammes : cas d'utilisation, activité, séquence et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diagramme de cas d'utilisation global. Il représente les fonctionnalités de base du système et montre comment les différents acteurs interagissent avec la plateforme : l'administration, l'enseignant, le stagiaire et le visiteur, ainsi que l'API Gemini comme système externe utilisé par l'assistant intelligent.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avons ensuite détaillé les cas d'utilisation par espace. L'administration gère les sessions, les spécialités, les inscriptions, les emplois du temps et les délibérations. L'enseignant gère l'appel, les examens, les notes et les devoirs. Le stagiaire consulte son emploi du temps, ses notes, son assiduité et ses documents, et remet ses devoirs en ligne.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diagramme d'activité décrit l'enchaînement des actions. Ici, la gestion de la présence : l'enseignant consulte ses séances et choisit une séance et une date. Si l'enseignant n'est pas affecté au module, l'accès est refusé ; sinon, le système affiche les stagiaires du module avec leur statut déjà saisi. L'enseignant marque chaque stagiaire présent, absent, en retard ou excusé, puis valide la feuille de présence ; le système enregistre les présences dans une transaction et renvoie la liste mise à jour.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diagramme de séquence présente l'ordre chronologique des échanges entre l'utilisateur, l'interface, l'API Laravel et la base de données. Ici, l'authentification : l'utilisateur saisit son identifiant et son mot de passe, l'API vérifie les identifiants, puis le rôle et l'approbation du compte, et ouvre enfin une session sécurisée.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diagramme de classes représente la structure du système : utilisateurs, stagiaires, enseignants, sessions, spécialités, modules, emplois du temps, examens, notes, présences, devoirs et délibérations. À droite, les types énumérés comme les statuts de présence ou les types d'examen. En passant au modèle relationnel, chaque classe devient une table, ses attributs deviennent des colonnes et son identifiant la clé primaire ; une association un-à-plusieurs devient une clé étrangère, et une association plusieurs-à-plusieurs une table de jointure.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1 du diagramme de classes : utilisateurs. Elle regroupe les classes Utilisateur, Administration, Enseignant, Stagiaire.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2 du diagramme de classes : structure pédagogique. Elle regroupe les classes Filiere, Specialite, Module, Session, SemestreSession, OffreFormation, NumeroInscription, Affectation.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3 du diagramme de classes : organisation des cours. Elle regroupe les classes Seance, PublicationEDT, Presence, Cours, Devoir, RemiseDevoir.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4 du diagramme de classes : évaluation et délibération. Elle regroupe les classes Examen, Note, NoteRattrapage, Deliberation, RevisionPassage, ServicePassage.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5 du diagramme de classes : communication et autres. Elle regroupe les classes Message, LectureMessage, Notification, Document, Assistant, GroupeEncadrement, RendezVous, JourFerie.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la conception, place maintenant à la réalisation de la plateforme.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développer cette plateforme, nous avons utilisé PHP 8.3 avec le framework Laravel 12 pour l'API REST, ce qui nous a permis de structurer l'application de façon claire et sécurisée. Côté interface, nous avons utilisé Vue.js 3 et Tailwind CSS. Pour la base de données, nous avons utilisé MySQL 8. Nous avons travaillé avec Laragon comme environnement local et Git / GitHub pour la gestion des versions ; l'assistant intelligent utilise l'API Gemini.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l'interface de connexion : tous les utilisateurs se connectent par e-mail, et le stagiaire peut aussi utiliser son numéro d'inscription. À droite, l'inscription en ligne : le futur stagiaire saisit le numéro d'inscription généré par l'administration. Son compte reste en attente jusqu'à sa validation, puis il complète son profil à la première connexion.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L'administrateur dispose d'un tableau de bord avec les statistiques : nombre de stagiaires, d'enseignants, de modules et répartitions par spécialité. Il gère les stagiaires, actifs, diplômés ou en attente d'approbation, ainsi que les sessions, c'est-à-dire les promotions de février et de septembre.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L'administrateur gère aussi les spécialités et les modules, génère les numéros d'inscription par session et spécialité, élabore les emplois du temps avec détection automatique des conflits, et lance les délibérations : le système calcule les moyennes pondérées par les coefficients et propose les résultats.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son espace, l'enseignant consulte les modules qui lui sont affectés et son emploi du temps. Il crée les examens, contrôle ou examen, saisit les notes et les soumet à l'administration. Il fait aussi l'appel par séance et gère les devoirs.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stagiaire accède à son tableau de bord, à son emploi du temps, aux résultats de ses examens et à son historique d'assiduité. Il peut aussi télécharger les documents qui lui sont destinés, remettre ses devoirs et communiquer via la messagerie, à tout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Toutes les données sont validées côté serveur et l'interface affiche les messages d'erreur renvoyés par l'API. Par exemple : le numéro d'inscription doit exister et ne pas être déjà utilisé ; une note doit être comprise entre 0 et 20 ; une séance ne peut pas être ajoutée en cas de conflit ; et la connexion est limitée à dix tentatives par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protéger la plateforme, plusieurs mesures ont été mises en place : les mots de passe sont hachés avec bcrypt ; l'authentification web utilise un cookie de session httpOnly avec protection CSRF ; l'accès est contrôlé par des middlewares selon l'authentification, l'approbation du compte et le rôle ; le nombre de requêtes est limité ; les entrées sont validées et les caractères HTML neutralisés contre le XSS ; et les opérations multiples sont exécutées dans des transactions.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projet nous a permis de concevoir et de réaliser une plateforme web de gestion intégrée pour l'INSFP. En suivant une démarche structurée, de l'étude préalable à la réalisation, nous avons répondu à la problématique de centralisation et de numérisation. La solution couvre les activités essentielles de l'institut. Sur le plan technique, ce travail nous a permis de mettre en pratique Laravel, Vue.js, Tailwind CSS et MySQL dans une organisation agile. Sur le plan personnel, ce fut une expérience très enrichissante.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conclure, nous tenons à remercier notre encadrante, Mme SAIGHI, pour sa disponibilité et ses précieux conseils, ainsi que la direction et le personnel de l'INSFP pour leur accueil. Merci à vous, membres du jury, pour votre attention. Nous restons à votre disposition pour répondre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U">
    <p:bg>
      <p:bgPr>
        <a:solidFill>
          <a:srgbClr val="F4F7FA"/>
        </a:solidFill>
      </p:bgPr>
    </p:bg>
    <p:spTree>
      <p:nvGrpSpPr>
        <p:cNvPr id="1" name=""/>
        <p:cNvGrpSpPr/>
        <p:nvPr/>
      </p:nvGrpSpPr>
      <p:grpSpPr>
        <a:xfrm>
          <a:off x="0" y="0"/>
          <a:ext cx="0" cy="0"/>
          <a:chOff x="0" y="0"/>
          <a:chExt cx="0" cy="0"/>
        </a:xfrm>
      </p:grpSpPr>
      <p:pic>
        <p:nvPicPr>
          <p:cNvPr id="2" name="Image 0" descr="C:\Users\User\AppData\Local\Temp\claude\C--laragon-www-insfp\daa683c1-51f9-43fb-93f8-0512c893b7b2\scratchpad\di\logo64.png">    </p:cNvPr>
          <p:cNvPicPr>
            <a:picLocks noChangeAspect="1"/>
          </p:cNvPicPr>
          <p:nvPr/>
        </p:nvPicPr>
        <p:blipFill>
          <a:blip r:embed="rId1"/>
          <a:stretch>
            <a:fillRect/>
          </a:stretch>
        </p:blipFill>
        <p:spPr>
          <a:xfrm>
            <a:off x="11292840" y="292608"/>
            <a:ext cx="475488" cy="585216"/>
          </a:xfrm>
          <a:prstGeom prst="rect">
            <a:avLst/>
          </a:prstGeom>
        </p:spPr>
      </p:pic>
      <p:sp>
        <p:nvSpPr>
          <p:cNvPr id="3" name="Text 0"/>
          <p:cNvSpPr/>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8A94A3"/>
                </a:solidFill>
              </a:rPr>
              <a:t>INSFP Mohamed Tayeb Boucenna  ·  Plateforme de gestion intégrée</a:t>
            </a:r>
            <a:endParaRPr lang="en-US" sz="900" dirty="0"/>
          </a:p>
        </p:txBody>
      </p:sp>
      <p:sp>
        <p:nvSpPr>
          <p:cNvPr id="4" name="Text 1"/>
          <p:cNvSpPr/>
          <p:nvPr>
            <p:ph idx="102" type="title" hasCustomPrompt="1"/>
          </p:nvPr>
        </p:nvSpPr>
        <p:spPr>
          <a:xfrm>
            <a:off x="548640" y="292608"/>
            <a:ext cx="10424160" cy="658368"/>
          </a:xfrm>
          <a:prstGeom prst="rect">
            <a:avLst/>
          </a:prstGeom>
          <a:noFill/>
          <a:ln/>
        </p:spPr>
        <p:txBody>
          <a:bodyPr wrap="square" rtlCol="0"/>
          <a:lstStyle>
            <a:lvl1pPr algn="l" indent="0" marL="0">
              <a:buNone/>
              <a:defRPr lang="en-US" sz="3000" b="1" dirty="0">
                <a:solidFill>
                  <a:srgbClr val="0A2F5C"/>
                </a:solidFill>
                <a:latin typeface="Segoe UI Semibold" pitchFamily="34" charset="0"/>
                <a:ea typeface="Segoe UI Semibold" pitchFamily="34" charset="-122"/>
                <a:cs typeface="Segoe UI Semibold"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A2F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788920"/>
            <a:ext cx="5486400" cy="1371600"/>
          </a:xfrm>
          <a:prstGeom prst="rect">
            <a:avLst/>
          </a:prstGeom>
          <a:noFill/>
          <a:ln/>
        </p:spPr>
        <p:txBody>
          <a:bodyPr wrap="square" rtlCol="0"/>
          <a:lstStyle>
            <a:lvl1pPr algn="l" indent="0" marL="0">
              <a:buNone/>
              <a:defRPr lang="en-US" sz="4000" b="1" dirty="0">
                <a:solidFill>
                  <a:srgbClr val="FFFFFF"/>
                </a:solidFill>
                <a:latin typeface="Segoe UI Semibold" pitchFamily="34" charset="0"/>
                <a:ea typeface="Segoe UI Semibold" pitchFamily="34" charset="-122"/>
                <a:cs typeface="Segoe UI Semibold" pitchFamily="34" charset="-120"/>
              </a:defRPr>
            </a:lvl1pPr>
          </a:lstStyle>
          <a:p>
            <a:pPr algn="l" indent="0" marL="0">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OMBRE">
    <p:bg>
      <p:bgPr>
        <a:solidFill>
          <a:srgbClr val="0A2F5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4.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jpe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2.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2.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slideLayout" Target="../slideLayouts/slideLayout2.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2.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e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slideLayout" Target="../slideLayouts/slideLayout2.xml"/><Relationship Id="rId10"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2.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2.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slideLayout" Target="../slideLayouts/slideLayout2.xml"/><Relationship Id="rId9"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2.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slideLayout" Target="../slideLayouts/slideLayout2.xml"/><Relationship Id="rId9"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image" Target="../media/image-37-8.png"/><Relationship Id="rId9" Type="http://schemas.openxmlformats.org/officeDocument/2006/relationships/image" Target="../media/image-37-9.png"/><Relationship Id="rId10" Type="http://schemas.openxmlformats.org/officeDocument/2006/relationships/image" Target="../media/image-37-10.png"/><Relationship Id="rId11" Type="http://schemas.openxmlformats.org/officeDocument/2006/relationships/image" Target="../media/image-37-11.png"/><Relationship Id="rId12" Type="http://schemas.openxmlformats.org/officeDocument/2006/relationships/image" Target="../media/image-37-12.png"/><Relationship Id="rId13" Type="http://schemas.openxmlformats.org/officeDocument/2006/relationships/slideLayout" Target="../slideLayouts/slideLayout2.xml"/><Relationship Id="rId1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slideLayout" Target="../slideLayouts/slideLayout2.xml"/><Relationship Id="rId9"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slideLayout" Target="../slideLayouts/slideLayout2.xml"/><Relationship Id="rId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4.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_photo" descr="INSFP Mohamed Tayeb Boucenna, Hussein Dey">    </p:cNvPr>
          <p:cNvPicPr>
            <a:picLocks noChangeAspect="1"/>
          </p:cNvPicPr>
          <p:nvPr/>
        </p:nvPicPr>
        <p:blipFill>
          <a:blip r:embed="rId1"/>
          <a:stretch>
            <a:fillRect/>
          </a:stretch>
        </p:blipFill>
        <p:spPr>
          <a:xfrm>
            <a:off x="7756855" y="0"/>
            <a:ext cx="4434840" cy="6858000"/>
          </a:xfrm>
          <a:prstGeom prst="rect">
            <a:avLst/>
          </a:prstGeom>
        </p:spPr>
      </p:pic>
      <p:sp>
        <p:nvSpPr>
          <p:cNvPr id="3" name="cover_veil"/>
          <p:cNvSpPr/>
          <p:nvPr/>
        </p:nvSpPr>
        <p:spPr>
          <a:xfrm>
            <a:off x="7756855" y="0"/>
            <a:ext cx="4434840" cy="6858000"/>
          </a:xfrm>
          <a:prstGeom prst="rect">
            <a:avLst/>
          </a:prstGeom>
          <a:solidFill>
            <a:srgbClr val="0A2F5C">
              <a:alpha val="45000"/>
            </a:srgbClr>
          </a:solidFill>
          <a:ln/>
        </p:spPr>
      </p:sp>
      <p:sp>
        <p:nvSpPr>
          <p:cNvPr id="4" name="card_1"/>
          <p:cNvSpPr/>
          <p:nvPr/>
        </p:nvSpPr>
        <p:spPr>
          <a:xfrm>
            <a:off x="640080" y="457200"/>
            <a:ext cx="2148840" cy="868680"/>
          </a:xfrm>
          <a:prstGeom prst="roundRect">
            <a:avLst>
              <a:gd name="adj" fmla="val 15789"/>
            </a:avLst>
          </a:prstGeom>
          <a:solidFill>
            <a:schemeClr val="bg1"/>
          </a:solidFill>
          <a:ln/>
        </p:spPr>
      </p:sp>
      <p:pic>
        <p:nvPicPr>
          <p:cNvPr id="5" name="logo_min" descr="C:\Users\User\AppData\Local\Temp\claude\C--laragon-www-insfp\daa683c1-51f9-43fb-93f8-0512c893b7b2\scratchpad\di\logo00.png">    </p:cNvPr>
          <p:cNvPicPr>
            <a:picLocks noChangeAspect="1"/>
          </p:cNvPicPr>
          <p:nvPr/>
        </p:nvPicPr>
        <p:blipFill>
          <a:blip r:embed="rId2"/>
          <a:stretch>
            <a:fillRect/>
          </a:stretch>
        </p:blipFill>
        <p:spPr>
          <a:xfrm>
            <a:off x="777240" y="530352"/>
            <a:ext cx="786384" cy="713232"/>
          </a:xfrm>
          <a:prstGeom prst="rect">
            <a:avLst/>
          </a:prstGeom>
        </p:spPr>
      </p:pic>
      <p:pic>
        <p:nvPicPr>
          <p:cNvPr id="6" name="logo_insfp" descr="C:\Users\User\AppData\Local\Temp\claude\C--laragon-www-insfp\daa683c1-51f9-43fb-93f8-0512c893b7b2\scratchpad\di\logo64.png">    </p:cNvPr>
          <p:cNvPicPr>
            <a:picLocks noChangeAspect="1"/>
          </p:cNvPicPr>
          <p:nvPr/>
        </p:nvPicPr>
        <p:blipFill>
          <a:blip r:embed="rId3"/>
          <a:stretch>
            <a:fillRect/>
          </a:stretch>
        </p:blipFill>
        <p:spPr>
          <a:xfrm>
            <a:off x="1874520" y="502920"/>
            <a:ext cx="630936" cy="777240"/>
          </a:xfrm>
          <a:prstGeom prst="rect">
            <a:avLst/>
          </a:prstGeom>
        </p:spPr>
      </p:pic>
      <p:sp>
        <p:nvSpPr>
          <p:cNvPr id="7" name="t_2"/>
          <p:cNvSpPr txBox="1"/>
          <p:nvPr/>
        </p:nvSpPr>
        <p:spPr>
          <a:xfrm>
            <a:off x="3063240" y="457200"/>
            <a:ext cx="4572000" cy="868680"/>
          </a:xfrm>
          <a:prstGeom prst="rect">
            <a:avLst/>
          </a:prstGeom>
          <a:noFill/>
          <a:ln/>
        </p:spPr>
        <p:txBody>
          <a:bodyPr wrap="square" lIns="0" tIns="0" rIns="0" bIns="0" rtlCol="0" anchor="ctr"/>
          <a:lstStyle/>
          <a:p>
            <a:pPr indent="0" marL="0">
              <a:spcAft>
                <a:spcPts val="200"/>
              </a:spcAft>
              <a:buNone/>
            </a:pPr>
            <a:r>
              <a:rPr lang="en-US" sz="1100" dirty="0">
                <a:solidFill>
                  <a:srgbClr val="CFE3F0"/>
                </a:solidFill>
              </a:rPr>
              <a:t>République Algérienne Démocratique et Populaire</a:t>
            </a:r>
            <a:endParaRPr lang="en-US" sz="1100" dirty="0"/>
          </a:p>
          <a:p>
            <a:pPr indent="0" marL="0">
              <a:spcAft>
                <a:spcPts val="200"/>
              </a:spcAft>
              <a:buNone/>
            </a:pPr>
            <a:r>
              <a:rPr lang="en-US" sz="1100" dirty="0">
                <a:solidFill>
                  <a:srgbClr val="CFE3F0"/>
                </a:solidFill>
              </a:rPr>
              <a:t>Ministère de la Formation et de l'Enseignement Professionnels</a:t>
            </a:r>
            <a:endParaRPr lang="en-US" sz="1100" dirty="0"/>
          </a:p>
          <a:p>
            <a:pPr indent="0" marL="0">
              <a:spcAft>
                <a:spcPts val="200"/>
              </a:spcAft>
              <a:buNone/>
            </a:pPr>
            <a:r>
              <a:rPr lang="en-US" sz="1100" dirty="0">
                <a:solidFill>
                  <a:srgbClr val="CFE3F0"/>
                </a:solidFill>
              </a:rPr>
              <a:t>INSFP Mohamed Tayeb Boucenna — Hussein Dey, Alger</a:t>
            </a:r>
            <a:endParaRPr lang="en-US" sz="1100" dirty="0"/>
          </a:p>
        </p:txBody>
      </p:sp>
      <p:sp>
        <p:nvSpPr>
          <p:cNvPr id="8" name="t_3"/>
          <p:cNvSpPr txBox="1"/>
          <p:nvPr/>
        </p:nvSpPr>
        <p:spPr>
          <a:xfrm>
            <a:off x="640080" y="1783080"/>
            <a:ext cx="6766560" cy="320040"/>
          </a:xfrm>
          <a:prstGeom prst="rect">
            <a:avLst/>
          </a:prstGeom>
          <a:noFill/>
          <a:ln/>
        </p:spPr>
        <p:txBody>
          <a:bodyPr wrap="square" lIns="0" tIns="0" rIns="0" bIns="0" rtlCol="0" anchor="t"/>
          <a:lstStyle/>
          <a:p>
            <a:pPr indent="0" marL="0">
              <a:buNone/>
            </a:pPr>
            <a:r>
              <a:rPr lang="en-US" sz="1400" b="1" spc="200" kern="0" dirty="0">
                <a:solidFill>
                  <a:srgbClr val="D7971D"/>
                </a:solidFill>
              </a:rPr>
              <a:t>MÉMOIRE DE FIN D'ÉTUDE</a:t>
            </a:r>
            <a:endParaRPr lang="en-US" sz="1400" dirty="0"/>
          </a:p>
        </p:txBody>
      </p:sp>
      <p:sp>
        <p:nvSpPr>
          <p:cNvPr id="9" name="t_4"/>
          <p:cNvSpPr txBox="1"/>
          <p:nvPr/>
        </p:nvSpPr>
        <p:spPr>
          <a:xfrm>
            <a:off x="640080" y="2103120"/>
            <a:ext cx="6766560" cy="292608"/>
          </a:xfrm>
          <a:prstGeom prst="rect">
            <a:avLst/>
          </a:prstGeom>
          <a:noFill/>
          <a:ln/>
        </p:spPr>
        <p:txBody>
          <a:bodyPr wrap="square" lIns="0" tIns="0" rIns="0" bIns="0" rtlCol="0" anchor="t"/>
          <a:lstStyle/>
          <a:p>
            <a:pPr indent="0" marL="0">
              <a:buNone/>
            </a:pPr>
            <a:r>
              <a:rPr lang="en-US" sz="1200" i="1" dirty="0">
                <a:solidFill>
                  <a:srgbClr val="CFE3F0"/>
                </a:solidFill>
              </a:rPr>
              <a:t>En vue de l'obtention du diplôme de technicien supérieur en informatique</a:t>
            </a:r>
            <a:endParaRPr lang="en-US" sz="1200" dirty="0"/>
          </a:p>
        </p:txBody>
      </p:sp>
      <p:sp>
        <p:nvSpPr>
          <p:cNvPr id="10" name="t_5"/>
          <p:cNvSpPr txBox="1"/>
          <p:nvPr/>
        </p:nvSpPr>
        <p:spPr>
          <a:xfrm>
            <a:off x="640080" y="2697480"/>
            <a:ext cx="2743200" cy="274320"/>
          </a:xfrm>
          <a:prstGeom prst="rect">
            <a:avLst/>
          </a:prstGeom>
          <a:noFill/>
          <a:ln/>
        </p:spPr>
        <p:txBody>
          <a:bodyPr wrap="square" lIns="0" tIns="0" rIns="0" bIns="0" rtlCol="0" anchor="t"/>
          <a:lstStyle/>
          <a:p>
            <a:pPr indent="0" marL="0">
              <a:buNone/>
            </a:pPr>
            <a:r>
              <a:rPr lang="en-US" sz="1200" dirty="0">
                <a:solidFill>
                  <a:srgbClr val="CFE3F0"/>
                </a:solidFill>
              </a:rPr>
              <a:t>Thème</a:t>
            </a:r>
            <a:endParaRPr lang="en-US" sz="1200" dirty="0"/>
          </a:p>
        </p:txBody>
      </p:sp>
      <p:sp>
        <p:nvSpPr>
          <p:cNvPr id="11" name="t_6"/>
          <p:cNvSpPr txBox="1"/>
          <p:nvPr/>
        </p:nvSpPr>
        <p:spPr>
          <a:xfrm>
            <a:off x="640080" y="2971800"/>
            <a:ext cx="6766560" cy="1417320"/>
          </a:xfrm>
          <a:prstGeom prst="rect">
            <a:avLst/>
          </a:prstGeom>
          <a:noFill/>
          <a:ln/>
        </p:spPr>
        <p:txBody>
          <a:bodyPr wrap="square" lIns="0" tIns="0" rIns="0" bIns="0" rtlCol="0" anchor="t"/>
          <a:lstStyle/>
          <a:p>
            <a:pPr indent="0" marL="0">
              <a:buNone/>
            </a:pPr>
            <a:r>
              <a:rPr lang="en-US" sz="3000" b="1" dirty="0">
                <a:solidFill>
                  <a:srgbClr val="FFFFFF"/>
                </a:solidFill>
                <a:latin typeface="Segoe UI Semibold" pitchFamily="34" charset="0"/>
                <a:ea typeface="Segoe UI Semibold" pitchFamily="34" charset="-122"/>
                <a:cs typeface="Segoe UI Semibold" pitchFamily="34" charset="-120"/>
              </a:rPr>
              <a:t>Conception et réalisation d'une plateforme web pour la gestion intégrée de l'INSFP</a:t>
            </a:r>
            <a:endParaRPr lang="en-US" sz="3000" dirty="0"/>
          </a:p>
        </p:txBody>
      </p:sp>
      <p:sp>
        <p:nvSpPr>
          <p:cNvPr id="12" name="card_7"/>
          <p:cNvSpPr/>
          <p:nvPr/>
        </p:nvSpPr>
        <p:spPr>
          <a:xfrm>
            <a:off x="640080" y="4709160"/>
            <a:ext cx="3246120" cy="1325880"/>
          </a:xfrm>
          <a:prstGeom prst="roundRect">
            <a:avLst>
              <a:gd name="adj" fmla="val 8276"/>
            </a:avLst>
          </a:prstGeom>
          <a:solidFill>
            <a:srgbClr val="143C6E"/>
          </a:solidFill>
          <a:ln/>
        </p:spPr>
      </p:sp>
      <p:sp>
        <p:nvSpPr>
          <p:cNvPr id="13" name="t_8"/>
          <p:cNvSpPr txBox="1"/>
          <p:nvPr/>
        </p:nvSpPr>
        <p:spPr>
          <a:xfrm>
            <a:off x="868680" y="4800600"/>
            <a:ext cx="2834640" cy="274320"/>
          </a:xfrm>
          <a:prstGeom prst="rect">
            <a:avLst/>
          </a:prstGeom>
          <a:noFill/>
          <a:ln/>
        </p:spPr>
        <p:txBody>
          <a:bodyPr wrap="square" lIns="0" tIns="0" rIns="0" bIns="0" rtlCol="0" anchor="t"/>
          <a:lstStyle/>
          <a:p>
            <a:pPr indent="0" marL="0">
              <a:buNone/>
            </a:pPr>
            <a:r>
              <a:rPr lang="en-US" sz="1100" b="1" dirty="0">
                <a:solidFill>
                  <a:srgbClr val="D7971D"/>
                </a:solidFill>
              </a:rPr>
              <a:t>Réalisé par</a:t>
            </a:r>
            <a:endParaRPr lang="en-US" sz="1100" dirty="0"/>
          </a:p>
        </p:txBody>
      </p:sp>
      <p:sp>
        <p:nvSpPr>
          <p:cNvPr id="14" name="t_9"/>
          <p:cNvSpPr txBox="1"/>
          <p:nvPr/>
        </p:nvSpPr>
        <p:spPr>
          <a:xfrm>
            <a:off x="868680" y="5074920"/>
            <a:ext cx="2834640" cy="868680"/>
          </a:xfrm>
          <a:prstGeom prst="rect">
            <a:avLst/>
          </a:prstGeom>
          <a:noFill/>
          <a:ln/>
        </p:spPr>
        <p:txBody>
          <a:bodyPr wrap="square" lIns="0" tIns="0" rIns="0" bIns="0" rtlCol="0" anchor="t"/>
          <a:lstStyle/>
          <a:p>
            <a:pPr indent="0" marL="0">
              <a:spcAft>
                <a:spcPts val="100"/>
              </a:spcAft>
              <a:buNone/>
            </a:pPr>
            <a:r>
              <a:rPr lang="en-US" sz="1400" b="1" dirty="0">
                <a:solidFill>
                  <a:srgbClr val="FFFFFF"/>
                </a:solidFill>
              </a:rPr>
              <a:t>HAOUES Yasser</a:t>
            </a:r>
            <a:endParaRPr lang="en-US" sz="1400" dirty="0"/>
          </a:p>
          <a:p>
            <a:pPr indent="0" marL="0">
              <a:spcAft>
                <a:spcPts val="100"/>
              </a:spcAft>
              <a:buNone/>
            </a:pPr>
            <a:r>
              <a:rPr lang="en-US" sz="1400" b="1" dirty="0">
                <a:solidFill>
                  <a:srgbClr val="FFFFFF"/>
                </a:solidFill>
              </a:rPr>
              <a:t>CHRMAT Khaled</a:t>
            </a:r>
            <a:endParaRPr lang="en-US" sz="1400" dirty="0"/>
          </a:p>
          <a:p>
            <a:pPr indent="0" marL="0">
              <a:spcAft>
                <a:spcPts val="100"/>
              </a:spcAft>
              <a:buNone/>
            </a:pPr>
            <a:r>
              <a:rPr lang="en-US" sz="1400" b="1" dirty="0">
                <a:solidFill>
                  <a:srgbClr val="FFFFFF"/>
                </a:solidFill>
              </a:rPr>
              <a:t>LASSEL Abdelmalek</a:t>
            </a:r>
            <a:endParaRPr lang="en-US" sz="1400" dirty="0"/>
          </a:p>
        </p:txBody>
      </p:sp>
      <p:sp>
        <p:nvSpPr>
          <p:cNvPr id="15" name="card_10"/>
          <p:cNvSpPr/>
          <p:nvPr/>
        </p:nvSpPr>
        <p:spPr>
          <a:xfrm>
            <a:off x="4114800" y="4709160"/>
            <a:ext cx="3246120" cy="1325880"/>
          </a:xfrm>
          <a:prstGeom prst="roundRect">
            <a:avLst>
              <a:gd name="adj" fmla="val 8276"/>
            </a:avLst>
          </a:prstGeom>
          <a:solidFill>
            <a:srgbClr val="143C6E"/>
          </a:solidFill>
          <a:ln/>
        </p:spPr>
      </p:sp>
      <p:sp>
        <p:nvSpPr>
          <p:cNvPr id="16" name="t_11"/>
          <p:cNvSpPr txBox="1"/>
          <p:nvPr/>
        </p:nvSpPr>
        <p:spPr>
          <a:xfrm>
            <a:off x="4343400" y="4800600"/>
            <a:ext cx="2834640" cy="274320"/>
          </a:xfrm>
          <a:prstGeom prst="rect">
            <a:avLst/>
          </a:prstGeom>
          <a:noFill/>
          <a:ln/>
        </p:spPr>
        <p:txBody>
          <a:bodyPr wrap="square" lIns="0" tIns="0" rIns="0" bIns="0" rtlCol="0" anchor="t"/>
          <a:lstStyle/>
          <a:p>
            <a:pPr indent="0" marL="0">
              <a:buNone/>
            </a:pPr>
            <a:r>
              <a:rPr lang="en-US" sz="1100" b="1" dirty="0">
                <a:solidFill>
                  <a:srgbClr val="D7971D"/>
                </a:solidFill>
              </a:rPr>
              <a:t>Encadré par</a:t>
            </a:r>
            <a:endParaRPr lang="en-US" sz="1100" dirty="0"/>
          </a:p>
        </p:txBody>
      </p:sp>
      <p:sp>
        <p:nvSpPr>
          <p:cNvPr id="17" name="t_12"/>
          <p:cNvSpPr txBox="1"/>
          <p:nvPr/>
        </p:nvSpPr>
        <p:spPr>
          <a:xfrm>
            <a:off x="4343400" y="5074920"/>
            <a:ext cx="2834640" cy="365760"/>
          </a:xfrm>
          <a:prstGeom prst="rect">
            <a:avLst/>
          </a:prstGeom>
          <a:noFill/>
          <a:ln/>
        </p:spPr>
        <p:txBody>
          <a:bodyPr wrap="square" lIns="0" tIns="0" rIns="0" bIns="0" rtlCol="0" anchor="t"/>
          <a:lstStyle/>
          <a:p>
            <a:pPr indent="0" marL="0">
              <a:buNone/>
            </a:pPr>
            <a:r>
              <a:rPr lang="en-US" sz="1400" b="1" dirty="0">
                <a:solidFill>
                  <a:srgbClr val="FFFFFF"/>
                </a:solidFill>
              </a:rPr>
              <a:t>Mme SAIGHI</a:t>
            </a:r>
            <a:endParaRPr lang="en-US" sz="1400" dirty="0"/>
          </a:p>
        </p:txBody>
      </p:sp>
      <p:sp>
        <p:nvSpPr>
          <p:cNvPr id="18" name="t_13"/>
          <p:cNvSpPr txBox="1"/>
          <p:nvPr/>
        </p:nvSpPr>
        <p:spPr>
          <a:xfrm>
            <a:off x="640080" y="6263640"/>
            <a:ext cx="6766560" cy="274320"/>
          </a:xfrm>
          <a:prstGeom prst="rect">
            <a:avLst/>
          </a:prstGeom>
          <a:noFill/>
          <a:ln/>
        </p:spPr>
        <p:txBody>
          <a:bodyPr wrap="square" lIns="0" tIns="0" rIns="0" bIns="0" rtlCol="0" anchor="t"/>
          <a:lstStyle/>
          <a:p>
            <a:pPr indent="0" marL="0">
              <a:buNone/>
            </a:pPr>
            <a:r>
              <a:rPr lang="en-US" sz="1100" dirty="0">
                <a:solidFill>
                  <a:srgbClr val="CFE3F0"/>
                </a:solidFill>
              </a:rPr>
              <a:t>Promotion octobre 2026</a:t>
            </a:r>
            <a:endParaRPr lang="en-US" sz="1100" dirty="0"/>
          </a:p>
        </p:txBody>
      </p:sp>
      <p:sp>
        <p:nvSpPr>
          <p:cNvPr id="19" name="t_14"/>
          <p:cNvSpPr txBox="1"/>
          <p:nvPr/>
        </p:nvSpPr>
        <p:spPr>
          <a:xfrm>
            <a:off x="8001000" y="5989320"/>
            <a:ext cx="3931920" cy="320040"/>
          </a:xfrm>
          <a:prstGeom prst="rect">
            <a:avLst/>
          </a:prstGeom>
          <a:noFill/>
          <a:ln/>
        </p:spPr>
        <p:txBody>
          <a:bodyPr wrap="square" lIns="0" tIns="0" rIns="0" bIns="0" rtlCol="0" anchor="t"/>
          <a:lstStyle/>
          <a:p>
            <a:pPr algn="r" indent="0" marL="0">
              <a:buNone/>
            </a:pPr>
            <a:r>
              <a:rPr lang="en-US" sz="1300" b="1" dirty="0">
                <a:solidFill>
                  <a:srgbClr val="FFFFFF"/>
                </a:solidFill>
              </a:rPr>
              <a:t>INSFP Mohamed Tayeb Boucenna</a:t>
            </a:r>
            <a:endParaRPr lang="en-US" sz="1300" dirty="0"/>
          </a:p>
        </p:txBody>
      </p:sp>
      <p:sp>
        <p:nvSpPr>
          <p:cNvPr id="20" name="t_15"/>
          <p:cNvSpPr txBox="1"/>
          <p:nvPr/>
        </p:nvSpPr>
        <p:spPr>
          <a:xfrm>
            <a:off x="8001000" y="6309360"/>
            <a:ext cx="3931920" cy="274320"/>
          </a:xfrm>
          <a:prstGeom prst="rect">
            <a:avLst/>
          </a:prstGeom>
          <a:noFill/>
          <a:ln/>
        </p:spPr>
        <p:txBody>
          <a:bodyPr wrap="square" lIns="0" tIns="0" rIns="0" bIns="0" rtlCol="0" anchor="t"/>
          <a:lstStyle/>
          <a:p>
            <a:pPr algn="r" indent="0" marL="0">
              <a:buNone/>
            </a:pPr>
            <a:r>
              <a:rPr lang="en-US" sz="1100" dirty="0">
                <a:solidFill>
                  <a:srgbClr val="CFE3F0"/>
                </a:solidFill>
              </a:rPr>
              <a:t>Organisme d'accueil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Plan de travail</a:t>
            </a:r>
            <a:endParaRPr lang="en-US" sz="3000" dirty="0"/>
          </a:p>
        </p:txBody>
      </p:sp>
      <p:sp>
        <p:nvSpPr>
          <p:cNvPr id="3" name="card_16"/>
          <p:cNvSpPr/>
          <p:nvPr/>
        </p:nvSpPr>
        <p:spPr>
          <a:xfrm>
            <a:off x="548640" y="1280160"/>
            <a:ext cx="5852160" cy="822960"/>
          </a:xfrm>
          <a:prstGeom prst="roundRect">
            <a:avLst>
              <a:gd name="adj" fmla="val 13333"/>
            </a:avLst>
          </a:prstGeom>
          <a:solidFill>
            <a:schemeClr val="bg1"/>
          </a:solidFill>
          <a:ln/>
          <a:effectLst>
            <a:outerShdw sx="100000" sy="100000" kx="0" ky="0" algn="bl" rotWithShape="0" blurRad="76200" dist="19050" dir="5400000">
              <a:srgbClr val="1B2433">
                <a:alpha val="10000"/>
              </a:srgbClr>
            </a:outerShdw>
          </a:effectLst>
        </p:spPr>
      </p:sp>
      <p:sp>
        <p:nvSpPr>
          <p:cNvPr id="4" name="num_17"/>
          <p:cNvSpPr/>
          <p:nvPr/>
        </p:nvSpPr>
        <p:spPr>
          <a:xfrm>
            <a:off x="731520" y="1417320"/>
            <a:ext cx="548640" cy="548640"/>
          </a:xfrm>
          <a:prstGeom prst="ellipse">
            <a:avLst/>
          </a:prstGeom>
          <a:solidFill>
            <a:schemeClr val="tx2"/>
          </a:solidFill>
          <a:ln/>
        </p:spPr>
      </p:sp>
      <p:sp>
        <p:nvSpPr>
          <p:cNvPr id="5" name="t_18"/>
          <p:cNvSpPr txBox="1"/>
          <p:nvPr/>
        </p:nvSpPr>
        <p:spPr>
          <a:xfrm>
            <a:off x="731520" y="14173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01</a:t>
            </a:r>
            <a:endParaRPr lang="en-US" sz="1600" dirty="0"/>
          </a:p>
        </p:txBody>
      </p:sp>
      <p:sp>
        <p:nvSpPr>
          <p:cNvPr id="6" name="t_19"/>
          <p:cNvSpPr txBox="1"/>
          <p:nvPr/>
        </p:nvSpPr>
        <p:spPr>
          <a:xfrm>
            <a:off x="1463040" y="1389888"/>
            <a:ext cx="4754880" cy="329184"/>
          </a:xfrm>
          <a:prstGeom prst="rect">
            <a:avLst/>
          </a:prstGeom>
          <a:noFill/>
          <a:ln/>
        </p:spPr>
        <p:txBody>
          <a:bodyPr wrap="square" lIns="0" tIns="0" rIns="0" bIns="0" rtlCol="0" anchor="t"/>
          <a:lstStyle/>
          <a:p>
            <a:pPr indent="0" marL="0">
              <a:buNone/>
            </a:pPr>
            <a:r>
              <a:rPr lang="en-US" sz="1800" b="1" dirty="0">
                <a:solidFill>
                  <a:schemeClr val="tx2"/>
                </a:solidFill>
              </a:rPr>
              <a:t>Présentation du sujet</a:t>
            </a:r>
            <a:endParaRPr lang="en-US" sz="1800" dirty="0"/>
          </a:p>
        </p:txBody>
      </p:sp>
      <p:sp>
        <p:nvSpPr>
          <p:cNvPr id="7" name="t_20"/>
          <p:cNvSpPr txBox="1"/>
          <p:nvPr/>
        </p:nvSpPr>
        <p:spPr>
          <a:xfrm>
            <a:off x="1463040" y="1719072"/>
            <a:ext cx="4754880" cy="274320"/>
          </a:xfrm>
          <a:prstGeom prst="rect">
            <a:avLst/>
          </a:prstGeom>
          <a:noFill/>
          <a:ln/>
        </p:spPr>
        <p:txBody>
          <a:bodyPr wrap="square" lIns="0" tIns="0" rIns="0" bIns="0" rtlCol="0" anchor="t"/>
          <a:lstStyle/>
          <a:p>
            <a:pPr indent="0" marL="0">
              <a:buNone/>
            </a:pPr>
            <a:r>
              <a:rPr lang="en-US" sz="1200" dirty="0">
                <a:solidFill>
                  <a:srgbClr val="6B7585"/>
                </a:solidFill>
              </a:rPr>
              <a:t>Introduction, problématique, objectifs, présentation du projet</a:t>
            </a:r>
            <a:endParaRPr lang="en-US" sz="1200" dirty="0"/>
          </a:p>
        </p:txBody>
      </p:sp>
      <p:sp>
        <p:nvSpPr>
          <p:cNvPr id="8" name="card_21"/>
          <p:cNvSpPr/>
          <p:nvPr/>
        </p:nvSpPr>
        <p:spPr>
          <a:xfrm>
            <a:off x="548640" y="2267712"/>
            <a:ext cx="5852160" cy="822960"/>
          </a:xfrm>
          <a:prstGeom prst="roundRect">
            <a:avLst>
              <a:gd name="adj" fmla="val 13333"/>
            </a:avLst>
          </a:prstGeom>
          <a:solidFill>
            <a:schemeClr val="bg1"/>
          </a:solidFill>
          <a:ln/>
          <a:effectLst>
            <a:outerShdw sx="100000" sy="100000" kx="0" ky="0" algn="bl" rotWithShape="0" blurRad="76200" dist="19050" dir="5400000">
              <a:srgbClr val="1B2433">
                <a:alpha val="10000"/>
              </a:srgbClr>
            </a:outerShdw>
          </a:effectLst>
        </p:spPr>
      </p:sp>
      <p:sp>
        <p:nvSpPr>
          <p:cNvPr id="9" name="num_22"/>
          <p:cNvSpPr/>
          <p:nvPr/>
        </p:nvSpPr>
        <p:spPr>
          <a:xfrm>
            <a:off x="731520" y="2404872"/>
            <a:ext cx="548640" cy="548640"/>
          </a:xfrm>
          <a:prstGeom prst="ellipse">
            <a:avLst/>
          </a:prstGeom>
          <a:solidFill>
            <a:schemeClr val="accent1"/>
          </a:solidFill>
          <a:ln/>
        </p:spPr>
      </p:sp>
      <p:sp>
        <p:nvSpPr>
          <p:cNvPr id="10" name="t_23"/>
          <p:cNvSpPr txBox="1"/>
          <p:nvPr/>
        </p:nvSpPr>
        <p:spPr>
          <a:xfrm>
            <a:off x="731520" y="240487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02</a:t>
            </a:r>
            <a:endParaRPr lang="en-US" sz="1600" dirty="0"/>
          </a:p>
        </p:txBody>
      </p:sp>
      <p:sp>
        <p:nvSpPr>
          <p:cNvPr id="11" name="t_24"/>
          <p:cNvSpPr txBox="1"/>
          <p:nvPr/>
        </p:nvSpPr>
        <p:spPr>
          <a:xfrm>
            <a:off x="1463040" y="2377440"/>
            <a:ext cx="4754880" cy="329184"/>
          </a:xfrm>
          <a:prstGeom prst="rect">
            <a:avLst/>
          </a:prstGeom>
          <a:noFill/>
          <a:ln/>
        </p:spPr>
        <p:txBody>
          <a:bodyPr wrap="square" lIns="0" tIns="0" rIns="0" bIns="0" rtlCol="0" anchor="t"/>
          <a:lstStyle/>
          <a:p>
            <a:pPr indent="0" marL="0">
              <a:buNone/>
            </a:pPr>
            <a:r>
              <a:rPr lang="en-US" sz="1800" b="1" dirty="0">
                <a:solidFill>
                  <a:schemeClr val="tx2"/>
                </a:solidFill>
              </a:rPr>
              <a:t>Partie théorique</a:t>
            </a:r>
            <a:endParaRPr lang="en-US" sz="1800" dirty="0"/>
          </a:p>
        </p:txBody>
      </p:sp>
      <p:sp>
        <p:nvSpPr>
          <p:cNvPr id="12" name="t_25"/>
          <p:cNvSpPr txBox="1"/>
          <p:nvPr/>
        </p:nvSpPr>
        <p:spPr>
          <a:xfrm>
            <a:off x="1463040" y="2706624"/>
            <a:ext cx="4754880" cy="274320"/>
          </a:xfrm>
          <a:prstGeom prst="rect">
            <a:avLst/>
          </a:prstGeom>
          <a:noFill/>
          <a:ln/>
        </p:spPr>
        <p:txBody>
          <a:bodyPr wrap="square" lIns="0" tIns="0" rIns="0" bIns="0" rtlCol="0" anchor="t"/>
          <a:lstStyle/>
          <a:p>
            <a:pPr indent="0" marL="0">
              <a:buNone/>
            </a:pPr>
            <a:r>
              <a:rPr lang="en-US" sz="1200" dirty="0">
                <a:solidFill>
                  <a:srgbClr val="6B7585"/>
                </a:solidFill>
              </a:rPr>
              <a:t>Organisme d'accueil, étude de cas, étude de faisabilité</a:t>
            </a:r>
            <a:endParaRPr lang="en-US" sz="1200" dirty="0"/>
          </a:p>
        </p:txBody>
      </p:sp>
      <p:sp>
        <p:nvSpPr>
          <p:cNvPr id="13" name="card_26"/>
          <p:cNvSpPr/>
          <p:nvPr/>
        </p:nvSpPr>
        <p:spPr>
          <a:xfrm>
            <a:off x="548640" y="3255264"/>
            <a:ext cx="5852160" cy="822960"/>
          </a:xfrm>
          <a:prstGeom prst="roundRect">
            <a:avLst>
              <a:gd name="adj" fmla="val 13333"/>
            </a:avLst>
          </a:prstGeom>
          <a:solidFill>
            <a:schemeClr val="bg1"/>
          </a:solidFill>
          <a:ln/>
          <a:effectLst>
            <a:outerShdw sx="100000" sy="100000" kx="0" ky="0" algn="bl" rotWithShape="0" blurRad="76200" dist="19050" dir="5400000">
              <a:srgbClr val="1B2433">
                <a:alpha val="10000"/>
              </a:srgbClr>
            </a:outerShdw>
          </a:effectLst>
        </p:spPr>
      </p:sp>
      <p:sp>
        <p:nvSpPr>
          <p:cNvPr id="14" name="num_27"/>
          <p:cNvSpPr/>
          <p:nvPr/>
        </p:nvSpPr>
        <p:spPr>
          <a:xfrm>
            <a:off x="731520" y="3392424"/>
            <a:ext cx="548640" cy="548640"/>
          </a:xfrm>
          <a:prstGeom prst="ellipse">
            <a:avLst/>
          </a:prstGeom>
          <a:solidFill>
            <a:schemeClr val="tx2"/>
          </a:solidFill>
          <a:ln/>
        </p:spPr>
      </p:sp>
      <p:sp>
        <p:nvSpPr>
          <p:cNvPr id="15" name="t_28"/>
          <p:cNvSpPr txBox="1"/>
          <p:nvPr/>
        </p:nvSpPr>
        <p:spPr>
          <a:xfrm>
            <a:off x="731520" y="339242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03</a:t>
            </a:r>
            <a:endParaRPr lang="en-US" sz="1600" dirty="0"/>
          </a:p>
        </p:txBody>
      </p:sp>
      <p:sp>
        <p:nvSpPr>
          <p:cNvPr id="16" name="t_29"/>
          <p:cNvSpPr txBox="1"/>
          <p:nvPr/>
        </p:nvSpPr>
        <p:spPr>
          <a:xfrm>
            <a:off x="1463040" y="3364992"/>
            <a:ext cx="4754880" cy="329184"/>
          </a:xfrm>
          <a:prstGeom prst="rect">
            <a:avLst/>
          </a:prstGeom>
          <a:noFill/>
          <a:ln/>
        </p:spPr>
        <p:txBody>
          <a:bodyPr wrap="square" lIns="0" tIns="0" rIns="0" bIns="0" rtlCol="0" anchor="t"/>
          <a:lstStyle/>
          <a:p>
            <a:pPr indent="0" marL="0">
              <a:buNone/>
            </a:pPr>
            <a:r>
              <a:rPr lang="en-US" sz="1800" b="1" dirty="0">
                <a:solidFill>
                  <a:schemeClr val="tx2"/>
                </a:solidFill>
              </a:rPr>
              <a:t>Partie conception</a:t>
            </a:r>
            <a:endParaRPr lang="en-US" sz="1800" dirty="0"/>
          </a:p>
        </p:txBody>
      </p:sp>
      <p:sp>
        <p:nvSpPr>
          <p:cNvPr id="17" name="t_30"/>
          <p:cNvSpPr txBox="1"/>
          <p:nvPr/>
        </p:nvSpPr>
        <p:spPr>
          <a:xfrm>
            <a:off x="1463040" y="3694176"/>
            <a:ext cx="4754880" cy="274320"/>
          </a:xfrm>
          <a:prstGeom prst="rect">
            <a:avLst/>
          </a:prstGeom>
          <a:noFill/>
          <a:ln/>
        </p:spPr>
        <p:txBody>
          <a:bodyPr wrap="square" lIns="0" tIns="0" rIns="0" bIns="0" rtlCol="0" anchor="t"/>
          <a:lstStyle/>
          <a:p>
            <a:pPr indent="0" marL="0">
              <a:buNone/>
            </a:pPr>
            <a:r>
              <a:rPr lang="en-US" sz="1200" dirty="0">
                <a:solidFill>
                  <a:srgbClr val="6B7585"/>
                </a:solidFill>
              </a:rPr>
              <a:t>Acteurs, SCRUM, solution informatique, UML</a:t>
            </a:r>
            <a:endParaRPr lang="en-US" sz="1200" dirty="0"/>
          </a:p>
        </p:txBody>
      </p:sp>
      <p:sp>
        <p:nvSpPr>
          <p:cNvPr id="18" name="card_31"/>
          <p:cNvSpPr/>
          <p:nvPr/>
        </p:nvSpPr>
        <p:spPr>
          <a:xfrm>
            <a:off x="548640" y="4242816"/>
            <a:ext cx="5852160" cy="822960"/>
          </a:xfrm>
          <a:prstGeom prst="roundRect">
            <a:avLst>
              <a:gd name="adj" fmla="val 13333"/>
            </a:avLst>
          </a:prstGeom>
          <a:solidFill>
            <a:schemeClr val="bg1"/>
          </a:solidFill>
          <a:ln/>
          <a:effectLst>
            <a:outerShdw sx="100000" sy="100000" kx="0" ky="0" algn="bl" rotWithShape="0" blurRad="76200" dist="19050" dir="5400000">
              <a:srgbClr val="1B2433">
                <a:alpha val="10000"/>
              </a:srgbClr>
            </a:outerShdw>
          </a:effectLst>
        </p:spPr>
      </p:sp>
      <p:sp>
        <p:nvSpPr>
          <p:cNvPr id="19" name="num_32"/>
          <p:cNvSpPr/>
          <p:nvPr/>
        </p:nvSpPr>
        <p:spPr>
          <a:xfrm>
            <a:off x="731520" y="4379976"/>
            <a:ext cx="548640" cy="548640"/>
          </a:xfrm>
          <a:prstGeom prst="ellipse">
            <a:avLst/>
          </a:prstGeom>
          <a:solidFill>
            <a:schemeClr val="accent1"/>
          </a:solidFill>
          <a:ln/>
        </p:spPr>
      </p:sp>
      <p:sp>
        <p:nvSpPr>
          <p:cNvPr id="20" name="t_33"/>
          <p:cNvSpPr txBox="1"/>
          <p:nvPr/>
        </p:nvSpPr>
        <p:spPr>
          <a:xfrm>
            <a:off x="731520" y="437997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04</a:t>
            </a:r>
            <a:endParaRPr lang="en-US" sz="1600" dirty="0"/>
          </a:p>
        </p:txBody>
      </p:sp>
      <p:sp>
        <p:nvSpPr>
          <p:cNvPr id="21" name="t_34"/>
          <p:cNvSpPr txBox="1"/>
          <p:nvPr/>
        </p:nvSpPr>
        <p:spPr>
          <a:xfrm>
            <a:off x="1463040" y="4352544"/>
            <a:ext cx="4754880" cy="329184"/>
          </a:xfrm>
          <a:prstGeom prst="rect">
            <a:avLst/>
          </a:prstGeom>
          <a:noFill/>
          <a:ln/>
        </p:spPr>
        <p:txBody>
          <a:bodyPr wrap="square" lIns="0" tIns="0" rIns="0" bIns="0" rtlCol="0" anchor="t"/>
          <a:lstStyle/>
          <a:p>
            <a:pPr indent="0" marL="0">
              <a:buNone/>
            </a:pPr>
            <a:r>
              <a:rPr lang="en-US" sz="1800" b="1" dirty="0">
                <a:solidFill>
                  <a:schemeClr val="tx2"/>
                </a:solidFill>
              </a:rPr>
              <a:t>Réalisation</a:t>
            </a:r>
            <a:endParaRPr lang="en-US" sz="1800" dirty="0"/>
          </a:p>
        </p:txBody>
      </p:sp>
      <p:sp>
        <p:nvSpPr>
          <p:cNvPr id="22" name="t_35"/>
          <p:cNvSpPr txBox="1"/>
          <p:nvPr/>
        </p:nvSpPr>
        <p:spPr>
          <a:xfrm>
            <a:off x="1463040" y="4681728"/>
            <a:ext cx="4754880" cy="274320"/>
          </a:xfrm>
          <a:prstGeom prst="rect">
            <a:avLst/>
          </a:prstGeom>
          <a:noFill/>
          <a:ln/>
        </p:spPr>
        <p:txBody>
          <a:bodyPr wrap="square" lIns="0" tIns="0" rIns="0" bIns="0" rtlCol="0" anchor="t"/>
          <a:lstStyle/>
          <a:p>
            <a:pPr indent="0" marL="0">
              <a:buNone/>
            </a:pPr>
            <a:r>
              <a:rPr lang="en-US" sz="1200" dirty="0">
                <a:solidFill>
                  <a:srgbClr val="6B7585"/>
                </a:solidFill>
              </a:rPr>
              <a:t>Langages et SGBD, interfaces, contrôle et sécurité</a:t>
            </a:r>
            <a:endParaRPr lang="en-US" sz="1200" dirty="0"/>
          </a:p>
        </p:txBody>
      </p:sp>
      <p:sp>
        <p:nvSpPr>
          <p:cNvPr id="23" name="card_36"/>
          <p:cNvSpPr/>
          <p:nvPr/>
        </p:nvSpPr>
        <p:spPr>
          <a:xfrm>
            <a:off x="548640" y="5230368"/>
            <a:ext cx="5852160" cy="822960"/>
          </a:xfrm>
          <a:prstGeom prst="roundRect">
            <a:avLst>
              <a:gd name="adj" fmla="val 13333"/>
            </a:avLst>
          </a:prstGeom>
          <a:solidFill>
            <a:schemeClr val="bg1"/>
          </a:solidFill>
          <a:ln/>
          <a:effectLst>
            <a:outerShdw sx="100000" sy="100000" kx="0" ky="0" algn="bl" rotWithShape="0" blurRad="76200" dist="19050" dir="5400000">
              <a:srgbClr val="1B2433">
                <a:alpha val="10000"/>
              </a:srgbClr>
            </a:outerShdw>
          </a:effectLst>
        </p:spPr>
      </p:sp>
      <p:sp>
        <p:nvSpPr>
          <p:cNvPr id="24" name="num_37"/>
          <p:cNvSpPr/>
          <p:nvPr/>
        </p:nvSpPr>
        <p:spPr>
          <a:xfrm>
            <a:off x="731520" y="5367528"/>
            <a:ext cx="548640" cy="548640"/>
          </a:xfrm>
          <a:prstGeom prst="ellipse">
            <a:avLst/>
          </a:prstGeom>
          <a:solidFill>
            <a:schemeClr val="tx2"/>
          </a:solidFill>
          <a:ln/>
        </p:spPr>
      </p:sp>
      <p:sp>
        <p:nvSpPr>
          <p:cNvPr id="25" name="t_38"/>
          <p:cNvSpPr txBox="1"/>
          <p:nvPr/>
        </p:nvSpPr>
        <p:spPr>
          <a:xfrm>
            <a:off x="731520" y="536752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05</a:t>
            </a:r>
            <a:endParaRPr lang="en-US" sz="1600" dirty="0"/>
          </a:p>
        </p:txBody>
      </p:sp>
      <p:sp>
        <p:nvSpPr>
          <p:cNvPr id="26" name="t_39"/>
          <p:cNvSpPr txBox="1"/>
          <p:nvPr/>
        </p:nvSpPr>
        <p:spPr>
          <a:xfrm>
            <a:off x="1463040" y="5340096"/>
            <a:ext cx="4754880" cy="329184"/>
          </a:xfrm>
          <a:prstGeom prst="rect">
            <a:avLst/>
          </a:prstGeom>
          <a:noFill/>
          <a:ln/>
        </p:spPr>
        <p:txBody>
          <a:bodyPr wrap="square" lIns="0" tIns="0" rIns="0" bIns="0" rtlCol="0" anchor="t"/>
          <a:lstStyle/>
          <a:p>
            <a:pPr indent="0" marL="0">
              <a:buNone/>
            </a:pPr>
            <a:r>
              <a:rPr lang="en-US" sz="1800" b="1" dirty="0">
                <a:solidFill>
                  <a:schemeClr val="tx2"/>
                </a:solidFill>
              </a:rPr>
              <a:t>Conclusion</a:t>
            </a:r>
            <a:endParaRPr lang="en-US" sz="1800" dirty="0"/>
          </a:p>
        </p:txBody>
      </p:sp>
      <p:sp>
        <p:nvSpPr>
          <p:cNvPr id="27" name="t_40"/>
          <p:cNvSpPr txBox="1"/>
          <p:nvPr/>
        </p:nvSpPr>
        <p:spPr>
          <a:xfrm>
            <a:off x="1463040" y="5669280"/>
            <a:ext cx="4754880" cy="274320"/>
          </a:xfrm>
          <a:prstGeom prst="rect">
            <a:avLst/>
          </a:prstGeom>
          <a:noFill/>
          <a:ln/>
        </p:spPr>
        <p:txBody>
          <a:bodyPr wrap="square" lIns="0" tIns="0" rIns="0" bIns="0" rtlCol="0" anchor="t"/>
          <a:lstStyle/>
          <a:p>
            <a:pPr indent="0" marL="0">
              <a:buNone/>
            </a:pPr>
            <a:r>
              <a:rPr lang="en-US" sz="1200" dirty="0">
                <a:solidFill>
                  <a:srgbClr val="6B7585"/>
                </a:solidFill>
              </a:rPr>
              <a:t>Conclusion, remerciements et questions</a:t>
            </a:r>
            <a:endParaRPr lang="en-US" sz="1200" dirty="0"/>
          </a:p>
        </p:txBody>
      </p:sp>
      <p:pic>
        <p:nvPicPr>
          <p:cNvPr id="28" name="plan_photo" descr="INSFP Hussein Dey">    </p:cNvPr>
          <p:cNvPicPr>
            <a:picLocks noChangeAspect="1"/>
          </p:cNvPicPr>
          <p:nvPr/>
        </p:nvPicPr>
        <p:blipFill>
          <a:blip r:embed="rId1"/>
          <a:stretch>
            <a:fillRect/>
          </a:stretch>
        </p:blipFill>
        <p:spPr>
          <a:xfrm>
            <a:off x="6812280" y="1280160"/>
            <a:ext cx="4846320" cy="4846320"/>
          </a:xfrm>
          <a:prstGeom prst="rect">
            <a:avLst/>
          </a:prstGeom>
        </p:spPr>
      </p:pic>
      <p:sp>
        <p:nvSpPr>
          <p:cNvPr id="29" name="plan_band"/>
          <p:cNvSpPr/>
          <p:nvPr/>
        </p:nvSpPr>
        <p:spPr>
          <a:xfrm>
            <a:off x="6812280" y="5532120"/>
            <a:ext cx="4846320" cy="594360"/>
          </a:xfrm>
          <a:prstGeom prst="rect">
            <a:avLst/>
          </a:prstGeom>
          <a:solidFill>
            <a:srgbClr val="0A2F5C">
              <a:alpha val="85000"/>
            </a:srgbClr>
          </a:solidFill>
          <a:ln/>
        </p:spPr>
      </p:sp>
      <p:sp>
        <p:nvSpPr>
          <p:cNvPr id="30" name="t_41"/>
          <p:cNvSpPr txBox="1"/>
          <p:nvPr/>
        </p:nvSpPr>
        <p:spPr>
          <a:xfrm>
            <a:off x="6995160" y="5532120"/>
            <a:ext cx="4572000" cy="594360"/>
          </a:xfrm>
          <a:prstGeom prst="rect">
            <a:avLst/>
          </a:prstGeom>
          <a:noFill/>
          <a:ln/>
        </p:spPr>
        <p:txBody>
          <a:bodyPr wrap="square" lIns="0" tIns="0" rIns="0" bIns="0" rtlCol="0" anchor="ctr"/>
          <a:lstStyle/>
          <a:p>
            <a:pPr indent="0" marL="0">
              <a:buNone/>
            </a:pPr>
            <a:r>
              <a:rPr lang="en-US" sz="1200" dirty="0">
                <a:solidFill>
                  <a:srgbClr val="FFFFFF"/>
                </a:solidFill>
              </a:rPr>
              <a:t>INSFP Mohamed Tayeb Boucenna — Hussein Dey, Alger</a:t>
            </a:r>
            <a:endParaRPr lang="en-US" sz="12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ec_img_42" descr="Présentation du sujet">    </p:cNvPr>
          <p:cNvPicPr>
            <a:picLocks noChangeAspect="1"/>
          </p:cNvPicPr>
          <p:nvPr/>
        </p:nvPicPr>
        <p:blipFill>
          <a:blip r:embed="rId1"/>
          <a:stretch>
            <a:fillRect/>
          </a:stretch>
        </p:blipFill>
        <p:spPr>
          <a:xfrm>
            <a:off x="6796735" y="0"/>
            <a:ext cx="5394960" cy="6858000"/>
          </a:xfrm>
          <a:prstGeom prst="rect">
            <a:avLst/>
          </a:prstGeom>
        </p:spPr>
      </p:pic>
      <p:sp>
        <p:nvSpPr>
          <p:cNvPr id="3" name="deco_43"/>
          <p:cNvSpPr/>
          <p:nvPr/>
        </p:nvSpPr>
        <p:spPr>
          <a:xfrm>
            <a:off x="-1737360" y="-2286000"/>
            <a:ext cx="3474720" cy="3474720"/>
          </a:xfrm>
          <a:prstGeom prst="ellipse">
            <a:avLst/>
          </a:prstGeom>
          <a:solidFill>
            <a:srgbClr val="03909E">
              <a:alpha val="15000"/>
            </a:srgbClr>
          </a:solidFill>
          <a:ln/>
        </p:spPr>
      </p:sp>
      <p:sp>
        <p:nvSpPr>
          <p:cNvPr id="4" name="t_44"/>
          <p:cNvSpPr txBox="1"/>
          <p:nvPr/>
        </p:nvSpPr>
        <p:spPr>
          <a:xfrm>
            <a:off x="731520" y="1417320"/>
            <a:ext cx="2743200" cy="1280160"/>
          </a:xfrm>
          <a:prstGeom prst="rect">
            <a:avLst/>
          </a:prstGeom>
          <a:noFill/>
          <a:ln/>
        </p:spPr>
        <p:txBody>
          <a:bodyPr wrap="square" lIns="0" tIns="0" rIns="0" bIns="0" rtlCol="0" anchor="t"/>
          <a:lstStyle/>
          <a:p>
            <a:pPr indent="0" marL="0">
              <a:buNone/>
            </a:pPr>
            <a:r>
              <a:rPr lang="en-US" sz="8800" b="1" dirty="0">
                <a:solidFill>
                  <a:srgbClr val="D7971D"/>
                </a:solidFill>
                <a:latin typeface="Segoe UI Semibold" pitchFamily="34" charset="0"/>
                <a:ea typeface="Segoe UI Semibold" pitchFamily="34" charset="-122"/>
                <a:cs typeface="Segoe UI Semibold" pitchFamily="34" charset="-120"/>
              </a:rPr>
              <a:t>01</a:t>
            </a:r>
            <a:endParaRPr lang="en-US" sz="8800" dirty="0"/>
          </a:p>
        </p:txBody>
      </p:sp>
      <p:sp>
        <p:nvSpPr>
          <p:cNvPr id="5" name="Text 0"/>
          <p:cNvSpPr/>
          <p:nvPr>
            <p:ph idx="100" type="title" hasCustomPrompt="1"/>
          </p:nvPr>
        </p:nvSpPr>
        <p:spPr>
          <a:xfrm>
            <a:off x="731520" y="2788920"/>
            <a:ext cx="548640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Segoe UI Semibold" pitchFamily="34" charset="0"/>
                <a:ea typeface="Segoe UI Semibold" pitchFamily="34" charset="-122"/>
                <a:cs typeface="Segoe UI Semibold" pitchFamily="34" charset="-120"/>
              </a:rPr>
              <a:t>Présentation du sujet</a:t>
            </a:r>
            <a:endParaRPr lang="en-US" sz="4000" dirty="0"/>
          </a:p>
        </p:txBody>
      </p:sp>
      <p:sp>
        <p:nvSpPr>
          <p:cNvPr id="6" name="t_45"/>
          <p:cNvSpPr txBox="1"/>
          <p:nvPr/>
        </p:nvSpPr>
        <p:spPr>
          <a:xfrm>
            <a:off x="731520" y="4251960"/>
            <a:ext cx="5486400" cy="1097280"/>
          </a:xfrm>
          <a:prstGeom prst="rect">
            <a:avLst/>
          </a:prstGeom>
          <a:noFill/>
          <a:ln/>
        </p:spPr>
        <p:txBody>
          <a:bodyPr wrap="square" lIns="0" tIns="0" rIns="0" bIns="0" rtlCol="0" anchor="t"/>
          <a:lstStyle/>
          <a:p>
            <a:pPr indent="0" marL="0">
              <a:buNone/>
            </a:pPr>
            <a:r>
              <a:rPr lang="en-US" sz="1600" dirty="0">
                <a:solidFill>
                  <a:srgbClr val="CFE3F0"/>
                </a:solidFill>
              </a:rPr>
              <a:t>Introduction, problématique, objectifs et présentation du projet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Introduction</a:t>
            </a:r>
            <a:endParaRPr lang="en-US" sz="3000" dirty="0"/>
          </a:p>
        </p:txBody>
      </p:sp>
      <p:sp>
        <p:nvSpPr>
          <p:cNvPr id="3" name="t_46"/>
          <p:cNvSpPr txBox="1"/>
          <p:nvPr/>
        </p:nvSpPr>
        <p:spPr>
          <a:xfrm>
            <a:off x="548640" y="1325880"/>
            <a:ext cx="5760720" cy="914400"/>
          </a:xfrm>
          <a:prstGeom prst="rect">
            <a:avLst/>
          </a:prstGeom>
          <a:noFill/>
          <a:ln/>
        </p:spPr>
        <p:txBody>
          <a:bodyPr wrap="square" lIns="0" tIns="0" rIns="0" bIns="0" rtlCol="0" anchor="t"/>
          <a:lstStyle/>
          <a:p>
            <a:pPr indent="0" marL="0">
              <a:buNone/>
            </a:pPr>
            <a:r>
              <a:rPr lang="en-US" sz="2000" b="1" dirty="0">
                <a:solidFill>
                  <a:schemeClr val="tx2"/>
                </a:solidFill>
              </a:rPr>
              <a:t>La transformation numérique est devenue un enjeu majeur pour les établissements de formation.</a:t>
            </a:r>
            <a:endParaRPr lang="en-US" sz="2000" dirty="0"/>
          </a:p>
        </p:txBody>
      </p:sp>
      <p:sp>
        <p:nvSpPr>
          <p:cNvPr id="4" name="t_47"/>
          <p:cNvSpPr txBox="1"/>
          <p:nvPr/>
        </p:nvSpPr>
        <p:spPr>
          <a:xfrm>
            <a:off x="548640" y="2377440"/>
            <a:ext cx="5760720" cy="1234440"/>
          </a:xfrm>
          <a:prstGeom prst="rect">
            <a:avLst/>
          </a:prstGeom>
          <a:noFill/>
          <a:ln/>
        </p:spPr>
        <p:txBody>
          <a:bodyPr wrap="square" lIns="0" tIns="0" rIns="0" bIns="0" rtlCol="0" anchor="t"/>
          <a:lstStyle/>
          <a:p>
            <a:pPr indent="0" marL="0">
              <a:buNone/>
            </a:pPr>
            <a:r>
              <a:rPr lang="en-US" sz="1500" dirty="0">
                <a:solidFill>
                  <a:srgbClr val="3F4652"/>
                </a:solidFill>
              </a:rPr>
              <a:t>À l'INSFP Mohamed Tayeb Boucenna, une grande partie de la gestion est encore traitée sur papier et dans des fichiers séparés : inscriptions, emplois du temps, assiduité, examens, notes et délibérations.</a:t>
            </a:r>
            <a:endParaRPr lang="en-US" sz="1500" dirty="0"/>
          </a:p>
        </p:txBody>
      </p:sp>
      <p:sp>
        <p:nvSpPr>
          <p:cNvPr id="5" name="card_48"/>
          <p:cNvSpPr/>
          <p:nvPr/>
        </p:nvSpPr>
        <p:spPr>
          <a:xfrm>
            <a:off x="548640" y="4114800"/>
            <a:ext cx="1828800" cy="1600200"/>
          </a:xfrm>
          <a:prstGeom prst="roundRect">
            <a:avLst>
              <a:gd name="adj" fmla="val 6857"/>
            </a:avLst>
          </a:prstGeom>
          <a:solidFill>
            <a:schemeClr val="bg1"/>
          </a:solidFill>
          <a:ln/>
          <a:effectLst>
            <a:outerShdw sx="100000" sy="100000" kx="0" ky="0" algn="bl" rotWithShape="0" blurRad="76200" dist="19050" dir="5400000">
              <a:srgbClr val="1B2433">
                <a:alpha val="10000"/>
              </a:srgbClr>
            </a:outerShdw>
          </a:effectLst>
        </p:spPr>
      </p:sp>
      <p:sp>
        <p:nvSpPr>
          <p:cNvPr id="6" name="ic_bg_49"/>
          <p:cNvSpPr/>
          <p:nvPr/>
        </p:nvSpPr>
        <p:spPr>
          <a:xfrm>
            <a:off x="1170432" y="4279392"/>
            <a:ext cx="585216" cy="585216"/>
          </a:xfrm>
          <a:prstGeom prst="ellipse">
            <a:avLst/>
          </a:prstGeom>
          <a:solidFill>
            <a:srgbClr val="03909E"/>
          </a:solidFill>
          <a:ln/>
        </p:spPr>
      </p:sp>
      <p:pic>
        <p:nvPicPr>
          <p:cNvPr id="7" name="ic_50" descr="FaClock">    </p:cNvPr>
          <p:cNvPicPr>
            <a:picLocks noChangeAspect="1"/>
          </p:cNvPicPr>
          <p:nvPr/>
        </p:nvPicPr>
        <p:blipFill>
          <a:blip r:embed="rId1"/>
          <a:stretch>
            <a:fillRect/>
          </a:stretch>
        </p:blipFill>
        <p:spPr>
          <a:xfrm>
            <a:off x="1316736" y="4425696"/>
            <a:ext cx="292608" cy="292608"/>
          </a:xfrm>
          <a:prstGeom prst="rect">
            <a:avLst/>
          </a:prstGeom>
        </p:spPr>
      </p:pic>
      <p:sp>
        <p:nvSpPr>
          <p:cNvPr id="8" name="t_51"/>
          <p:cNvSpPr txBox="1"/>
          <p:nvPr/>
        </p:nvSpPr>
        <p:spPr>
          <a:xfrm>
            <a:off x="640080" y="4956048"/>
            <a:ext cx="1645920" cy="594360"/>
          </a:xfrm>
          <a:prstGeom prst="rect">
            <a:avLst/>
          </a:prstGeom>
          <a:noFill/>
          <a:ln/>
        </p:spPr>
        <p:txBody>
          <a:bodyPr wrap="square" lIns="0" tIns="0" rIns="0" bIns="0" rtlCol="0" anchor="ctr"/>
          <a:lstStyle/>
          <a:p>
            <a:pPr algn="ctr" indent="0" marL="0">
              <a:buNone/>
            </a:pPr>
            <a:r>
              <a:rPr lang="en-US" sz="1300" b="1" dirty="0">
                <a:solidFill>
                  <a:schemeClr val="tx2"/>
                </a:solidFill>
              </a:rPr>
              <a:t>Pertes de temps</a:t>
            </a:r>
            <a:endParaRPr lang="en-US" sz="1300" dirty="0"/>
          </a:p>
        </p:txBody>
      </p:sp>
      <p:sp>
        <p:nvSpPr>
          <p:cNvPr id="9" name="card_52"/>
          <p:cNvSpPr/>
          <p:nvPr/>
        </p:nvSpPr>
        <p:spPr>
          <a:xfrm>
            <a:off x="2514600" y="4114800"/>
            <a:ext cx="1828800" cy="1600200"/>
          </a:xfrm>
          <a:prstGeom prst="roundRect">
            <a:avLst>
              <a:gd name="adj" fmla="val 6857"/>
            </a:avLst>
          </a:prstGeom>
          <a:solidFill>
            <a:schemeClr val="bg1"/>
          </a:solidFill>
          <a:ln/>
          <a:effectLst>
            <a:outerShdw sx="100000" sy="100000" kx="0" ky="0" algn="bl" rotWithShape="0" blurRad="76200" dist="19050" dir="5400000">
              <a:srgbClr val="1B2433">
                <a:alpha val="10000"/>
              </a:srgbClr>
            </a:outerShdw>
          </a:effectLst>
        </p:spPr>
      </p:sp>
      <p:sp>
        <p:nvSpPr>
          <p:cNvPr id="10" name="ic_bg_53"/>
          <p:cNvSpPr/>
          <p:nvPr/>
        </p:nvSpPr>
        <p:spPr>
          <a:xfrm>
            <a:off x="3136392" y="4279392"/>
            <a:ext cx="585216" cy="585216"/>
          </a:xfrm>
          <a:prstGeom prst="ellipse">
            <a:avLst/>
          </a:prstGeom>
          <a:solidFill>
            <a:srgbClr val="D7971D"/>
          </a:solidFill>
          <a:ln/>
        </p:spPr>
      </p:sp>
      <p:pic>
        <p:nvPicPr>
          <p:cNvPr id="11" name="ic_54" descr="FaTriangleExclamation">    </p:cNvPr>
          <p:cNvPicPr>
            <a:picLocks noChangeAspect="1"/>
          </p:cNvPicPr>
          <p:nvPr/>
        </p:nvPicPr>
        <p:blipFill>
          <a:blip r:embed="rId2"/>
          <a:stretch>
            <a:fillRect/>
          </a:stretch>
        </p:blipFill>
        <p:spPr>
          <a:xfrm>
            <a:off x="3282696" y="4425696"/>
            <a:ext cx="292608" cy="292608"/>
          </a:xfrm>
          <a:prstGeom prst="rect">
            <a:avLst/>
          </a:prstGeom>
        </p:spPr>
      </p:pic>
      <p:sp>
        <p:nvSpPr>
          <p:cNvPr id="12" name="t_55"/>
          <p:cNvSpPr txBox="1"/>
          <p:nvPr/>
        </p:nvSpPr>
        <p:spPr>
          <a:xfrm>
            <a:off x="2606040" y="4956048"/>
            <a:ext cx="1645920" cy="594360"/>
          </a:xfrm>
          <a:prstGeom prst="rect">
            <a:avLst/>
          </a:prstGeom>
          <a:noFill/>
          <a:ln/>
        </p:spPr>
        <p:txBody>
          <a:bodyPr wrap="square" lIns="0" tIns="0" rIns="0" bIns="0" rtlCol="0" anchor="ctr"/>
          <a:lstStyle/>
          <a:p>
            <a:pPr algn="ctr" indent="0" marL="0">
              <a:buNone/>
            </a:pPr>
            <a:r>
              <a:rPr lang="en-US" sz="1300" b="1" dirty="0">
                <a:solidFill>
                  <a:schemeClr val="tx2"/>
                </a:solidFill>
              </a:rPr>
              <a:t>Risques d'erreurs</a:t>
            </a:r>
            <a:endParaRPr lang="en-US" sz="1300" dirty="0"/>
          </a:p>
        </p:txBody>
      </p:sp>
      <p:sp>
        <p:nvSpPr>
          <p:cNvPr id="13" name="card_56"/>
          <p:cNvSpPr/>
          <p:nvPr/>
        </p:nvSpPr>
        <p:spPr>
          <a:xfrm>
            <a:off x="4480560" y="4114800"/>
            <a:ext cx="1828800" cy="1600200"/>
          </a:xfrm>
          <a:prstGeom prst="roundRect">
            <a:avLst>
              <a:gd name="adj" fmla="val 6857"/>
            </a:avLst>
          </a:prstGeom>
          <a:solidFill>
            <a:schemeClr val="bg1"/>
          </a:solidFill>
          <a:ln/>
          <a:effectLst>
            <a:outerShdw sx="100000" sy="100000" kx="0" ky="0" algn="bl" rotWithShape="0" blurRad="76200" dist="19050" dir="5400000">
              <a:srgbClr val="1B2433">
                <a:alpha val="10000"/>
              </a:srgbClr>
            </a:outerShdw>
          </a:effectLst>
        </p:spPr>
      </p:sp>
      <p:sp>
        <p:nvSpPr>
          <p:cNvPr id="14" name="ic_bg_57"/>
          <p:cNvSpPr/>
          <p:nvPr/>
        </p:nvSpPr>
        <p:spPr>
          <a:xfrm>
            <a:off x="5102352" y="4279392"/>
            <a:ext cx="585216" cy="585216"/>
          </a:xfrm>
          <a:prstGeom prst="ellipse">
            <a:avLst/>
          </a:prstGeom>
          <a:solidFill>
            <a:srgbClr val="03909E"/>
          </a:solidFill>
          <a:ln/>
        </p:spPr>
      </p:sp>
      <p:pic>
        <p:nvPicPr>
          <p:cNvPr id="15" name="ic_58" descr="FaEye">    </p:cNvPr>
          <p:cNvPicPr>
            <a:picLocks noChangeAspect="1"/>
          </p:cNvPicPr>
          <p:nvPr/>
        </p:nvPicPr>
        <p:blipFill>
          <a:blip r:embed="rId3"/>
          <a:stretch>
            <a:fillRect/>
          </a:stretch>
        </p:blipFill>
        <p:spPr>
          <a:xfrm>
            <a:off x="5248656" y="4425696"/>
            <a:ext cx="292608" cy="292608"/>
          </a:xfrm>
          <a:prstGeom prst="rect">
            <a:avLst/>
          </a:prstGeom>
        </p:spPr>
      </p:pic>
      <p:sp>
        <p:nvSpPr>
          <p:cNvPr id="16" name="t_59"/>
          <p:cNvSpPr txBox="1"/>
          <p:nvPr/>
        </p:nvSpPr>
        <p:spPr>
          <a:xfrm>
            <a:off x="4572000" y="4956048"/>
            <a:ext cx="1645920" cy="594360"/>
          </a:xfrm>
          <a:prstGeom prst="rect">
            <a:avLst/>
          </a:prstGeom>
          <a:noFill/>
          <a:ln/>
        </p:spPr>
        <p:txBody>
          <a:bodyPr wrap="square" lIns="0" tIns="0" rIns="0" bIns="0" rtlCol="0" anchor="ctr"/>
          <a:lstStyle/>
          <a:p>
            <a:pPr algn="ctr" indent="0" marL="0">
              <a:buNone/>
            </a:pPr>
            <a:r>
              <a:rPr lang="en-US" sz="1300" b="1" dirty="0">
                <a:solidFill>
                  <a:schemeClr val="tx2"/>
                </a:solidFill>
              </a:rPr>
              <a:t>Accès difficile à l'information</a:t>
            </a:r>
            <a:endParaRPr lang="en-US" sz="1300" dirty="0"/>
          </a:p>
        </p:txBody>
      </p:sp>
      <p:pic>
        <p:nvPicPr>
          <p:cNvPr id="17" name="intro_photo" descr="Salle d'informatique de l'institut">    </p:cNvPr>
          <p:cNvPicPr>
            <a:picLocks noChangeAspect="1"/>
          </p:cNvPicPr>
          <p:nvPr/>
        </p:nvPicPr>
        <p:blipFill>
          <a:blip r:embed="rId4"/>
          <a:stretch>
            <a:fillRect/>
          </a:stretch>
        </p:blipFill>
        <p:spPr>
          <a:xfrm>
            <a:off x="6675120" y="1280160"/>
            <a:ext cx="4983480" cy="4846320"/>
          </a:xfrm>
          <a:prstGeom prst="rect">
            <a:avLst/>
          </a:prstGeom>
          <a:effectLst>
            <a:outerShdw sx="100000" sy="100000" kx="0" ky="0" algn="bl" rotWithShape="0" blurRad="127000" dist="38100" dir="5400000">
              <a:srgbClr val="1B2433">
                <a:alpha val="14000"/>
              </a:srgbClr>
            </a:outerShdw>
          </a:effectLst>
        </p:spPr>
      </p:pic>
      <p:sp>
        <p:nvSpPr>
          <p:cNvPr id="18" name="cap_60"/>
          <p:cNvSpPr txBox="1"/>
          <p:nvPr/>
        </p:nvSpPr>
        <p:spPr>
          <a:xfrm>
            <a:off x="6675120" y="6144768"/>
            <a:ext cx="4983480" cy="310896"/>
          </a:xfrm>
          <a:prstGeom prst="rect">
            <a:avLst/>
          </a:prstGeom>
          <a:noFill/>
          <a:ln/>
        </p:spPr>
        <p:txBody>
          <a:bodyPr wrap="square" lIns="0" tIns="0" rIns="0" bIns="0" rtlCol="0" anchor="ctr"/>
          <a:lstStyle/>
          <a:p>
            <a:pPr algn="ctr" indent="0" marL="0">
              <a:buNone/>
            </a:pPr>
            <a:r>
              <a:rPr lang="en-US" sz="1100" i="1" dirty="0">
                <a:solidFill>
                  <a:schemeClr val="tx2"/>
                </a:solidFill>
              </a:rPr>
              <a:t>Salle d'informatique de l'institut</a:t>
            </a:r>
            <a:endParaRPr lang="en-US" sz="11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Problématique</a:t>
            </a:r>
            <a:endParaRPr lang="en-US" sz="3000" dirty="0"/>
          </a:p>
        </p:txBody>
      </p:sp>
      <p:sp>
        <p:nvSpPr>
          <p:cNvPr id="3" name="card_61"/>
          <p:cNvSpPr/>
          <p:nvPr/>
        </p:nvSpPr>
        <p:spPr>
          <a:xfrm>
            <a:off x="548640" y="1280160"/>
            <a:ext cx="11109960" cy="1417320"/>
          </a:xfrm>
          <a:prstGeom prst="roundRect">
            <a:avLst>
              <a:gd name="adj" fmla="val 7742"/>
            </a:avLst>
          </a:prstGeom>
          <a:solidFill>
            <a:schemeClr val="tx2"/>
          </a:solidFill>
          <a:ln/>
          <a:effectLst>
            <a:outerShdw sx="100000" sy="100000" kx="0" ky="0" algn="bl" rotWithShape="0" blurRad="127000" dist="38100" dir="5400000">
              <a:srgbClr val="1B2433">
                <a:alpha val="14000"/>
              </a:srgbClr>
            </a:outerShdw>
          </a:effectLst>
        </p:spPr>
      </p:sp>
      <p:sp>
        <p:nvSpPr>
          <p:cNvPr id="4" name="ic_bg_62"/>
          <p:cNvSpPr/>
          <p:nvPr/>
        </p:nvSpPr>
        <p:spPr>
          <a:xfrm>
            <a:off x="868680" y="1581912"/>
            <a:ext cx="822960" cy="822960"/>
          </a:xfrm>
          <a:prstGeom prst="ellipse">
            <a:avLst/>
          </a:prstGeom>
          <a:solidFill>
            <a:srgbClr val="D7971D"/>
          </a:solidFill>
          <a:ln/>
        </p:spPr>
      </p:sp>
      <p:pic>
        <p:nvPicPr>
          <p:cNvPr id="5" name="ic_63" descr="FaQuestion">    </p:cNvPr>
          <p:cNvPicPr>
            <a:picLocks noChangeAspect="1"/>
          </p:cNvPicPr>
          <p:nvPr/>
        </p:nvPicPr>
        <p:blipFill>
          <a:blip r:embed="rId1"/>
          <a:stretch>
            <a:fillRect/>
          </a:stretch>
        </p:blipFill>
        <p:spPr>
          <a:xfrm>
            <a:off x="1074420" y="1787652"/>
            <a:ext cx="411480" cy="411480"/>
          </a:xfrm>
          <a:prstGeom prst="rect">
            <a:avLst/>
          </a:prstGeom>
        </p:spPr>
      </p:pic>
      <p:sp>
        <p:nvSpPr>
          <p:cNvPr id="6" name="t_64"/>
          <p:cNvSpPr txBox="1"/>
          <p:nvPr/>
        </p:nvSpPr>
        <p:spPr>
          <a:xfrm>
            <a:off x="1920240" y="1417320"/>
            <a:ext cx="9418320" cy="1143000"/>
          </a:xfrm>
          <a:prstGeom prst="rect">
            <a:avLst/>
          </a:prstGeom>
          <a:noFill/>
          <a:ln/>
        </p:spPr>
        <p:txBody>
          <a:bodyPr wrap="square" lIns="0" tIns="0" rIns="0" bIns="0" rtlCol="0" anchor="ctr"/>
          <a:lstStyle/>
          <a:p>
            <a:pPr indent="0" marL="0">
              <a:buNone/>
            </a:pPr>
            <a:r>
              <a:rPr lang="en-US" sz="2100" b="1" dirty="0">
                <a:solidFill>
                  <a:srgbClr val="FFFFFF"/>
                </a:solidFill>
              </a:rPr>
              <a:t>Comment transformer une gestion manuelle et dispersée en une gestion numérique centralisée, fiable et accessible à tous ?</a:t>
            </a:r>
            <a:endParaRPr lang="en-US" sz="2100" dirty="0"/>
          </a:p>
        </p:txBody>
      </p:sp>
      <p:sp>
        <p:nvSpPr>
          <p:cNvPr id="7" name="card_65"/>
          <p:cNvSpPr/>
          <p:nvPr/>
        </p:nvSpPr>
        <p:spPr>
          <a:xfrm>
            <a:off x="548640" y="3017520"/>
            <a:ext cx="2651760" cy="3108960"/>
          </a:xfrm>
          <a:prstGeom prst="roundRect">
            <a:avLst>
              <a:gd name="adj" fmla="val 4138"/>
            </a:avLst>
          </a:prstGeom>
          <a:solidFill>
            <a:schemeClr val="bg1"/>
          </a:solidFill>
          <a:ln/>
          <a:effectLst>
            <a:outerShdw sx="100000" sy="100000" kx="0" ky="0" algn="bl" rotWithShape="0" blurRad="76200" dist="19050" dir="5400000">
              <a:srgbClr val="1B2433">
                <a:alpha val="10000"/>
              </a:srgbClr>
            </a:outerShdw>
          </a:effectLst>
        </p:spPr>
      </p:sp>
      <p:sp>
        <p:nvSpPr>
          <p:cNvPr id="8" name="ic_bg_66"/>
          <p:cNvSpPr/>
          <p:nvPr/>
        </p:nvSpPr>
        <p:spPr>
          <a:xfrm>
            <a:off x="1417320" y="3291840"/>
            <a:ext cx="914400" cy="914400"/>
          </a:xfrm>
          <a:prstGeom prst="ellipse">
            <a:avLst/>
          </a:prstGeom>
          <a:solidFill>
            <a:srgbClr val="FBE9E9"/>
          </a:solidFill>
          <a:ln/>
        </p:spPr>
      </p:sp>
      <p:pic>
        <p:nvPicPr>
          <p:cNvPr id="9" name="ic_67" descr="FaCopy">    </p:cNvPr>
          <p:cNvPicPr>
            <a:picLocks noChangeAspect="1"/>
          </p:cNvPicPr>
          <p:nvPr/>
        </p:nvPicPr>
        <p:blipFill>
          <a:blip r:embed="rId2"/>
          <a:stretch>
            <a:fillRect/>
          </a:stretch>
        </p:blipFill>
        <p:spPr>
          <a:xfrm>
            <a:off x="1645920" y="3520440"/>
            <a:ext cx="457200" cy="457200"/>
          </a:xfrm>
          <a:prstGeom prst="rect">
            <a:avLst/>
          </a:prstGeom>
        </p:spPr>
      </p:pic>
      <p:sp>
        <p:nvSpPr>
          <p:cNvPr id="10" name="t_68"/>
          <p:cNvSpPr txBox="1"/>
          <p:nvPr/>
        </p:nvSpPr>
        <p:spPr>
          <a:xfrm>
            <a:off x="731520" y="4434840"/>
            <a:ext cx="2286000" cy="365760"/>
          </a:xfrm>
          <a:prstGeom prst="rect">
            <a:avLst/>
          </a:prstGeom>
          <a:noFill/>
          <a:ln/>
        </p:spPr>
        <p:txBody>
          <a:bodyPr wrap="square" lIns="0" tIns="0" rIns="0" bIns="0" rtlCol="0" anchor="t"/>
          <a:lstStyle/>
          <a:p>
            <a:pPr algn="ctr" indent="0" marL="0">
              <a:buNone/>
            </a:pPr>
            <a:r>
              <a:rPr lang="en-US" sz="1700" b="1" dirty="0">
                <a:solidFill>
                  <a:schemeClr val="tx2"/>
                </a:solidFill>
              </a:rPr>
              <a:t>Saisies multiples</a:t>
            </a:r>
            <a:endParaRPr lang="en-US" sz="1700" dirty="0"/>
          </a:p>
        </p:txBody>
      </p:sp>
      <p:sp>
        <p:nvSpPr>
          <p:cNvPr id="11" name="t_69"/>
          <p:cNvSpPr txBox="1"/>
          <p:nvPr/>
        </p:nvSpPr>
        <p:spPr>
          <a:xfrm>
            <a:off x="777240" y="4846320"/>
            <a:ext cx="2194560" cy="822960"/>
          </a:xfrm>
          <a:prstGeom prst="rect">
            <a:avLst/>
          </a:prstGeom>
          <a:noFill/>
          <a:ln/>
        </p:spPr>
        <p:txBody>
          <a:bodyPr wrap="square" lIns="0" tIns="0" rIns="0" bIns="0" rtlCol="0" anchor="t"/>
          <a:lstStyle/>
          <a:p>
            <a:pPr algn="ctr" indent="0" marL="0">
              <a:buNone/>
            </a:pPr>
            <a:r>
              <a:rPr lang="en-US" sz="1300" dirty="0">
                <a:solidFill>
                  <a:srgbClr val="6B7585"/>
                </a:solidFill>
              </a:rPr>
              <a:t>Dossiers papier, relevés de notes et feuilles d'appel</a:t>
            </a:r>
            <a:endParaRPr lang="en-US" sz="1300" dirty="0"/>
          </a:p>
        </p:txBody>
      </p:sp>
      <p:sp>
        <p:nvSpPr>
          <p:cNvPr id="12" name="card_70"/>
          <p:cNvSpPr/>
          <p:nvPr/>
        </p:nvSpPr>
        <p:spPr>
          <a:xfrm>
            <a:off x="3364992" y="3017520"/>
            <a:ext cx="2651760" cy="3108960"/>
          </a:xfrm>
          <a:prstGeom prst="roundRect">
            <a:avLst>
              <a:gd name="adj" fmla="val 4138"/>
            </a:avLst>
          </a:prstGeom>
          <a:solidFill>
            <a:schemeClr val="bg1"/>
          </a:solidFill>
          <a:ln/>
          <a:effectLst>
            <a:outerShdw sx="100000" sy="100000" kx="0" ky="0" algn="bl" rotWithShape="0" blurRad="76200" dist="19050" dir="5400000">
              <a:srgbClr val="1B2433">
                <a:alpha val="10000"/>
              </a:srgbClr>
            </a:outerShdw>
          </a:effectLst>
        </p:spPr>
      </p:sp>
      <p:sp>
        <p:nvSpPr>
          <p:cNvPr id="13" name="ic_bg_71"/>
          <p:cNvSpPr/>
          <p:nvPr/>
        </p:nvSpPr>
        <p:spPr>
          <a:xfrm>
            <a:off x="4233672" y="3291840"/>
            <a:ext cx="914400" cy="914400"/>
          </a:xfrm>
          <a:prstGeom prst="ellipse">
            <a:avLst/>
          </a:prstGeom>
          <a:solidFill>
            <a:srgbClr val="FBE9E9"/>
          </a:solidFill>
          <a:ln/>
        </p:spPr>
      </p:sp>
      <p:pic>
        <p:nvPicPr>
          <p:cNvPr id="14" name="ic_72" descr="FaUserClock">    </p:cNvPr>
          <p:cNvPicPr>
            <a:picLocks noChangeAspect="1"/>
          </p:cNvPicPr>
          <p:nvPr/>
        </p:nvPicPr>
        <p:blipFill>
          <a:blip r:embed="rId3"/>
          <a:stretch>
            <a:fillRect/>
          </a:stretch>
        </p:blipFill>
        <p:spPr>
          <a:xfrm>
            <a:off x="4462272" y="3520440"/>
            <a:ext cx="457200" cy="457200"/>
          </a:xfrm>
          <a:prstGeom prst="rect">
            <a:avLst/>
          </a:prstGeom>
        </p:spPr>
      </p:pic>
      <p:sp>
        <p:nvSpPr>
          <p:cNvPr id="15" name="t_73"/>
          <p:cNvSpPr txBox="1"/>
          <p:nvPr/>
        </p:nvSpPr>
        <p:spPr>
          <a:xfrm>
            <a:off x="3547872" y="4434840"/>
            <a:ext cx="2286000" cy="365760"/>
          </a:xfrm>
          <a:prstGeom prst="rect">
            <a:avLst/>
          </a:prstGeom>
          <a:noFill/>
          <a:ln/>
        </p:spPr>
        <p:txBody>
          <a:bodyPr wrap="square" lIns="0" tIns="0" rIns="0" bIns="0" rtlCol="0" anchor="t"/>
          <a:lstStyle/>
          <a:p>
            <a:pPr algn="ctr" indent="0" marL="0">
              <a:buNone/>
            </a:pPr>
            <a:r>
              <a:rPr lang="en-US" sz="1700" b="1" dirty="0">
                <a:solidFill>
                  <a:schemeClr val="tx2"/>
                </a:solidFill>
              </a:rPr>
              <a:t>Démarches lentes</a:t>
            </a:r>
            <a:endParaRPr lang="en-US" sz="1700" dirty="0"/>
          </a:p>
        </p:txBody>
      </p:sp>
      <p:sp>
        <p:nvSpPr>
          <p:cNvPr id="16" name="t_74"/>
          <p:cNvSpPr txBox="1"/>
          <p:nvPr/>
        </p:nvSpPr>
        <p:spPr>
          <a:xfrm>
            <a:off x="3593592" y="4846320"/>
            <a:ext cx="2194560" cy="822960"/>
          </a:xfrm>
          <a:prstGeom prst="rect">
            <a:avLst/>
          </a:prstGeom>
          <a:noFill/>
          <a:ln/>
        </p:spPr>
        <p:txBody>
          <a:bodyPr wrap="square" lIns="0" tIns="0" rIns="0" bIns="0" rtlCol="0" anchor="t"/>
          <a:lstStyle/>
          <a:p>
            <a:pPr algn="ctr" indent="0" marL="0">
              <a:buNone/>
            </a:pPr>
            <a:r>
              <a:rPr lang="en-US" sz="1300" dirty="0">
                <a:solidFill>
                  <a:srgbClr val="6B7585"/>
                </a:solidFill>
              </a:rPr>
              <a:t>Inscriptions et traitements manuels répétitifs</a:t>
            </a:r>
            <a:endParaRPr lang="en-US" sz="1300" dirty="0"/>
          </a:p>
        </p:txBody>
      </p:sp>
      <p:sp>
        <p:nvSpPr>
          <p:cNvPr id="17" name="card_75"/>
          <p:cNvSpPr/>
          <p:nvPr/>
        </p:nvSpPr>
        <p:spPr>
          <a:xfrm>
            <a:off x="6181344" y="3017520"/>
            <a:ext cx="2651760" cy="3108960"/>
          </a:xfrm>
          <a:prstGeom prst="roundRect">
            <a:avLst>
              <a:gd name="adj" fmla="val 4138"/>
            </a:avLst>
          </a:prstGeom>
          <a:solidFill>
            <a:schemeClr val="bg1"/>
          </a:solidFill>
          <a:ln/>
          <a:effectLst>
            <a:outerShdw sx="100000" sy="100000" kx="0" ky="0" algn="bl" rotWithShape="0" blurRad="76200" dist="19050" dir="5400000">
              <a:srgbClr val="1B2433">
                <a:alpha val="10000"/>
              </a:srgbClr>
            </a:outerShdw>
          </a:effectLst>
        </p:spPr>
      </p:sp>
      <p:sp>
        <p:nvSpPr>
          <p:cNvPr id="18" name="ic_bg_76"/>
          <p:cNvSpPr/>
          <p:nvPr/>
        </p:nvSpPr>
        <p:spPr>
          <a:xfrm>
            <a:off x="7050024" y="3291840"/>
            <a:ext cx="914400" cy="914400"/>
          </a:xfrm>
          <a:prstGeom prst="ellipse">
            <a:avLst/>
          </a:prstGeom>
          <a:solidFill>
            <a:srgbClr val="FBE9E9"/>
          </a:solidFill>
          <a:ln/>
        </p:spPr>
      </p:sp>
      <p:pic>
        <p:nvPicPr>
          <p:cNvPr id="19" name="ic_77" descr="FaEye">    </p:cNvPr>
          <p:cNvPicPr>
            <a:picLocks noChangeAspect="1"/>
          </p:cNvPicPr>
          <p:nvPr/>
        </p:nvPicPr>
        <p:blipFill>
          <a:blip r:embed="rId4"/>
          <a:stretch>
            <a:fillRect/>
          </a:stretch>
        </p:blipFill>
        <p:spPr>
          <a:xfrm>
            <a:off x="7278624" y="3520440"/>
            <a:ext cx="457200" cy="457200"/>
          </a:xfrm>
          <a:prstGeom prst="rect">
            <a:avLst/>
          </a:prstGeom>
        </p:spPr>
      </p:pic>
      <p:sp>
        <p:nvSpPr>
          <p:cNvPr id="20" name="t_78"/>
          <p:cNvSpPr txBox="1"/>
          <p:nvPr/>
        </p:nvSpPr>
        <p:spPr>
          <a:xfrm>
            <a:off x="6364224" y="4434840"/>
            <a:ext cx="2286000" cy="365760"/>
          </a:xfrm>
          <a:prstGeom prst="rect">
            <a:avLst/>
          </a:prstGeom>
          <a:noFill/>
          <a:ln/>
        </p:spPr>
        <p:txBody>
          <a:bodyPr wrap="square" lIns="0" tIns="0" rIns="0" bIns="0" rtlCol="0" anchor="t"/>
          <a:lstStyle/>
          <a:p>
            <a:pPr algn="ctr" indent="0" marL="0">
              <a:buNone/>
            </a:pPr>
            <a:r>
              <a:rPr lang="en-US" sz="1700" b="1" dirty="0">
                <a:solidFill>
                  <a:schemeClr val="tx2"/>
                </a:solidFill>
              </a:rPr>
              <a:t>Accès limité</a:t>
            </a:r>
            <a:endParaRPr lang="en-US" sz="1700" dirty="0"/>
          </a:p>
        </p:txBody>
      </p:sp>
      <p:sp>
        <p:nvSpPr>
          <p:cNvPr id="21" name="t_79"/>
          <p:cNvSpPr txBox="1"/>
          <p:nvPr/>
        </p:nvSpPr>
        <p:spPr>
          <a:xfrm>
            <a:off x="6409944" y="4846320"/>
            <a:ext cx="2194560" cy="822960"/>
          </a:xfrm>
          <a:prstGeom prst="rect">
            <a:avLst/>
          </a:prstGeom>
          <a:noFill/>
          <a:ln/>
        </p:spPr>
        <p:txBody>
          <a:bodyPr wrap="square" lIns="0" tIns="0" rIns="0" bIns="0" rtlCol="0" anchor="t"/>
          <a:lstStyle/>
          <a:p>
            <a:pPr algn="ctr" indent="0" marL="0">
              <a:buNone/>
            </a:pPr>
            <a:r>
              <a:rPr lang="en-US" sz="1300" dirty="0">
                <a:solidFill>
                  <a:srgbClr val="6B7585"/>
                </a:solidFill>
              </a:rPr>
              <a:t>Emplois du temps et notes seulement affichés</a:t>
            </a:r>
            <a:endParaRPr lang="en-US" sz="1300" dirty="0"/>
          </a:p>
        </p:txBody>
      </p:sp>
      <p:sp>
        <p:nvSpPr>
          <p:cNvPr id="22" name="card_80"/>
          <p:cNvSpPr/>
          <p:nvPr/>
        </p:nvSpPr>
        <p:spPr>
          <a:xfrm>
            <a:off x="8997696" y="3017520"/>
            <a:ext cx="2651760" cy="3108960"/>
          </a:xfrm>
          <a:prstGeom prst="roundRect">
            <a:avLst>
              <a:gd name="adj" fmla="val 4138"/>
            </a:avLst>
          </a:prstGeom>
          <a:solidFill>
            <a:schemeClr val="bg1"/>
          </a:solidFill>
          <a:ln/>
          <a:effectLst>
            <a:outerShdw sx="100000" sy="100000" kx="0" ky="0" algn="bl" rotWithShape="0" blurRad="76200" dist="19050" dir="5400000">
              <a:srgbClr val="1B2433">
                <a:alpha val="10000"/>
              </a:srgbClr>
            </a:outerShdw>
          </a:effectLst>
        </p:spPr>
      </p:sp>
      <p:sp>
        <p:nvSpPr>
          <p:cNvPr id="23" name="ic_bg_81"/>
          <p:cNvSpPr/>
          <p:nvPr/>
        </p:nvSpPr>
        <p:spPr>
          <a:xfrm>
            <a:off x="9866376" y="3291840"/>
            <a:ext cx="914400" cy="914400"/>
          </a:xfrm>
          <a:prstGeom prst="ellipse">
            <a:avLst/>
          </a:prstGeom>
          <a:solidFill>
            <a:srgbClr val="FBE9E9"/>
          </a:solidFill>
          <a:ln/>
        </p:spPr>
      </p:sp>
      <p:pic>
        <p:nvPicPr>
          <p:cNvPr id="24" name="ic_82" descr="FaComments">    </p:cNvPr>
          <p:cNvPicPr>
            <a:picLocks noChangeAspect="1"/>
          </p:cNvPicPr>
          <p:nvPr/>
        </p:nvPicPr>
        <p:blipFill>
          <a:blip r:embed="rId5"/>
          <a:stretch>
            <a:fillRect/>
          </a:stretch>
        </p:blipFill>
        <p:spPr>
          <a:xfrm>
            <a:off x="10094976" y="3520440"/>
            <a:ext cx="457200" cy="457200"/>
          </a:xfrm>
          <a:prstGeom prst="rect">
            <a:avLst/>
          </a:prstGeom>
        </p:spPr>
      </p:pic>
      <p:sp>
        <p:nvSpPr>
          <p:cNvPr id="25" name="t_83"/>
          <p:cNvSpPr txBox="1"/>
          <p:nvPr/>
        </p:nvSpPr>
        <p:spPr>
          <a:xfrm>
            <a:off x="9180576" y="4434840"/>
            <a:ext cx="2286000" cy="365760"/>
          </a:xfrm>
          <a:prstGeom prst="rect">
            <a:avLst/>
          </a:prstGeom>
          <a:noFill/>
          <a:ln/>
        </p:spPr>
        <p:txBody>
          <a:bodyPr wrap="square" lIns="0" tIns="0" rIns="0" bIns="0" rtlCol="0" anchor="t"/>
          <a:lstStyle/>
          <a:p>
            <a:pPr algn="ctr" indent="0" marL="0">
              <a:buNone/>
            </a:pPr>
            <a:r>
              <a:rPr lang="en-US" sz="1700" b="1" dirty="0">
                <a:solidFill>
                  <a:schemeClr val="tx2"/>
                </a:solidFill>
              </a:rPr>
              <a:t>Communication</a:t>
            </a:r>
            <a:endParaRPr lang="en-US" sz="1700" dirty="0"/>
          </a:p>
        </p:txBody>
      </p:sp>
      <p:sp>
        <p:nvSpPr>
          <p:cNvPr id="26" name="t_84"/>
          <p:cNvSpPr txBox="1"/>
          <p:nvPr/>
        </p:nvSpPr>
        <p:spPr>
          <a:xfrm>
            <a:off x="9226296" y="4846320"/>
            <a:ext cx="2194560" cy="822960"/>
          </a:xfrm>
          <a:prstGeom prst="rect">
            <a:avLst/>
          </a:prstGeom>
          <a:noFill/>
          <a:ln/>
        </p:spPr>
        <p:txBody>
          <a:bodyPr wrap="square" lIns="0" tIns="0" rIns="0" bIns="0" rtlCol="0" anchor="t"/>
          <a:lstStyle/>
          <a:p>
            <a:pPr algn="ctr" indent="0" marL="0">
              <a:buNone/>
            </a:pPr>
            <a:r>
              <a:rPr lang="en-US" sz="1300" dirty="0">
                <a:solidFill>
                  <a:srgbClr val="6B7585"/>
                </a:solidFill>
              </a:rPr>
              <a:t>Aucun canal officiel entre les acteurs</a:t>
            </a:r>
            <a:endParaRPr lang="en-US" sz="13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Les objectifs</a:t>
            </a:r>
            <a:endParaRPr lang="en-US" sz="3000" dirty="0"/>
          </a:p>
        </p:txBody>
      </p:sp>
      <p:sp>
        <p:nvSpPr>
          <p:cNvPr id="3" name="card_85"/>
          <p:cNvSpPr/>
          <p:nvPr/>
        </p:nvSpPr>
        <p:spPr>
          <a:xfrm>
            <a:off x="548640" y="1325880"/>
            <a:ext cx="3566160" cy="2286000"/>
          </a:xfrm>
          <a:prstGeom prst="roundRect">
            <a:avLst>
              <a:gd name="adj" fmla="val 4800"/>
            </a:avLst>
          </a:prstGeom>
          <a:solidFill>
            <a:schemeClr val="bg1"/>
          </a:solidFill>
          <a:ln/>
          <a:effectLst>
            <a:outerShdw sx="100000" sy="100000" kx="0" ky="0" algn="bl" rotWithShape="0" blurRad="76200" dist="19050" dir="5400000">
              <a:srgbClr val="1B2433">
                <a:alpha val="10000"/>
              </a:srgbClr>
            </a:outerShdw>
          </a:effectLst>
        </p:spPr>
      </p:sp>
      <p:sp>
        <p:nvSpPr>
          <p:cNvPr id="4" name="ic_bg_86"/>
          <p:cNvSpPr/>
          <p:nvPr/>
        </p:nvSpPr>
        <p:spPr>
          <a:xfrm>
            <a:off x="822960" y="1600200"/>
            <a:ext cx="731520" cy="731520"/>
          </a:xfrm>
          <a:prstGeom prst="ellipse">
            <a:avLst/>
          </a:prstGeom>
          <a:solidFill>
            <a:srgbClr val="03909E"/>
          </a:solidFill>
          <a:ln/>
        </p:spPr>
      </p:sp>
      <p:pic>
        <p:nvPicPr>
          <p:cNvPr id="5" name="ic_87" descr="FaBolt">    </p:cNvPr>
          <p:cNvPicPr>
            <a:picLocks noChangeAspect="1"/>
          </p:cNvPicPr>
          <p:nvPr/>
        </p:nvPicPr>
        <p:blipFill>
          <a:blip r:embed="rId1"/>
          <a:stretch>
            <a:fillRect/>
          </a:stretch>
        </p:blipFill>
        <p:spPr>
          <a:xfrm>
            <a:off x="1005840" y="1783080"/>
            <a:ext cx="365760" cy="365760"/>
          </a:xfrm>
          <a:prstGeom prst="rect">
            <a:avLst/>
          </a:prstGeom>
        </p:spPr>
      </p:pic>
      <p:sp>
        <p:nvSpPr>
          <p:cNvPr id="6" name="t_88"/>
          <p:cNvSpPr txBox="1"/>
          <p:nvPr/>
        </p:nvSpPr>
        <p:spPr>
          <a:xfrm>
            <a:off x="822960" y="2468880"/>
            <a:ext cx="3108960" cy="365760"/>
          </a:xfrm>
          <a:prstGeom prst="rect">
            <a:avLst/>
          </a:prstGeom>
          <a:noFill/>
          <a:ln/>
        </p:spPr>
        <p:txBody>
          <a:bodyPr wrap="square" lIns="0" tIns="0" rIns="0" bIns="0" rtlCol="0" anchor="t"/>
          <a:lstStyle/>
          <a:p>
            <a:pPr indent="0" marL="0">
              <a:buNone/>
            </a:pPr>
            <a:r>
              <a:rPr lang="en-US" sz="1700" b="1" dirty="0">
                <a:solidFill>
                  <a:schemeClr val="tx2"/>
                </a:solidFill>
              </a:rPr>
              <a:t>Numériser et automatiser</a:t>
            </a:r>
            <a:endParaRPr lang="en-US" sz="1700" dirty="0"/>
          </a:p>
        </p:txBody>
      </p:sp>
      <p:sp>
        <p:nvSpPr>
          <p:cNvPr id="7" name="t_89"/>
          <p:cNvSpPr txBox="1"/>
          <p:nvPr/>
        </p:nvSpPr>
        <p:spPr>
          <a:xfrm>
            <a:off x="822960" y="2862072"/>
            <a:ext cx="3108960" cy="640080"/>
          </a:xfrm>
          <a:prstGeom prst="rect">
            <a:avLst/>
          </a:prstGeom>
          <a:noFill/>
          <a:ln/>
        </p:spPr>
        <p:txBody>
          <a:bodyPr wrap="square" lIns="0" tIns="0" rIns="0" bIns="0" rtlCol="0" anchor="t"/>
          <a:lstStyle/>
          <a:p>
            <a:pPr indent="0" marL="0">
              <a:buNone/>
            </a:pPr>
            <a:r>
              <a:rPr lang="en-US" sz="1300" dirty="0">
                <a:solidFill>
                  <a:srgbClr val="6B7585"/>
                </a:solidFill>
              </a:rPr>
              <a:t>Inscription en ligne, sessions, modules, emplois du temps</a:t>
            </a:r>
            <a:endParaRPr lang="en-US" sz="1300" dirty="0"/>
          </a:p>
        </p:txBody>
      </p:sp>
      <p:sp>
        <p:nvSpPr>
          <p:cNvPr id="8" name="card_90"/>
          <p:cNvSpPr/>
          <p:nvPr/>
        </p:nvSpPr>
        <p:spPr>
          <a:xfrm>
            <a:off x="4279392" y="1325880"/>
            <a:ext cx="3566160" cy="2286000"/>
          </a:xfrm>
          <a:prstGeom prst="roundRect">
            <a:avLst>
              <a:gd name="adj" fmla="val 4800"/>
            </a:avLst>
          </a:prstGeom>
          <a:solidFill>
            <a:schemeClr val="bg1"/>
          </a:solidFill>
          <a:ln/>
          <a:effectLst>
            <a:outerShdw sx="100000" sy="100000" kx="0" ky="0" algn="bl" rotWithShape="0" blurRad="76200" dist="19050" dir="5400000">
              <a:srgbClr val="1B2433">
                <a:alpha val="10000"/>
              </a:srgbClr>
            </a:outerShdw>
          </a:effectLst>
        </p:spPr>
      </p:sp>
      <p:sp>
        <p:nvSpPr>
          <p:cNvPr id="9" name="ic_bg_91"/>
          <p:cNvSpPr/>
          <p:nvPr/>
        </p:nvSpPr>
        <p:spPr>
          <a:xfrm>
            <a:off x="4553712" y="1600200"/>
            <a:ext cx="731520" cy="731520"/>
          </a:xfrm>
          <a:prstGeom prst="ellipse">
            <a:avLst/>
          </a:prstGeom>
          <a:solidFill>
            <a:srgbClr val="0A2F5C"/>
          </a:solidFill>
          <a:ln/>
        </p:spPr>
      </p:sp>
      <p:pic>
        <p:nvPicPr>
          <p:cNvPr id="10" name="ic_92" descr="FaClockRotateLeft">    </p:cNvPr>
          <p:cNvPicPr>
            <a:picLocks noChangeAspect="1"/>
          </p:cNvPicPr>
          <p:nvPr/>
        </p:nvPicPr>
        <p:blipFill>
          <a:blip r:embed="rId2"/>
          <a:stretch>
            <a:fillRect/>
          </a:stretch>
        </p:blipFill>
        <p:spPr>
          <a:xfrm>
            <a:off x="4736592" y="1783080"/>
            <a:ext cx="365760" cy="365760"/>
          </a:xfrm>
          <a:prstGeom prst="rect">
            <a:avLst/>
          </a:prstGeom>
        </p:spPr>
      </p:pic>
      <p:sp>
        <p:nvSpPr>
          <p:cNvPr id="11" name="t_93"/>
          <p:cNvSpPr txBox="1"/>
          <p:nvPr/>
        </p:nvSpPr>
        <p:spPr>
          <a:xfrm>
            <a:off x="4553712" y="2468880"/>
            <a:ext cx="3108960" cy="365760"/>
          </a:xfrm>
          <a:prstGeom prst="rect">
            <a:avLst/>
          </a:prstGeom>
          <a:noFill/>
          <a:ln/>
        </p:spPr>
        <p:txBody>
          <a:bodyPr wrap="square" lIns="0" tIns="0" rIns="0" bIns="0" rtlCol="0" anchor="t"/>
          <a:lstStyle/>
          <a:p>
            <a:pPr indent="0" marL="0">
              <a:buNone/>
            </a:pPr>
            <a:r>
              <a:rPr lang="en-US" sz="1700" b="1" dirty="0">
                <a:solidFill>
                  <a:schemeClr val="tx2"/>
                </a:solidFill>
              </a:rPr>
              <a:t>Assurer la traçabilité</a:t>
            </a:r>
            <a:endParaRPr lang="en-US" sz="1700" dirty="0"/>
          </a:p>
        </p:txBody>
      </p:sp>
      <p:sp>
        <p:nvSpPr>
          <p:cNvPr id="12" name="t_94"/>
          <p:cNvSpPr txBox="1"/>
          <p:nvPr/>
        </p:nvSpPr>
        <p:spPr>
          <a:xfrm>
            <a:off x="4553712" y="2862072"/>
            <a:ext cx="3108960" cy="640080"/>
          </a:xfrm>
          <a:prstGeom prst="rect">
            <a:avLst/>
          </a:prstGeom>
          <a:noFill/>
          <a:ln/>
        </p:spPr>
        <p:txBody>
          <a:bodyPr wrap="square" lIns="0" tIns="0" rIns="0" bIns="0" rtlCol="0" anchor="t"/>
          <a:lstStyle/>
          <a:p>
            <a:pPr indent="0" marL="0">
              <a:buNone/>
            </a:pPr>
            <a:r>
              <a:rPr lang="en-US" sz="1300" dirty="0">
                <a:solidFill>
                  <a:srgbClr val="6B7585"/>
                </a:solidFill>
              </a:rPr>
              <a:t>Historique des notes, absences, documents et délibérations</a:t>
            </a:r>
            <a:endParaRPr lang="en-US" sz="1300" dirty="0"/>
          </a:p>
        </p:txBody>
      </p:sp>
      <p:sp>
        <p:nvSpPr>
          <p:cNvPr id="13" name="card_95"/>
          <p:cNvSpPr/>
          <p:nvPr/>
        </p:nvSpPr>
        <p:spPr>
          <a:xfrm>
            <a:off x="8010144" y="1325880"/>
            <a:ext cx="3566160" cy="2286000"/>
          </a:xfrm>
          <a:prstGeom prst="roundRect">
            <a:avLst>
              <a:gd name="adj" fmla="val 4800"/>
            </a:avLst>
          </a:prstGeom>
          <a:solidFill>
            <a:schemeClr val="bg1"/>
          </a:solidFill>
          <a:ln/>
          <a:effectLst>
            <a:outerShdw sx="100000" sy="100000" kx="0" ky="0" algn="bl" rotWithShape="0" blurRad="76200" dist="19050" dir="5400000">
              <a:srgbClr val="1B2433">
                <a:alpha val="10000"/>
              </a:srgbClr>
            </a:outerShdw>
          </a:effectLst>
        </p:spPr>
      </p:sp>
      <p:sp>
        <p:nvSpPr>
          <p:cNvPr id="14" name="ic_bg_96"/>
          <p:cNvSpPr/>
          <p:nvPr/>
        </p:nvSpPr>
        <p:spPr>
          <a:xfrm>
            <a:off x="8284464" y="1600200"/>
            <a:ext cx="731520" cy="731520"/>
          </a:xfrm>
          <a:prstGeom prst="ellipse">
            <a:avLst/>
          </a:prstGeom>
          <a:solidFill>
            <a:srgbClr val="03909E"/>
          </a:solidFill>
          <a:ln/>
        </p:spPr>
      </p:sp>
      <p:pic>
        <p:nvPicPr>
          <p:cNvPr id="15" name="ic_97" descr="FaGlobe">    </p:cNvPr>
          <p:cNvPicPr>
            <a:picLocks noChangeAspect="1"/>
          </p:cNvPicPr>
          <p:nvPr/>
        </p:nvPicPr>
        <p:blipFill>
          <a:blip r:embed="rId3"/>
          <a:stretch>
            <a:fillRect/>
          </a:stretch>
        </p:blipFill>
        <p:spPr>
          <a:xfrm>
            <a:off x="8467344" y="1783080"/>
            <a:ext cx="365760" cy="365760"/>
          </a:xfrm>
          <a:prstGeom prst="rect">
            <a:avLst/>
          </a:prstGeom>
        </p:spPr>
      </p:pic>
      <p:sp>
        <p:nvSpPr>
          <p:cNvPr id="16" name="t_98"/>
          <p:cNvSpPr txBox="1"/>
          <p:nvPr/>
        </p:nvSpPr>
        <p:spPr>
          <a:xfrm>
            <a:off x="8284464" y="2468880"/>
            <a:ext cx="3108960" cy="365760"/>
          </a:xfrm>
          <a:prstGeom prst="rect">
            <a:avLst/>
          </a:prstGeom>
          <a:noFill/>
          <a:ln/>
        </p:spPr>
        <p:txBody>
          <a:bodyPr wrap="square" lIns="0" tIns="0" rIns="0" bIns="0" rtlCol="0" anchor="t"/>
          <a:lstStyle/>
          <a:p>
            <a:pPr indent="0" marL="0">
              <a:buNone/>
            </a:pPr>
            <a:r>
              <a:rPr lang="en-US" sz="1700" b="1" dirty="0">
                <a:solidFill>
                  <a:schemeClr val="tx2"/>
                </a:solidFill>
              </a:rPr>
              <a:t>Faciliter l'accès</a:t>
            </a:r>
            <a:endParaRPr lang="en-US" sz="1700" dirty="0"/>
          </a:p>
        </p:txBody>
      </p:sp>
      <p:sp>
        <p:nvSpPr>
          <p:cNvPr id="17" name="t_99"/>
          <p:cNvSpPr txBox="1"/>
          <p:nvPr/>
        </p:nvSpPr>
        <p:spPr>
          <a:xfrm>
            <a:off x="8284464" y="2862072"/>
            <a:ext cx="3108960" cy="640080"/>
          </a:xfrm>
          <a:prstGeom prst="rect">
            <a:avLst/>
          </a:prstGeom>
          <a:noFill/>
          <a:ln/>
        </p:spPr>
        <p:txBody>
          <a:bodyPr wrap="square" lIns="0" tIns="0" rIns="0" bIns="0" rtlCol="0" anchor="t"/>
          <a:lstStyle/>
          <a:p>
            <a:pPr indent="0" marL="0">
              <a:buNone/>
            </a:pPr>
            <a:r>
              <a:rPr lang="en-US" sz="1300" dirty="0">
                <a:solidFill>
                  <a:srgbClr val="6B7585"/>
                </a:solidFill>
              </a:rPr>
              <a:t>Emplois du temps, notes et documents consultables en ligne</a:t>
            </a:r>
            <a:endParaRPr lang="en-US" sz="1300" dirty="0"/>
          </a:p>
        </p:txBody>
      </p:sp>
      <p:sp>
        <p:nvSpPr>
          <p:cNvPr id="18" name="card_100"/>
          <p:cNvSpPr/>
          <p:nvPr/>
        </p:nvSpPr>
        <p:spPr>
          <a:xfrm>
            <a:off x="548640" y="3840480"/>
            <a:ext cx="3566160" cy="2286000"/>
          </a:xfrm>
          <a:prstGeom prst="roundRect">
            <a:avLst>
              <a:gd name="adj" fmla="val 4800"/>
            </a:avLst>
          </a:prstGeom>
          <a:solidFill>
            <a:schemeClr val="bg1"/>
          </a:solidFill>
          <a:ln/>
          <a:effectLst>
            <a:outerShdw sx="100000" sy="100000" kx="0" ky="0" algn="bl" rotWithShape="0" blurRad="76200" dist="19050" dir="5400000">
              <a:srgbClr val="1B2433">
                <a:alpha val="10000"/>
              </a:srgbClr>
            </a:outerShdw>
          </a:effectLst>
        </p:spPr>
      </p:sp>
      <p:sp>
        <p:nvSpPr>
          <p:cNvPr id="19" name="ic_bg_101"/>
          <p:cNvSpPr/>
          <p:nvPr/>
        </p:nvSpPr>
        <p:spPr>
          <a:xfrm>
            <a:off x="822960" y="4114800"/>
            <a:ext cx="731520" cy="731520"/>
          </a:xfrm>
          <a:prstGeom prst="ellipse">
            <a:avLst/>
          </a:prstGeom>
          <a:solidFill>
            <a:srgbClr val="0A2F5C"/>
          </a:solidFill>
          <a:ln/>
        </p:spPr>
      </p:sp>
      <p:pic>
        <p:nvPicPr>
          <p:cNvPr id="20" name="ic_102" descr="FaCalculator">    </p:cNvPr>
          <p:cNvPicPr>
            <a:picLocks noChangeAspect="1"/>
          </p:cNvPicPr>
          <p:nvPr/>
        </p:nvPicPr>
        <p:blipFill>
          <a:blip r:embed="rId4"/>
          <a:stretch>
            <a:fillRect/>
          </a:stretch>
        </p:blipFill>
        <p:spPr>
          <a:xfrm>
            <a:off x="1005840" y="4297680"/>
            <a:ext cx="365760" cy="365760"/>
          </a:xfrm>
          <a:prstGeom prst="rect">
            <a:avLst/>
          </a:prstGeom>
        </p:spPr>
      </p:pic>
      <p:sp>
        <p:nvSpPr>
          <p:cNvPr id="21" name="t_103"/>
          <p:cNvSpPr txBox="1"/>
          <p:nvPr/>
        </p:nvSpPr>
        <p:spPr>
          <a:xfrm>
            <a:off x="822960" y="4983480"/>
            <a:ext cx="3108960" cy="365760"/>
          </a:xfrm>
          <a:prstGeom prst="rect">
            <a:avLst/>
          </a:prstGeom>
          <a:noFill/>
          <a:ln/>
        </p:spPr>
        <p:txBody>
          <a:bodyPr wrap="square" lIns="0" tIns="0" rIns="0" bIns="0" rtlCol="0" anchor="t"/>
          <a:lstStyle/>
          <a:p>
            <a:pPr indent="0" marL="0">
              <a:buNone/>
            </a:pPr>
            <a:r>
              <a:rPr lang="en-US" sz="1700" b="1" dirty="0">
                <a:solidFill>
                  <a:schemeClr val="tx2"/>
                </a:solidFill>
              </a:rPr>
              <a:t>Automatiser les calculs</a:t>
            </a:r>
            <a:endParaRPr lang="en-US" sz="1700" dirty="0"/>
          </a:p>
        </p:txBody>
      </p:sp>
      <p:sp>
        <p:nvSpPr>
          <p:cNvPr id="22" name="t_104"/>
          <p:cNvSpPr txBox="1"/>
          <p:nvPr/>
        </p:nvSpPr>
        <p:spPr>
          <a:xfrm>
            <a:off x="822960" y="5376672"/>
            <a:ext cx="3108960" cy="640080"/>
          </a:xfrm>
          <a:prstGeom prst="rect">
            <a:avLst/>
          </a:prstGeom>
          <a:noFill/>
          <a:ln/>
        </p:spPr>
        <p:txBody>
          <a:bodyPr wrap="square" lIns="0" tIns="0" rIns="0" bIns="0" rtlCol="0" anchor="t"/>
          <a:lstStyle/>
          <a:p>
            <a:pPr indent="0" marL="0">
              <a:buNone/>
            </a:pPr>
            <a:r>
              <a:rPr lang="en-US" sz="1300" dirty="0">
                <a:solidFill>
                  <a:srgbClr val="6B7585"/>
                </a:solidFill>
              </a:rPr>
              <a:t>Moyennes pondérées, délibération et passage de semestre</a:t>
            </a:r>
            <a:endParaRPr lang="en-US" sz="1300" dirty="0"/>
          </a:p>
        </p:txBody>
      </p:sp>
      <p:sp>
        <p:nvSpPr>
          <p:cNvPr id="23" name="card_105"/>
          <p:cNvSpPr/>
          <p:nvPr/>
        </p:nvSpPr>
        <p:spPr>
          <a:xfrm>
            <a:off x="4279392" y="3840480"/>
            <a:ext cx="3566160" cy="2286000"/>
          </a:xfrm>
          <a:prstGeom prst="roundRect">
            <a:avLst>
              <a:gd name="adj" fmla="val 4800"/>
            </a:avLst>
          </a:prstGeom>
          <a:solidFill>
            <a:schemeClr val="bg1"/>
          </a:solidFill>
          <a:ln/>
          <a:effectLst>
            <a:outerShdw sx="100000" sy="100000" kx="0" ky="0" algn="bl" rotWithShape="0" blurRad="76200" dist="19050" dir="5400000">
              <a:srgbClr val="1B2433">
                <a:alpha val="10000"/>
              </a:srgbClr>
            </a:outerShdw>
          </a:effectLst>
        </p:spPr>
      </p:sp>
      <p:sp>
        <p:nvSpPr>
          <p:cNvPr id="24" name="ic_bg_106"/>
          <p:cNvSpPr/>
          <p:nvPr/>
        </p:nvSpPr>
        <p:spPr>
          <a:xfrm>
            <a:off x="4553712" y="4114800"/>
            <a:ext cx="731520" cy="731520"/>
          </a:xfrm>
          <a:prstGeom prst="ellipse">
            <a:avLst/>
          </a:prstGeom>
          <a:solidFill>
            <a:srgbClr val="03909E"/>
          </a:solidFill>
          <a:ln/>
        </p:spPr>
      </p:sp>
      <p:pic>
        <p:nvPicPr>
          <p:cNvPr id="25" name="ic_107" descr="FaPaperPlane">    </p:cNvPr>
          <p:cNvPicPr>
            <a:picLocks noChangeAspect="1"/>
          </p:cNvPicPr>
          <p:nvPr/>
        </p:nvPicPr>
        <p:blipFill>
          <a:blip r:embed="rId5"/>
          <a:stretch>
            <a:fillRect/>
          </a:stretch>
        </p:blipFill>
        <p:spPr>
          <a:xfrm>
            <a:off x="4736592" y="4297680"/>
            <a:ext cx="365760" cy="365760"/>
          </a:xfrm>
          <a:prstGeom prst="rect">
            <a:avLst/>
          </a:prstGeom>
        </p:spPr>
      </p:pic>
      <p:sp>
        <p:nvSpPr>
          <p:cNvPr id="26" name="t_108"/>
          <p:cNvSpPr txBox="1"/>
          <p:nvPr/>
        </p:nvSpPr>
        <p:spPr>
          <a:xfrm>
            <a:off x="4553712" y="4983480"/>
            <a:ext cx="3108960" cy="365760"/>
          </a:xfrm>
          <a:prstGeom prst="rect">
            <a:avLst/>
          </a:prstGeom>
          <a:noFill/>
          <a:ln/>
        </p:spPr>
        <p:txBody>
          <a:bodyPr wrap="square" lIns="0" tIns="0" rIns="0" bIns="0" rtlCol="0" anchor="t"/>
          <a:lstStyle/>
          <a:p>
            <a:pPr indent="0" marL="0">
              <a:buNone/>
            </a:pPr>
            <a:r>
              <a:rPr lang="en-US" sz="1700" b="1" dirty="0">
                <a:solidFill>
                  <a:schemeClr val="tx2"/>
                </a:solidFill>
              </a:rPr>
              <a:t>Améliorer la communication</a:t>
            </a:r>
            <a:endParaRPr lang="en-US" sz="1700" dirty="0"/>
          </a:p>
        </p:txBody>
      </p:sp>
      <p:sp>
        <p:nvSpPr>
          <p:cNvPr id="27" name="t_109"/>
          <p:cNvSpPr txBox="1"/>
          <p:nvPr/>
        </p:nvSpPr>
        <p:spPr>
          <a:xfrm>
            <a:off x="4553712" y="5376672"/>
            <a:ext cx="3108960" cy="640080"/>
          </a:xfrm>
          <a:prstGeom prst="rect">
            <a:avLst/>
          </a:prstGeom>
          <a:noFill/>
          <a:ln/>
        </p:spPr>
        <p:txBody>
          <a:bodyPr wrap="square" lIns="0" tIns="0" rIns="0" bIns="0" rtlCol="0" anchor="t"/>
          <a:lstStyle/>
          <a:p>
            <a:pPr indent="0" marL="0">
              <a:buNone/>
            </a:pPr>
            <a:r>
              <a:rPr lang="en-US" sz="1300" dirty="0">
                <a:solidFill>
                  <a:srgbClr val="6B7585"/>
                </a:solidFill>
              </a:rPr>
              <a:t>Messagerie interne, diffusion ciblée et notifications</a:t>
            </a:r>
            <a:endParaRPr lang="en-US" sz="1300" dirty="0"/>
          </a:p>
        </p:txBody>
      </p:sp>
      <p:sp>
        <p:nvSpPr>
          <p:cNvPr id="28" name="card_110"/>
          <p:cNvSpPr/>
          <p:nvPr/>
        </p:nvSpPr>
        <p:spPr>
          <a:xfrm>
            <a:off x="8010144" y="3840480"/>
            <a:ext cx="3566160" cy="2286000"/>
          </a:xfrm>
          <a:prstGeom prst="roundRect">
            <a:avLst>
              <a:gd name="adj" fmla="val 4800"/>
            </a:avLst>
          </a:prstGeom>
          <a:solidFill>
            <a:schemeClr val="bg1"/>
          </a:solidFill>
          <a:ln/>
          <a:effectLst>
            <a:outerShdw sx="100000" sy="100000" kx="0" ky="0" algn="bl" rotWithShape="0" blurRad="76200" dist="19050" dir="5400000">
              <a:srgbClr val="1B2433">
                <a:alpha val="10000"/>
              </a:srgbClr>
            </a:outerShdw>
          </a:effectLst>
        </p:spPr>
      </p:sp>
      <p:sp>
        <p:nvSpPr>
          <p:cNvPr id="29" name="ic_bg_111"/>
          <p:cNvSpPr/>
          <p:nvPr/>
        </p:nvSpPr>
        <p:spPr>
          <a:xfrm>
            <a:off x="8284464" y="4114800"/>
            <a:ext cx="731520" cy="731520"/>
          </a:xfrm>
          <a:prstGeom prst="ellipse">
            <a:avLst/>
          </a:prstGeom>
          <a:solidFill>
            <a:srgbClr val="0A2F5C"/>
          </a:solidFill>
          <a:ln/>
        </p:spPr>
      </p:sp>
      <p:pic>
        <p:nvPicPr>
          <p:cNvPr id="30" name="ic_112" descr="FaChartLine">    </p:cNvPr>
          <p:cNvPicPr>
            <a:picLocks noChangeAspect="1"/>
          </p:cNvPicPr>
          <p:nvPr/>
        </p:nvPicPr>
        <p:blipFill>
          <a:blip r:embed="rId6"/>
          <a:stretch>
            <a:fillRect/>
          </a:stretch>
        </p:blipFill>
        <p:spPr>
          <a:xfrm>
            <a:off x="8467344" y="4297680"/>
            <a:ext cx="365760" cy="365760"/>
          </a:xfrm>
          <a:prstGeom prst="rect">
            <a:avLst/>
          </a:prstGeom>
        </p:spPr>
      </p:pic>
      <p:sp>
        <p:nvSpPr>
          <p:cNvPr id="31" name="t_113"/>
          <p:cNvSpPr txBox="1"/>
          <p:nvPr/>
        </p:nvSpPr>
        <p:spPr>
          <a:xfrm>
            <a:off x="8284464" y="4983480"/>
            <a:ext cx="3108960" cy="365760"/>
          </a:xfrm>
          <a:prstGeom prst="rect">
            <a:avLst/>
          </a:prstGeom>
          <a:noFill/>
          <a:ln/>
        </p:spPr>
        <p:txBody>
          <a:bodyPr wrap="square" lIns="0" tIns="0" rIns="0" bIns="0" rtlCol="0" anchor="t"/>
          <a:lstStyle/>
          <a:p>
            <a:pPr indent="0" marL="0">
              <a:buNone/>
            </a:pPr>
            <a:r>
              <a:rPr lang="en-US" sz="1700" b="1" dirty="0">
                <a:solidFill>
                  <a:schemeClr val="tx2"/>
                </a:solidFill>
              </a:rPr>
              <a:t>Fournir des indicateurs</a:t>
            </a:r>
            <a:endParaRPr lang="en-US" sz="1700" dirty="0"/>
          </a:p>
        </p:txBody>
      </p:sp>
      <p:sp>
        <p:nvSpPr>
          <p:cNvPr id="32" name="t_114"/>
          <p:cNvSpPr txBox="1"/>
          <p:nvPr/>
        </p:nvSpPr>
        <p:spPr>
          <a:xfrm>
            <a:off x="8284464" y="5376672"/>
            <a:ext cx="3108960" cy="640080"/>
          </a:xfrm>
          <a:prstGeom prst="rect">
            <a:avLst/>
          </a:prstGeom>
          <a:noFill/>
          <a:ln/>
        </p:spPr>
        <p:txBody>
          <a:bodyPr wrap="square" lIns="0" tIns="0" rIns="0" bIns="0" rtlCol="0" anchor="t"/>
          <a:lstStyle/>
          <a:p>
            <a:pPr indent="0" marL="0">
              <a:buNone/>
            </a:pPr>
            <a:r>
              <a:rPr lang="en-US" sz="1300" dirty="0">
                <a:solidFill>
                  <a:srgbClr val="6B7585"/>
                </a:solidFill>
              </a:rPr>
              <a:t>Tableaux de bord et statistiques</a:t>
            </a:r>
            <a:endParaRPr lang="en-US" sz="13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Présentation du projet</a:t>
            </a:r>
            <a:endParaRPr lang="en-US" sz="3000" dirty="0"/>
          </a:p>
        </p:txBody>
      </p:sp>
      <p:sp>
        <p:nvSpPr>
          <p:cNvPr id="3" name="t_115"/>
          <p:cNvSpPr txBox="1"/>
          <p:nvPr/>
        </p:nvSpPr>
        <p:spPr>
          <a:xfrm>
            <a:off x="548640" y="1280160"/>
            <a:ext cx="5669280" cy="914400"/>
          </a:xfrm>
          <a:prstGeom prst="rect">
            <a:avLst/>
          </a:prstGeom>
          <a:noFill/>
          <a:ln/>
        </p:spPr>
        <p:txBody>
          <a:bodyPr wrap="square" lIns="0" tIns="0" rIns="0" bIns="0" rtlCol="0" anchor="t"/>
          <a:lstStyle/>
          <a:p>
            <a:pPr indent="0" marL="0">
              <a:buNone/>
            </a:pPr>
            <a:r>
              <a:rPr lang="en-US" sz="1800" b="1" dirty="0">
                <a:solidFill>
                  <a:schemeClr val="tx2"/>
                </a:solidFill>
              </a:rPr>
              <a:t>Une plateforme unique qui centralise et numérise la gestion administrative et pédagogique de l'INSFP.</a:t>
            </a:r>
            <a:endParaRPr lang="en-US" sz="1800" dirty="0"/>
          </a:p>
        </p:txBody>
      </p:sp>
      <p:sp>
        <p:nvSpPr>
          <p:cNvPr id="4" name="card_116"/>
          <p:cNvSpPr/>
          <p:nvPr/>
        </p:nvSpPr>
        <p:spPr>
          <a:xfrm>
            <a:off x="548640" y="2468880"/>
            <a:ext cx="2743200" cy="1737360"/>
          </a:xfrm>
          <a:prstGeom prst="roundRect">
            <a:avLst>
              <a:gd name="adj" fmla="val 6316"/>
            </a:avLst>
          </a:prstGeom>
          <a:solidFill>
            <a:schemeClr val="bg1"/>
          </a:solidFill>
          <a:ln/>
          <a:effectLst>
            <a:outerShdw sx="100000" sy="100000" kx="0" ky="0" algn="bl" rotWithShape="0" blurRad="76200" dist="19050" dir="5400000">
              <a:srgbClr val="1B2433">
                <a:alpha val="10000"/>
              </a:srgbClr>
            </a:outerShdw>
          </a:effectLst>
        </p:spPr>
      </p:sp>
      <p:sp>
        <p:nvSpPr>
          <p:cNvPr id="5" name="ic_bg_117"/>
          <p:cNvSpPr/>
          <p:nvPr/>
        </p:nvSpPr>
        <p:spPr>
          <a:xfrm>
            <a:off x="1508760" y="2697480"/>
            <a:ext cx="822960" cy="822960"/>
          </a:xfrm>
          <a:prstGeom prst="ellipse">
            <a:avLst/>
          </a:prstGeom>
          <a:solidFill>
            <a:srgbClr val="0A2F5C"/>
          </a:solidFill>
          <a:ln/>
        </p:spPr>
      </p:sp>
      <p:pic>
        <p:nvPicPr>
          <p:cNvPr id="6" name="ic_118" descr="FaUserTie">    </p:cNvPr>
          <p:cNvPicPr>
            <a:picLocks noChangeAspect="1"/>
          </p:cNvPicPr>
          <p:nvPr/>
        </p:nvPicPr>
        <p:blipFill>
          <a:blip r:embed="rId1"/>
          <a:stretch>
            <a:fillRect/>
          </a:stretch>
        </p:blipFill>
        <p:spPr>
          <a:xfrm>
            <a:off x="1714500" y="2903220"/>
            <a:ext cx="411480" cy="411480"/>
          </a:xfrm>
          <a:prstGeom prst="rect">
            <a:avLst/>
          </a:prstGeom>
        </p:spPr>
      </p:pic>
      <p:sp>
        <p:nvSpPr>
          <p:cNvPr id="7" name="t_119"/>
          <p:cNvSpPr txBox="1"/>
          <p:nvPr/>
        </p:nvSpPr>
        <p:spPr>
          <a:xfrm>
            <a:off x="685800" y="3657600"/>
            <a:ext cx="2468880" cy="365760"/>
          </a:xfrm>
          <a:prstGeom prst="rect">
            <a:avLst/>
          </a:prstGeom>
          <a:noFill/>
          <a:ln/>
        </p:spPr>
        <p:txBody>
          <a:bodyPr wrap="square" lIns="0" tIns="0" rIns="0" bIns="0" rtlCol="0" anchor="t"/>
          <a:lstStyle/>
          <a:p>
            <a:pPr algn="ctr" indent="0" marL="0">
              <a:buNone/>
            </a:pPr>
            <a:r>
              <a:rPr lang="en-US" sz="1700" b="1" dirty="0">
                <a:solidFill>
                  <a:schemeClr val="tx2"/>
                </a:solidFill>
              </a:rPr>
              <a:t>Administration</a:t>
            </a:r>
            <a:endParaRPr lang="en-US" sz="1700" dirty="0"/>
          </a:p>
        </p:txBody>
      </p:sp>
      <p:sp>
        <p:nvSpPr>
          <p:cNvPr id="8" name="card_120"/>
          <p:cNvSpPr/>
          <p:nvPr/>
        </p:nvSpPr>
        <p:spPr>
          <a:xfrm>
            <a:off x="3474720" y="2468880"/>
            <a:ext cx="2743200" cy="1737360"/>
          </a:xfrm>
          <a:prstGeom prst="roundRect">
            <a:avLst>
              <a:gd name="adj" fmla="val 6316"/>
            </a:avLst>
          </a:prstGeom>
          <a:solidFill>
            <a:schemeClr val="bg1"/>
          </a:solidFill>
          <a:ln/>
          <a:effectLst>
            <a:outerShdw sx="100000" sy="100000" kx="0" ky="0" algn="bl" rotWithShape="0" blurRad="76200" dist="19050" dir="5400000">
              <a:srgbClr val="1B2433">
                <a:alpha val="10000"/>
              </a:srgbClr>
            </a:outerShdw>
          </a:effectLst>
        </p:spPr>
      </p:sp>
      <p:sp>
        <p:nvSpPr>
          <p:cNvPr id="9" name="ic_bg_121"/>
          <p:cNvSpPr/>
          <p:nvPr/>
        </p:nvSpPr>
        <p:spPr>
          <a:xfrm>
            <a:off x="4434840" y="2697480"/>
            <a:ext cx="822960" cy="822960"/>
          </a:xfrm>
          <a:prstGeom prst="ellipse">
            <a:avLst/>
          </a:prstGeom>
          <a:solidFill>
            <a:srgbClr val="03909E"/>
          </a:solidFill>
          <a:ln/>
        </p:spPr>
      </p:sp>
      <p:pic>
        <p:nvPicPr>
          <p:cNvPr id="10" name="ic_122" descr="FaChalkboardUser">    </p:cNvPr>
          <p:cNvPicPr>
            <a:picLocks noChangeAspect="1"/>
          </p:cNvPicPr>
          <p:nvPr/>
        </p:nvPicPr>
        <p:blipFill>
          <a:blip r:embed="rId2"/>
          <a:stretch>
            <a:fillRect/>
          </a:stretch>
        </p:blipFill>
        <p:spPr>
          <a:xfrm>
            <a:off x="4640580" y="2903220"/>
            <a:ext cx="411480" cy="411480"/>
          </a:xfrm>
          <a:prstGeom prst="rect">
            <a:avLst/>
          </a:prstGeom>
        </p:spPr>
      </p:pic>
      <p:sp>
        <p:nvSpPr>
          <p:cNvPr id="11" name="t_123"/>
          <p:cNvSpPr txBox="1"/>
          <p:nvPr/>
        </p:nvSpPr>
        <p:spPr>
          <a:xfrm>
            <a:off x="3611880" y="3657600"/>
            <a:ext cx="2468880" cy="365760"/>
          </a:xfrm>
          <a:prstGeom prst="rect">
            <a:avLst/>
          </a:prstGeom>
          <a:noFill/>
          <a:ln/>
        </p:spPr>
        <p:txBody>
          <a:bodyPr wrap="square" lIns="0" tIns="0" rIns="0" bIns="0" rtlCol="0" anchor="t"/>
          <a:lstStyle/>
          <a:p>
            <a:pPr algn="ctr" indent="0" marL="0">
              <a:buNone/>
            </a:pPr>
            <a:r>
              <a:rPr lang="en-US" sz="1700" b="1" dirty="0">
                <a:solidFill>
                  <a:schemeClr val="tx2"/>
                </a:solidFill>
              </a:rPr>
              <a:t>Enseignants</a:t>
            </a:r>
            <a:endParaRPr lang="en-US" sz="1700" dirty="0"/>
          </a:p>
        </p:txBody>
      </p:sp>
      <p:sp>
        <p:nvSpPr>
          <p:cNvPr id="12" name="card_124"/>
          <p:cNvSpPr/>
          <p:nvPr/>
        </p:nvSpPr>
        <p:spPr>
          <a:xfrm>
            <a:off x="548640" y="4389120"/>
            <a:ext cx="2743200" cy="1737360"/>
          </a:xfrm>
          <a:prstGeom prst="roundRect">
            <a:avLst>
              <a:gd name="adj" fmla="val 6316"/>
            </a:avLst>
          </a:prstGeom>
          <a:solidFill>
            <a:schemeClr val="bg1"/>
          </a:solidFill>
          <a:ln/>
          <a:effectLst>
            <a:outerShdw sx="100000" sy="100000" kx="0" ky="0" algn="bl" rotWithShape="0" blurRad="76200" dist="19050" dir="5400000">
              <a:srgbClr val="1B2433">
                <a:alpha val="10000"/>
              </a:srgbClr>
            </a:outerShdw>
          </a:effectLst>
        </p:spPr>
      </p:sp>
      <p:sp>
        <p:nvSpPr>
          <p:cNvPr id="13" name="ic_bg_125"/>
          <p:cNvSpPr/>
          <p:nvPr/>
        </p:nvSpPr>
        <p:spPr>
          <a:xfrm>
            <a:off x="1508760" y="4617720"/>
            <a:ext cx="822960" cy="822960"/>
          </a:xfrm>
          <a:prstGeom prst="ellipse">
            <a:avLst/>
          </a:prstGeom>
          <a:solidFill>
            <a:srgbClr val="D7971D"/>
          </a:solidFill>
          <a:ln/>
        </p:spPr>
      </p:sp>
      <p:pic>
        <p:nvPicPr>
          <p:cNvPr id="14" name="ic_126" descr="FaUserGraduate">    </p:cNvPr>
          <p:cNvPicPr>
            <a:picLocks noChangeAspect="1"/>
          </p:cNvPicPr>
          <p:nvPr/>
        </p:nvPicPr>
        <p:blipFill>
          <a:blip r:embed="rId3"/>
          <a:stretch>
            <a:fillRect/>
          </a:stretch>
        </p:blipFill>
        <p:spPr>
          <a:xfrm>
            <a:off x="1714500" y="4823460"/>
            <a:ext cx="411480" cy="411480"/>
          </a:xfrm>
          <a:prstGeom prst="rect">
            <a:avLst/>
          </a:prstGeom>
        </p:spPr>
      </p:pic>
      <p:sp>
        <p:nvSpPr>
          <p:cNvPr id="15" name="t_127"/>
          <p:cNvSpPr txBox="1"/>
          <p:nvPr/>
        </p:nvSpPr>
        <p:spPr>
          <a:xfrm>
            <a:off x="685800" y="5577840"/>
            <a:ext cx="2468880" cy="365760"/>
          </a:xfrm>
          <a:prstGeom prst="rect">
            <a:avLst/>
          </a:prstGeom>
          <a:noFill/>
          <a:ln/>
        </p:spPr>
        <p:txBody>
          <a:bodyPr wrap="square" lIns="0" tIns="0" rIns="0" bIns="0" rtlCol="0" anchor="t"/>
          <a:lstStyle/>
          <a:p>
            <a:pPr algn="ctr" indent="0" marL="0">
              <a:buNone/>
            </a:pPr>
            <a:r>
              <a:rPr lang="en-US" sz="1700" b="1" dirty="0">
                <a:solidFill>
                  <a:schemeClr val="tx2"/>
                </a:solidFill>
              </a:rPr>
              <a:t>Stagiaires</a:t>
            </a:r>
            <a:endParaRPr lang="en-US" sz="1700" dirty="0"/>
          </a:p>
        </p:txBody>
      </p:sp>
      <p:sp>
        <p:nvSpPr>
          <p:cNvPr id="16" name="card_128"/>
          <p:cNvSpPr/>
          <p:nvPr/>
        </p:nvSpPr>
        <p:spPr>
          <a:xfrm>
            <a:off x="3474720" y="4389120"/>
            <a:ext cx="2743200" cy="1737360"/>
          </a:xfrm>
          <a:prstGeom prst="roundRect">
            <a:avLst>
              <a:gd name="adj" fmla="val 6316"/>
            </a:avLst>
          </a:prstGeom>
          <a:solidFill>
            <a:schemeClr val="bg1"/>
          </a:solidFill>
          <a:ln/>
          <a:effectLst>
            <a:outerShdw sx="100000" sy="100000" kx="0" ky="0" algn="bl" rotWithShape="0" blurRad="76200" dist="19050" dir="5400000">
              <a:srgbClr val="1B2433">
                <a:alpha val="10000"/>
              </a:srgbClr>
            </a:outerShdw>
          </a:effectLst>
        </p:spPr>
      </p:sp>
      <p:sp>
        <p:nvSpPr>
          <p:cNvPr id="17" name="ic_bg_129"/>
          <p:cNvSpPr/>
          <p:nvPr/>
        </p:nvSpPr>
        <p:spPr>
          <a:xfrm>
            <a:off x="4434840" y="4617720"/>
            <a:ext cx="822960" cy="822960"/>
          </a:xfrm>
          <a:prstGeom prst="ellipse">
            <a:avLst/>
          </a:prstGeom>
          <a:solidFill>
            <a:srgbClr val="3F4652"/>
          </a:solidFill>
          <a:ln/>
        </p:spPr>
      </p:sp>
      <p:pic>
        <p:nvPicPr>
          <p:cNvPr id="18" name="ic_130" descr="FaUser">    </p:cNvPr>
          <p:cNvPicPr>
            <a:picLocks noChangeAspect="1"/>
          </p:cNvPicPr>
          <p:nvPr/>
        </p:nvPicPr>
        <p:blipFill>
          <a:blip r:embed="rId4"/>
          <a:stretch>
            <a:fillRect/>
          </a:stretch>
        </p:blipFill>
        <p:spPr>
          <a:xfrm>
            <a:off x="4640580" y="4823460"/>
            <a:ext cx="411480" cy="411480"/>
          </a:xfrm>
          <a:prstGeom prst="rect">
            <a:avLst/>
          </a:prstGeom>
        </p:spPr>
      </p:pic>
      <p:sp>
        <p:nvSpPr>
          <p:cNvPr id="19" name="t_131"/>
          <p:cNvSpPr txBox="1"/>
          <p:nvPr/>
        </p:nvSpPr>
        <p:spPr>
          <a:xfrm>
            <a:off x="3611880" y="5577840"/>
            <a:ext cx="2468880" cy="365760"/>
          </a:xfrm>
          <a:prstGeom prst="rect">
            <a:avLst/>
          </a:prstGeom>
          <a:noFill/>
          <a:ln/>
        </p:spPr>
        <p:txBody>
          <a:bodyPr wrap="square" lIns="0" tIns="0" rIns="0" bIns="0" rtlCol="0" anchor="t"/>
          <a:lstStyle/>
          <a:p>
            <a:pPr algn="ctr" indent="0" marL="0">
              <a:buNone/>
            </a:pPr>
            <a:r>
              <a:rPr lang="en-US" sz="1700" b="1" dirty="0">
                <a:solidFill>
                  <a:schemeClr val="tx2"/>
                </a:solidFill>
              </a:rPr>
              <a:t>Visiteurs</a:t>
            </a:r>
            <a:endParaRPr lang="en-US" sz="1700" dirty="0"/>
          </a:p>
        </p:txBody>
      </p:sp>
      <p:sp>
        <p:nvSpPr>
          <p:cNvPr id="20" name="win_132"/>
          <p:cNvSpPr/>
          <p:nvPr/>
        </p:nvSpPr>
        <p:spPr>
          <a:xfrm>
            <a:off x="6492240" y="1371600"/>
            <a:ext cx="5257800" cy="3385795"/>
          </a:xfrm>
          <a:prstGeom prst="roundRect">
            <a:avLst>
              <a:gd name="adj" fmla="val 2161"/>
            </a:avLst>
          </a:prstGeom>
          <a:solidFill>
            <a:srgbClr val="E6EAF0"/>
          </a:solidFill>
          <a:ln w="9525">
            <a:solidFill>
              <a:srgbClr val="D5DCE5"/>
            </a:solidFill>
            <a:prstDash val="solid"/>
          </a:ln>
          <a:effectLst>
            <a:outerShdw sx="100000" sy="100000" kx="0" ky="0" algn="bl" rotWithShape="0" blurRad="127000" dist="38100" dir="5400000">
              <a:srgbClr val="1B2433">
                <a:alpha val="14000"/>
              </a:srgbClr>
            </a:outerShdw>
          </a:effectLst>
        </p:spPr>
      </p:sp>
      <p:sp>
        <p:nvSpPr>
          <p:cNvPr id="21" name="dot_133"/>
          <p:cNvSpPr/>
          <p:nvPr/>
        </p:nvSpPr>
        <p:spPr>
          <a:xfrm>
            <a:off x="6601968" y="1453896"/>
            <a:ext cx="82296" cy="82296"/>
          </a:xfrm>
          <a:prstGeom prst="ellipse">
            <a:avLst/>
          </a:prstGeom>
          <a:solidFill>
            <a:srgbClr val="FF5F57"/>
          </a:solidFill>
          <a:ln/>
        </p:spPr>
      </p:sp>
      <p:sp>
        <p:nvSpPr>
          <p:cNvPr id="22" name="dot_134"/>
          <p:cNvSpPr/>
          <p:nvPr/>
        </p:nvSpPr>
        <p:spPr>
          <a:xfrm>
            <a:off x="6729984" y="1453896"/>
            <a:ext cx="82296" cy="82296"/>
          </a:xfrm>
          <a:prstGeom prst="ellipse">
            <a:avLst/>
          </a:prstGeom>
          <a:solidFill>
            <a:srgbClr val="FEBC2E"/>
          </a:solidFill>
          <a:ln/>
        </p:spPr>
      </p:sp>
      <p:sp>
        <p:nvSpPr>
          <p:cNvPr id="23" name="dot_135"/>
          <p:cNvSpPr/>
          <p:nvPr/>
        </p:nvSpPr>
        <p:spPr>
          <a:xfrm>
            <a:off x="6858000" y="1453896"/>
            <a:ext cx="82296" cy="82296"/>
          </a:xfrm>
          <a:prstGeom prst="ellipse">
            <a:avLst/>
          </a:prstGeom>
          <a:solidFill>
            <a:srgbClr val="28C840"/>
          </a:solidFill>
          <a:ln/>
        </p:spPr>
      </p:sp>
      <p:sp>
        <p:nvSpPr>
          <p:cNvPr id="24" name="url_136"/>
          <p:cNvSpPr/>
          <p:nvPr/>
        </p:nvSpPr>
        <p:spPr>
          <a:xfrm>
            <a:off x="7040880" y="1417320"/>
            <a:ext cx="2208276" cy="155448"/>
          </a:xfrm>
          <a:prstGeom prst="roundRect">
            <a:avLst>
              <a:gd name="adj" fmla="val 35294"/>
            </a:avLst>
          </a:prstGeom>
          <a:solidFill>
            <a:srgbClr val="FFFFFF"/>
          </a:solidFill>
          <a:ln/>
        </p:spPr>
      </p:sp>
      <p:sp>
        <p:nvSpPr>
          <p:cNvPr id="25" name="urltxt_137"/>
          <p:cNvSpPr txBox="1"/>
          <p:nvPr/>
        </p:nvSpPr>
        <p:spPr>
          <a:xfrm>
            <a:off x="7132320" y="1417320"/>
            <a:ext cx="2116836" cy="155448"/>
          </a:xfrm>
          <a:prstGeom prst="rect">
            <a:avLst/>
          </a:prstGeom>
          <a:noFill/>
          <a:ln/>
        </p:spPr>
        <p:txBody>
          <a:bodyPr wrap="square" lIns="0" tIns="0" rIns="0" bIns="0" rtlCol="0" anchor="ctr"/>
          <a:lstStyle/>
          <a:p>
            <a:pPr indent="0" marL="0">
              <a:buNone/>
            </a:pPr>
            <a:r>
              <a:rPr lang="en-US" sz="700" dirty="0">
                <a:solidFill>
                  <a:srgbClr val="7A8494"/>
                </a:solidFill>
              </a:rPr>
              <a:t>insfp.dz/login</a:t>
            </a:r>
            <a:endParaRPr lang="en-US" sz="700" dirty="0"/>
          </a:p>
        </p:txBody>
      </p:sp>
      <p:pic>
        <p:nvPicPr>
          <p:cNvPr id="26" name="shot_138" descr="Page de connexion de la plateforme">    </p:cNvPr>
          <p:cNvPicPr>
            <a:picLocks noChangeAspect="1"/>
          </p:cNvPicPr>
          <p:nvPr/>
        </p:nvPicPr>
        <p:blipFill>
          <a:blip r:embed="rId5"/>
          <a:stretch>
            <a:fillRect/>
          </a:stretch>
        </p:blipFill>
        <p:spPr>
          <a:xfrm>
            <a:off x="6501384" y="1618488"/>
            <a:ext cx="5239512" cy="3129763"/>
          </a:xfrm>
          <a:prstGeom prst="rect">
            <a:avLst/>
          </a:prstGeom>
        </p:spPr>
      </p:pic>
      <p:sp>
        <p:nvSpPr>
          <p:cNvPr id="27" name="cap_139"/>
          <p:cNvSpPr txBox="1"/>
          <p:nvPr/>
        </p:nvSpPr>
        <p:spPr>
          <a:xfrm>
            <a:off x="6492240" y="4812259"/>
            <a:ext cx="5257800" cy="310896"/>
          </a:xfrm>
          <a:prstGeom prst="rect">
            <a:avLst/>
          </a:prstGeom>
          <a:noFill/>
          <a:ln/>
        </p:spPr>
        <p:txBody>
          <a:bodyPr wrap="square" lIns="0" tIns="0" rIns="0" bIns="0" rtlCol="0" anchor="ctr"/>
          <a:lstStyle/>
          <a:p>
            <a:pPr algn="ctr" indent="0" marL="0">
              <a:buNone/>
            </a:pPr>
            <a:r>
              <a:rPr lang="en-US" sz="1100" i="1" dirty="0">
                <a:solidFill>
                  <a:schemeClr val="tx2"/>
                </a:solidFill>
              </a:rPr>
              <a:t>Page de connexion de la plateforme</a:t>
            </a:r>
            <a:endParaRPr lang="en-US" sz="11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ec_img_140" descr="Partie théorique">    </p:cNvPr>
          <p:cNvPicPr>
            <a:picLocks noChangeAspect="1"/>
          </p:cNvPicPr>
          <p:nvPr/>
        </p:nvPicPr>
        <p:blipFill>
          <a:blip r:embed="rId1"/>
          <a:stretch>
            <a:fillRect/>
          </a:stretch>
        </p:blipFill>
        <p:spPr>
          <a:xfrm>
            <a:off x="6796735" y="0"/>
            <a:ext cx="5394960" cy="6858000"/>
          </a:xfrm>
          <a:prstGeom prst="rect">
            <a:avLst/>
          </a:prstGeom>
        </p:spPr>
      </p:pic>
      <p:sp>
        <p:nvSpPr>
          <p:cNvPr id="3" name="deco_141"/>
          <p:cNvSpPr/>
          <p:nvPr/>
        </p:nvSpPr>
        <p:spPr>
          <a:xfrm>
            <a:off x="-1737360" y="-2286000"/>
            <a:ext cx="3474720" cy="3474720"/>
          </a:xfrm>
          <a:prstGeom prst="ellipse">
            <a:avLst/>
          </a:prstGeom>
          <a:solidFill>
            <a:srgbClr val="03909E">
              <a:alpha val="15000"/>
            </a:srgbClr>
          </a:solidFill>
          <a:ln/>
        </p:spPr>
      </p:sp>
      <p:sp>
        <p:nvSpPr>
          <p:cNvPr id="4" name="t_142"/>
          <p:cNvSpPr txBox="1"/>
          <p:nvPr/>
        </p:nvSpPr>
        <p:spPr>
          <a:xfrm>
            <a:off x="731520" y="1417320"/>
            <a:ext cx="2743200" cy="1280160"/>
          </a:xfrm>
          <a:prstGeom prst="rect">
            <a:avLst/>
          </a:prstGeom>
          <a:noFill/>
          <a:ln/>
        </p:spPr>
        <p:txBody>
          <a:bodyPr wrap="square" lIns="0" tIns="0" rIns="0" bIns="0" rtlCol="0" anchor="t"/>
          <a:lstStyle/>
          <a:p>
            <a:pPr indent="0" marL="0">
              <a:buNone/>
            </a:pPr>
            <a:r>
              <a:rPr lang="en-US" sz="8800" b="1" dirty="0">
                <a:solidFill>
                  <a:srgbClr val="D7971D"/>
                </a:solidFill>
                <a:latin typeface="Segoe UI Semibold" pitchFamily="34" charset="0"/>
                <a:ea typeface="Segoe UI Semibold" pitchFamily="34" charset="-122"/>
                <a:cs typeface="Segoe UI Semibold" pitchFamily="34" charset="-120"/>
              </a:rPr>
              <a:t>02</a:t>
            </a:r>
            <a:endParaRPr lang="en-US" sz="8800" dirty="0"/>
          </a:p>
        </p:txBody>
      </p:sp>
      <p:sp>
        <p:nvSpPr>
          <p:cNvPr id="5" name="Text 0"/>
          <p:cNvSpPr/>
          <p:nvPr>
            <p:ph idx="100" type="title" hasCustomPrompt="1"/>
          </p:nvPr>
        </p:nvSpPr>
        <p:spPr>
          <a:xfrm>
            <a:off x="731520" y="2788920"/>
            <a:ext cx="548640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Segoe UI Semibold" pitchFamily="34" charset="0"/>
                <a:ea typeface="Segoe UI Semibold" pitchFamily="34" charset="-122"/>
                <a:cs typeface="Segoe UI Semibold" pitchFamily="34" charset="-120"/>
              </a:rPr>
              <a:t>Partie théorique</a:t>
            </a:r>
            <a:endParaRPr lang="en-US" sz="4000" dirty="0"/>
          </a:p>
        </p:txBody>
      </p:sp>
      <p:sp>
        <p:nvSpPr>
          <p:cNvPr id="6" name="t_143"/>
          <p:cNvSpPr txBox="1"/>
          <p:nvPr/>
        </p:nvSpPr>
        <p:spPr>
          <a:xfrm>
            <a:off x="731520" y="4251960"/>
            <a:ext cx="5486400" cy="1097280"/>
          </a:xfrm>
          <a:prstGeom prst="rect">
            <a:avLst/>
          </a:prstGeom>
          <a:noFill/>
          <a:ln/>
        </p:spPr>
        <p:txBody>
          <a:bodyPr wrap="square" lIns="0" tIns="0" rIns="0" bIns="0" rtlCol="0" anchor="t"/>
          <a:lstStyle/>
          <a:p>
            <a:pPr indent="0" marL="0">
              <a:buNone/>
            </a:pPr>
            <a:r>
              <a:rPr lang="en-US" sz="1600" dirty="0">
                <a:solidFill>
                  <a:srgbClr val="CFE3F0"/>
                </a:solidFill>
              </a:rPr>
              <a:t>Organisme d'accueil, structure d'accueil, étude de cas et étude de faisabilité</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Organisme d'accueil</a:t>
            </a:r>
            <a:endParaRPr lang="en-US" sz="3000" dirty="0"/>
          </a:p>
        </p:txBody>
      </p:sp>
      <p:pic>
        <p:nvPicPr>
          <p:cNvPr id="3" name="org_photo" descr="INSFP Hussein Dey">    </p:cNvPr>
          <p:cNvPicPr>
            <a:picLocks noChangeAspect="1"/>
          </p:cNvPicPr>
          <p:nvPr/>
        </p:nvPicPr>
        <p:blipFill>
          <a:blip r:embed="rId1"/>
          <a:stretch>
            <a:fillRect/>
          </a:stretch>
        </p:blipFill>
        <p:spPr>
          <a:xfrm>
            <a:off x="548640" y="1234440"/>
            <a:ext cx="4206240" cy="2606040"/>
          </a:xfrm>
          <a:prstGeom prst="rect">
            <a:avLst/>
          </a:prstGeom>
          <a:effectLst>
            <a:outerShdw sx="100000" sy="100000" kx="0" ky="0" algn="bl" rotWithShape="0" blurRad="127000" dist="38100" dir="5400000">
              <a:srgbClr val="1B2433">
                <a:alpha val="14000"/>
              </a:srgbClr>
            </a:outerShdw>
          </a:effectLst>
        </p:spPr>
      </p:pic>
      <p:sp>
        <p:nvSpPr>
          <p:cNvPr id="4" name="card_144"/>
          <p:cNvSpPr/>
          <p:nvPr/>
        </p:nvSpPr>
        <p:spPr>
          <a:xfrm>
            <a:off x="4983480" y="1234440"/>
            <a:ext cx="1554480" cy="2606040"/>
          </a:xfrm>
          <a:prstGeom prst="roundRect">
            <a:avLst>
              <a:gd name="adj" fmla="val 7059"/>
            </a:avLst>
          </a:prstGeom>
          <a:solidFill>
            <a:schemeClr val="bg1"/>
          </a:solidFill>
          <a:ln/>
          <a:effectLst>
            <a:outerShdw sx="100000" sy="100000" kx="0" ky="0" algn="bl" rotWithShape="0" blurRad="76200" dist="19050" dir="5400000">
              <a:srgbClr val="1B2433">
                <a:alpha val="10000"/>
              </a:srgbClr>
            </a:outerShdw>
          </a:effectLst>
        </p:spPr>
      </p:sp>
      <p:sp>
        <p:nvSpPr>
          <p:cNvPr id="5" name="t_145"/>
          <p:cNvSpPr txBox="1"/>
          <p:nvPr/>
        </p:nvSpPr>
        <p:spPr>
          <a:xfrm>
            <a:off x="5029200" y="1600200"/>
            <a:ext cx="1463040" cy="822960"/>
          </a:xfrm>
          <a:prstGeom prst="rect">
            <a:avLst/>
          </a:prstGeom>
          <a:noFill/>
          <a:ln/>
        </p:spPr>
        <p:txBody>
          <a:bodyPr wrap="square" lIns="0" tIns="0" rIns="0" bIns="0" rtlCol="0" anchor="t"/>
          <a:lstStyle/>
          <a:p>
            <a:pPr algn="ctr" indent="0" marL="0">
              <a:buNone/>
            </a:pPr>
            <a:r>
              <a:rPr lang="en-US" sz="3200" b="1" dirty="0">
                <a:solidFill>
                  <a:schemeClr val="accent2"/>
                </a:solidFill>
                <a:latin typeface="Segoe UI Semibold" pitchFamily="34" charset="0"/>
                <a:ea typeface="Segoe UI Semibold" pitchFamily="34" charset="-122"/>
                <a:cs typeface="Segoe UI Semibold" pitchFamily="34" charset="-120"/>
              </a:rPr>
              <a:t>1880</a:t>
            </a:r>
            <a:endParaRPr lang="en-US" sz="3200" dirty="0"/>
          </a:p>
        </p:txBody>
      </p:sp>
      <p:sp>
        <p:nvSpPr>
          <p:cNvPr id="6" name="t_146"/>
          <p:cNvSpPr txBox="1"/>
          <p:nvPr/>
        </p:nvSpPr>
        <p:spPr>
          <a:xfrm>
            <a:off x="5029200" y="2560320"/>
            <a:ext cx="1463040" cy="457200"/>
          </a:xfrm>
          <a:prstGeom prst="rect">
            <a:avLst/>
          </a:prstGeom>
          <a:noFill/>
          <a:ln/>
        </p:spPr>
        <p:txBody>
          <a:bodyPr wrap="square" lIns="0" tIns="0" rIns="0" bIns="0" rtlCol="0" anchor="t"/>
          <a:lstStyle/>
          <a:p>
            <a:pPr algn="ctr" indent="0" marL="0">
              <a:buNone/>
            </a:pPr>
            <a:r>
              <a:rPr lang="en-US" sz="1300" dirty="0">
                <a:solidFill>
                  <a:srgbClr val="3F4652"/>
                </a:solidFill>
              </a:rPr>
              <a:t>Création</a:t>
            </a:r>
            <a:endParaRPr lang="en-US" sz="1300" dirty="0"/>
          </a:p>
        </p:txBody>
      </p:sp>
      <p:sp>
        <p:nvSpPr>
          <p:cNvPr id="7" name="card_147"/>
          <p:cNvSpPr/>
          <p:nvPr/>
        </p:nvSpPr>
        <p:spPr>
          <a:xfrm>
            <a:off x="6684264" y="1234440"/>
            <a:ext cx="1554480" cy="2606040"/>
          </a:xfrm>
          <a:prstGeom prst="roundRect">
            <a:avLst>
              <a:gd name="adj" fmla="val 7059"/>
            </a:avLst>
          </a:prstGeom>
          <a:solidFill>
            <a:schemeClr val="bg1"/>
          </a:solidFill>
          <a:ln/>
          <a:effectLst>
            <a:outerShdw sx="100000" sy="100000" kx="0" ky="0" algn="bl" rotWithShape="0" blurRad="76200" dist="19050" dir="5400000">
              <a:srgbClr val="1B2433">
                <a:alpha val="10000"/>
              </a:srgbClr>
            </a:outerShdw>
          </a:effectLst>
        </p:spPr>
      </p:sp>
      <p:sp>
        <p:nvSpPr>
          <p:cNvPr id="8" name="t_148"/>
          <p:cNvSpPr txBox="1"/>
          <p:nvPr/>
        </p:nvSpPr>
        <p:spPr>
          <a:xfrm>
            <a:off x="6729984" y="1600200"/>
            <a:ext cx="1463040" cy="822960"/>
          </a:xfrm>
          <a:prstGeom prst="rect">
            <a:avLst/>
          </a:prstGeom>
          <a:noFill/>
          <a:ln/>
        </p:spPr>
        <p:txBody>
          <a:bodyPr wrap="square" lIns="0" tIns="0" rIns="0" bIns="0" rtlCol="0" anchor="t"/>
          <a:lstStyle/>
          <a:p>
            <a:pPr algn="ctr" indent="0" marL="0">
              <a:buNone/>
            </a:pPr>
            <a:r>
              <a:rPr lang="en-US" sz="3200" b="1" dirty="0">
                <a:solidFill>
                  <a:schemeClr val="accent2"/>
                </a:solidFill>
                <a:latin typeface="Segoe UI Semibold" pitchFamily="34" charset="0"/>
                <a:ea typeface="Segoe UI Semibold" pitchFamily="34" charset="-122"/>
                <a:cs typeface="Segoe UI Semibold" pitchFamily="34" charset="-120"/>
              </a:rPr>
              <a:t>2016</a:t>
            </a:r>
            <a:endParaRPr lang="en-US" sz="3200" dirty="0"/>
          </a:p>
        </p:txBody>
      </p:sp>
      <p:sp>
        <p:nvSpPr>
          <p:cNvPr id="9" name="t_149"/>
          <p:cNvSpPr txBox="1"/>
          <p:nvPr/>
        </p:nvSpPr>
        <p:spPr>
          <a:xfrm>
            <a:off x="6729984" y="2560320"/>
            <a:ext cx="1463040" cy="457200"/>
          </a:xfrm>
          <a:prstGeom prst="rect">
            <a:avLst/>
          </a:prstGeom>
          <a:noFill/>
          <a:ln/>
        </p:spPr>
        <p:txBody>
          <a:bodyPr wrap="square" lIns="0" tIns="0" rIns="0" bIns="0" rtlCol="0" anchor="t"/>
          <a:lstStyle/>
          <a:p>
            <a:pPr algn="ctr" indent="0" marL="0">
              <a:buNone/>
            </a:pPr>
            <a:r>
              <a:rPr lang="en-US" sz="1300" dirty="0">
                <a:solidFill>
                  <a:srgbClr val="3F4652"/>
                </a:solidFill>
              </a:rPr>
              <a:t>Hussein Dey</a:t>
            </a:r>
            <a:endParaRPr lang="en-US" sz="1300" dirty="0"/>
          </a:p>
        </p:txBody>
      </p:sp>
      <p:sp>
        <p:nvSpPr>
          <p:cNvPr id="10" name="card_150"/>
          <p:cNvSpPr/>
          <p:nvPr/>
        </p:nvSpPr>
        <p:spPr>
          <a:xfrm>
            <a:off x="8385048" y="1234440"/>
            <a:ext cx="1554480" cy="2606040"/>
          </a:xfrm>
          <a:prstGeom prst="roundRect">
            <a:avLst>
              <a:gd name="adj" fmla="val 7059"/>
            </a:avLst>
          </a:prstGeom>
          <a:solidFill>
            <a:schemeClr val="bg1"/>
          </a:solidFill>
          <a:ln/>
          <a:effectLst>
            <a:outerShdw sx="100000" sy="100000" kx="0" ky="0" algn="bl" rotWithShape="0" blurRad="76200" dist="19050" dir="5400000">
              <a:srgbClr val="1B2433">
                <a:alpha val="10000"/>
              </a:srgbClr>
            </a:outerShdw>
          </a:effectLst>
        </p:spPr>
      </p:sp>
      <p:sp>
        <p:nvSpPr>
          <p:cNvPr id="11" name="t_151"/>
          <p:cNvSpPr txBox="1"/>
          <p:nvPr/>
        </p:nvSpPr>
        <p:spPr>
          <a:xfrm>
            <a:off x="8430768" y="1600200"/>
            <a:ext cx="1463040" cy="822960"/>
          </a:xfrm>
          <a:prstGeom prst="rect">
            <a:avLst/>
          </a:prstGeom>
          <a:noFill/>
          <a:ln/>
        </p:spPr>
        <p:txBody>
          <a:bodyPr wrap="square" lIns="0" tIns="0" rIns="0" bIns="0" rtlCol="0" anchor="t"/>
          <a:lstStyle/>
          <a:p>
            <a:pPr algn="ctr" indent="0" marL="0">
              <a:buNone/>
            </a:pPr>
            <a:r>
              <a:rPr lang="en-US" sz="3200" b="1" dirty="0">
                <a:solidFill>
                  <a:schemeClr val="accent1"/>
                </a:solidFill>
                <a:latin typeface="Segoe UI Semibold" pitchFamily="34" charset="0"/>
                <a:ea typeface="Segoe UI Semibold" pitchFamily="34" charset="-122"/>
                <a:cs typeface="Segoe UI Semibold" pitchFamily="34" charset="-120"/>
              </a:rPr>
              <a:t>73</a:t>
            </a:r>
            <a:endParaRPr lang="en-US" sz="3200" dirty="0"/>
          </a:p>
        </p:txBody>
      </p:sp>
      <p:sp>
        <p:nvSpPr>
          <p:cNvPr id="12" name="t_152"/>
          <p:cNvSpPr txBox="1"/>
          <p:nvPr/>
        </p:nvSpPr>
        <p:spPr>
          <a:xfrm>
            <a:off x="8430768" y="2560320"/>
            <a:ext cx="1463040" cy="457200"/>
          </a:xfrm>
          <a:prstGeom prst="rect">
            <a:avLst/>
          </a:prstGeom>
          <a:noFill/>
          <a:ln/>
        </p:spPr>
        <p:txBody>
          <a:bodyPr wrap="square" lIns="0" tIns="0" rIns="0" bIns="0" rtlCol="0" anchor="t"/>
          <a:lstStyle/>
          <a:p>
            <a:pPr algn="ctr" indent="0" marL="0">
              <a:buNone/>
            </a:pPr>
            <a:r>
              <a:rPr lang="en-US" sz="1300" dirty="0">
                <a:solidFill>
                  <a:srgbClr val="3F4652"/>
                </a:solidFill>
              </a:rPr>
              <a:t>Formateurs</a:t>
            </a:r>
            <a:endParaRPr lang="en-US" sz="1300" dirty="0"/>
          </a:p>
        </p:txBody>
      </p:sp>
      <p:sp>
        <p:nvSpPr>
          <p:cNvPr id="13" name="card_153"/>
          <p:cNvSpPr/>
          <p:nvPr/>
        </p:nvSpPr>
        <p:spPr>
          <a:xfrm>
            <a:off x="10085832" y="1234440"/>
            <a:ext cx="1554480" cy="2606040"/>
          </a:xfrm>
          <a:prstGeom prst="roundRect">
            <a:avLst>
              <a:gd name="adj" fmla="val 7059"/>
            </a:avLst>
          </a:prstGeom>
          <a:solidFill>
            <a:schemeClr val="bg1"/>
          </a:solidFill>
          <a:ln/>
          <a:effectLst>
            <a:outerShdw sx="100000" sy="100000" kx="0" ky="0" algn="bl" rotWithShape="0" blurRad="76200" dist="19050" dir="5400000">
              <a:srgbClr val="1B2433">
                <a:alpha val="10000"/>
              </a:srgbClr>
            </a:outerShdw>
          </a:effectLst>
        </p:spPr>
      </p:sp>
      <p:sp>
        <p:nvSpPr>
          <p:cNvPr id="14" name="t_154"/>
          <p:cNvSpPr txBox="1"/>
          <p:nvPr/>
        </p:nvSpPr>
        <p:spPr>
          <a:xfrm>
            <a:off x="10131552" y="1600200"/>
            <a:ext cx="1463040" cy="822960"/>
          </a:xfrm>
          <a:prstGeom prst="rect">
            <a:avLst/>
          </a:prstGeom>
          <a:noFill/>
          <a:ln/>
        </p:spPr>
        <p:txBody>
          <a:bodyPr wrap="square" lIns="0" tIns="0" rIns="0" bIns="0" rtlCol="0" anchor="t"/>
          <a:lstStyle/>
          <a:p>
            <a:pPr algn="ctr" indent="0" marL="0">
              <a:buNone/>
            </a:pPr>
            <a:r>
              <a:rPr lang="en-US" sz="3200" b="1" dirty="0">
                <a:solidFill>
                  <a:schemeClr val="accent1"/>
                </a:solidFill>
                <a:latin typeface="Segoe UI Semibold" pitchFamily="34" charset="0"/>
                <a:ea typeface="Segoe UI Semibold" pitchFamily="34" charset="-122"/>
                <a:cs typeface="Segoe UI Semibold" pitchFamily="34" charset="-120"/>
              </a:rPr>
              <a:t>57</a:t>
            </a:r>
            <a:endParaRPr lang="en-US" sz="3200" dirty="0"/>
          </a:p>
        </p:txBody>
      </p:sp>
      <p:sp>
        <p:nvSpPr>
          <p:cNvPr id="15" name="t_155"/>
          <p:cNvSpPr txBox="1"/>
          <p:nvPr/>
        </p:nvSpPr>
        <p:spPr>
          <a:xfrm>
            <a:off x="10131552" y="2560320"/>
            <a:ext cx="1463040" cy="457200"/>
          </a:xfrm>
          <a:prstGeom prst="rect">
            <a:avLst/>
          </a:prstGeom>
          <a:noFill/>
          <a:ln/>
        </p:spPr>
        <p:txBody>
          <a:bodyPr wrap="square" lIns="0" tIns="0" rIns="0" bIns="0" rtlCol="0" anchor="t"/>
          <a:lstStyle/>
          <a:p>
            <a:pPr algn="ctr" indent="0" marL="0">
              <a:buNone/>
            </a:pPr>
            <a:r>
              <a:rPr lang="en-US" sz="1300" dirty="0">
                <a:solidFill>
                  <a:srgbClr val="3F4652"/>
                </a:solidFill>
              </a:rPr>
              <a:t>Agents</a:t>
            </a:r>
            <a:endParaRPr lang="en-US" sz="1300" dirty="0"/>
          </a:p>
        </p:txBody>
      </p:sp>
      <p:sp>
        <p:nvSpPr>
          <p:cNvPr id="16" name="card_156"/>
          <p:cNvSpPr/>
          <p:nvPr/>
        </p:nvSpPr>
        <p:spPr>
          <a:xfrm>
            <a:off x="548640" y="4023360"/>
            <a:ext cx="11109960" cy="2286000"/>
          </a:xfrm>
          <a:prstGeom prst="roundRect">
            <a:avLst>
              <a:gd name="adj" fmla="val 4800"/>
            </a:avLst>
          </a:prstGeom>
          <a:solidFill>
            <a:schemeClr val="bg1"/>
          </a:solidFill>
          <a:ln/>
          <a:effectLst>
            <a:outerShdw sx="100000" sy="100000" kx="0" ky="0" algn="bl" rotWithShape="0" blurRad="127000" dist="38100" dir="5400000">
              <a:srgbClr val="1B2433">
                <a:alpha val="14000"/>
              </a:srgbClr>
            </a:outerShdw>
          </a:effectLst>
        </p:spPr>
      </p:sp>
      <p:pic>
        <p:nvPicPr>
          <p:cNvPr id="17" name="fig_157" descr="Organigramme de l'INSFP Mohamed Tayeb Boucenna">    </p:cNvPr>
          <p:cNvPicPr>
            <a:picLocks noChangeAspect="1"/>
          </p:cNvPicPr>
          <p:nvPr/>
        </p:nvPicPr>
        <p:blipFill>
          <a:blip r:embed="rId2"/>
          <a:stretch>
            <a:fillRect/>
          </a:stretch>
        </p:blipFill>
        <p:spPr>
          <a:xfrm>
            <a:off x="2809721" y="4133088"/>
            <a:ext cx="6587797" cy="1755648"/>
          </a:xfrm>
          <a:prstGeom prst="rect">
            <a:avLst/>
          </a:prstGeom>
        </p:spPr>
      </p:pic>
      <p:sp>
        <p:nvSpPr>
          <p:cNvPr id="18" name="cap_158"/>
          <p:cNvSpPr txBox="1"/>
          <p:nvPr/>
        </p:nvSpPr>
        <p:spPr>
          <a:xfrm>
            <a:off x="658368" y="5943600"/>
            <a:ext cx="10890504" cy="310896"/>
          </a:xfrm>
          <a:prstGeom prst="rect">
            <a:avLst/>
          </a:prstGeom>
          <a:noFill/>
          <a:ln/>
        </p:spPr>
        <p:txBody>
          <a:bodyPr wrap="square" lIns="0" tIns="0" rIns="0" bIns="0" rtlCol="0" anchor="ctr"/>
          <a:lstStyle/>
          <a:p>
            <a:pPr algn="ctr" indent="0" marL="0">
              <a:buNone/>
            </a:pPr>
            <a:r>
              <a:rPr lang="en-US" sz="1100" i="1" dirty="0">
                <a:solidFill>
                  <a:schemeClr val="tx2"/>
                </a:solidFill>
              </a:rPr>
              <a:t>Organigramme de l'INSFP Mohamed Tayeb Boucenna</a:t>
            </a:r>
            <a:endParaRPr lang="en-US" sz="11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Structure d'accueil</a:t>
            </a:r>
            <a:endParaRPr lang="en-US" sz="3000" dirty="0"/>
          </a:p>
        </p:txBody>
      </p:sp>
      <p:sp>
        <p:nvSpPr>
          <p:cNvPr id="3" name="card_159"/>
          <p:cNvSpPr/>
          <p:nvPr/>
        </p:nvSpPr>
        <p:spPr>
          <a:xfrm>
            <a:off x="548640" y="1234440"/>
            <a:ext cx="11109960" cy="2514600"/>
          </a:xfrm>
          <a:prstGeom prst="roundRect">
            <a:avLst>
              <a:gd name="adj" fmla="val 4364"/>
            </a:avLst>
          </a:prstGeom>
          <a:solidFill>
            <a:schemeClr val="bg1"/>
          </a:solidFill>
          <a:ln/>
          <a:effectLst>
            <a:outerShdw sx="100000" sy="100000" kx="0" ky="0" algn="bl" rotWithShape="0" blurRad="127000" dist="38100" dir="5400000">
              <a:srgbClr val="1B2433">
                <a:alpha val="14000"/>
              </a:srgbClr>
            </a:outerShdw>
          </a:effectLst>
        </p:spPr>
      </p:sp>
      <p:pic>
        <p:nvPicPr>
          <p:cNvPr id="4" name="fig_160" descr="Sous-direction de l'apprentissage et de la formation professionnelle continue">    </p:cNvPr>
          <p:cNvPicPr>
            <a:picLocks noChangeAspect="1"/>
          </p:cNvPicPr>
          <p:nvPr/>
        </p:nvPicPr>
        <p:blipFill>
          <a:blip r:embed="rId1"/>
          <a:stretch>
            <a:fillRect/>
          </a:stretch>
        </p:blipFill>
        <p:spPr>
          <a:xfrm>
            <a:off x="3074234" y="1344168"/>
            <a:ext cx="6058773" cy="1984248"/>
          </a:xfrm>
          <a:prstGeom prst="rect">
            <a:avLst/>
          </a:prstGeom>
        </p:spPr>
      </p:pic>
      <p:sp>
        <p:nvSpPr>
          <p:cNvPr id="5" name="cap_161"/>
          <p:cNvSpPr txBox="1"/>
          <p:nvPr/>
        </p:nvSpPr>
        <p:spPr>
          <a:xfrm>
            <a:off x="658368" y="3383280"/>
            <a:ext cx="10890504" cy="310896"/>
          </a:xfrm>
          <a:prstGeom prst="rect">
            <a:avLst/>
          </a:prstGeom>
          <a:noFill/>
          <a:ln/>
        </p:spPr>
        <p:txBody>
          <a:bodyPr wrap="square" lIns="0" tIns="0" rIns="0" bIns="0" rtlCol="0" anchor="ctr"/>
          <a:lstStyle/>
          <a:p>
            <a:pPr algn="ctr" indent="0" marL="0">
              <a:buNone/>
            </a:pPr>
            <a:r>
              <a:rPr lang="en-US" sz="1100" i="1" dirty="0">
                <a:solidFill>
                  <a:schemeClr val="tx2"/>
                </a:solidFill>
              </a:rPr>
              <a:t>Sous-direction de l'apprentissage et de la formation professionnelle continue</a:t>
            </a:r>
            <a:endParaRPr lang="en-US" sz="1100" dirty="0"/>
          </a:p>
        </p:txBody>
      </p:sp>
      <p:sp>
        <p:nvSpPr>
          <p:cNvPr id="6" name="card_162"/>
          <p:cNvSpPr/>
          <p:nvPr/>
        </p:nvSpPr>
        <p:spPr>
          <a:xfrm>
            <a:off x="548640" y="3977640"/>
            <a:ext cx="3566160" cy="1024128"/>
          </a:xfrm>
          <a:prstGeom prst="roundRect">
            <a:avLst>
              <a:gd name="adj" fmla="val 10714"/>
            </a:avLst>
          </a:prstGeom>
          <a:solidFill>
            <a:schemeClr val="bg1"/>
          </a:solidFill>
          <a:ln/>
          <a:effectLst>
            <a:outerShdw sx="100000" sy="100000" kx="0" ky="0" algn="bl" rotWithShape="0" blurRad="76200" dist="19050" dir="5400000">
              <a:srgbClr val="1B2433">
                <a:alpha val="10000"/>
              </a:srgbClr>
            </a:outerShdw>
          </a:effectLst>
        </p:spPr>
      </p:sp>
      <p:sp>
        <p:nvSpPr>
          <p:cNvPr id="7" name="ic_bg_163"/>
          <p:cNvSpPr/>
          <p:nvPr/>
        </p:nvSpPr>
        <p:spPr>
          <a:xfrm>
            <a:off x="731520" y="4197096"/>
            <a:ext cx="585216" cy="585216"/>
          </a:xfrm>
          <a:prstGeom prst="ellipse">
            <a:avLst/>
          </a:prstGeom>
          <a:solidFill>
            <a:srgbClr val="0A2F5C"/>
          </a:solidFill>
          <a:ln/>
        </p:spPr>
      </p:sp>
      <p:pic>
        <p:nvPicPr>
          <p:cNvPr id="8" name="ic_164" descr="FaClock">    </p:cNvPr>
          <p:cNvPicPr>
            <a:picLocks noChangeAspect="1"/>
          </p:cNvPicPr>
          <p:nvPr/>
        </p:nvPicPr>
        <p:blipFill>
          <a:blip r:embed="rId2"/>
          <a:stretch>
            <a:fillRect/>
          </a:stretch>
        </p:blipFill>
        <p:spPr>
          <a:xfrm>
            <a:off x="877824" y="4343400"/>
            <a:ext cx="292608" cy="292608"/>
          </a:xfrm>
          <a:prstGeom prst="rect">
            <a:avLst/>
          </a:prstGeom>
        </p:spPr>
      </p:pic>
      <p:sp>
        <p:nvSpPr>
          <p:cNvPr id="9" name="t_165"/>
          <p:cNvSpPr txBox="1"/>
          <p:nvPr/>
        </p:nvSpPr>
        <p:spPr>
          <a:xfrm>
            <a:off x="1463040" y="3977640"/>
            <a:ext cx="2514600" cy="1024128"/>
          </a:xfrm>
          <a:prstGeom prst="rect">
            <a:avLst/>
          </a:prstGeom>
          <a:noFill/>
          <a:ln/>
        </p:spPr>
        <p:txBody>
          <a:bodyPr wrap="square" lIns="0" tIns="0" rIns="0" bIns="0" rtlCol="0" anchor="ctr"/>
          <a:lstStyle/>
          <a:p>
            <a:pPr indent="0" marL="0">
              <a:buNone/>
            </a:pPr>
            <a:r>
              <a:rPr lang="en-US" sz="1400" b="1" dirty="0">
                <a:solidFill>
                  <a:schemeClr val="tx2"/>
                </a:solidFill>
              </a:rPr>
              <a:t>Formation continue et cours du soir</a:t>
            </a:r>
            <a:endParaRPr lang="en-US" sz="1400" dirty="0"/>
          </a:p>
        </p:txBody>
      </p:sp>
      <p:sp>
        <p:nvSpPr>
          <p:cNvPr id="10" name="card_166"/>
          <p:cNvSpPr/>
          <p:nvPr/>
        </p:nvSpPr>
        <p:spPr>
          <a:xfrm>
            <a:off x="4279392" y="3977640"/>
            <a:ext cx="3566160" cy="1024128"/>
          </a:xfrm>
          <a:prstGeom prst="roundRect">
            <a:avLst>
              <a:gd name="adj" fmla="val 10714"/>
            </a:avLst>
          </a:prstGeom>
          <a:solidFill>
            <a:schemeClr val="bg1"/>
          </a:solidFill>
          <a:ln/>
          <a:effectLst>
            <a:outerShdw sx="100000" sy="100000" kx="0" ky="0" algn="bl" rotWithShape="0" blurRad="76200" dist="19050" dir="5400000">
              <a:srgbClr val="1B2433">
                <a:alpha val="10000"/>
              </a:srgbClr>
            </a:outerShdw>
          </a:effectLst>
        </p:spPr>
      </p:sp>
      <p:sp>
        <p:nvSpPr>
          <p:cNvPr id="11" name="ic_bg_167"/>
          <p:cNvSpPr/>
          <p:nvPr/>
        </p:nvSpPr>
        <p:spPr>
          <a:xfrm>
            <a:off x="4462272" y="4197096"/>
            <a:ext cx="585216" cy="585216"/>
          </a:xfrm>
          <a:prstGeom prst="ellipse">
            <a:avLst/>
          </a:prstGeom>
          <a:solidFill>
            <a:srgbClr val="03909E"/>
          </a:solidFill>
          <a:ln/>
        </p:spPr>
      </p:sp>
      <p:pic>
        <p:nvPicPr>
          <p:cNvPr id="12" name="ic_168" descr="FaGraduationCap">    </p:cNvPr>
          <p:cNvPicPr>
            <a:picLocks noChangeAspect="1"/>
          </p:cNvPicPr>
          <p:nvPr/>
        </p:nvPicPr>
        <p:blipFill>
          <a:blip r:embed="rId3"/>
          <a:stretch>
            <a:fillRect/>
          </a:stretch>
        </p:blipFill>
        <p:spPr>
          <a:xfrm>
            <a:off x="4608576" y="4343400"/>
            <a:ext cx="292608" cy="292608"/>
          </a:xfrm>
          <a:prstGeom prst="rect">
            <a:avLst/>
          </a:prstGeom>
        </p:spPr>
      </p:pic>
      <p:sp>
        <p:nvSpPr>
          <p:cNvPr id="13" name="t_169"/>
          <p:cNvSpPr txBox="1"/>
          <p:nvPr/>
        </p:nvSpPr>
        <p:spPr>
          <a:xfrm>
            <a:off x="5193792" y="3977640"/>
            <a:ext cx="2514600" cy="1024128"/>
          </a:xfrm>
          <a:prstGeom prst="rect">
            <a:avLst/>
          </a:prstGeom>
          <a:noFill/>
          <a:ln/>
        </p:spPr>
        <p:txBody>
          <a:bodyPr wrap="square" lIns="0" tIns="0" rIns="0" bIns="0" rtlCol="0" anchor="ctr"/>
          <a:lstStyle/>
          <a:p>
            <a:pPr indent="0" marL="0">
              <a:buNone/>
            </a:pPr>
            <a:r>
              <a:rPr lang="en-US" sz="1400" b="1" dirty="0">
                <a:solidFill>
                  <a:schemeClr val="tx2"/>
                </a:solidFill>
              </a:rPr>
              <a:t>Formation par apprentissage</a:t>
            </a:r>
            <a:endParaRPr lang="en-US" sz="1400" dirty="0"/>
          </a:p>
        </p:txBody>
      </p:sp>
      <p:sp>
        <p:nvSpPr>
          <p:cNvPr id="14" name="card_170"/>
          <p:cNvSpPr/>
          <p:nvPr/>
        </p:nvSpPr>
        <p:spPr>
          <a:xfrm>
            <a:off x="8010144" y="3977640"/>
            <a:ext cx="3566160" cy="1024128"/>
          </a:xfrm>
          <a:prstGeom prst="roundRect">
            <a:avLst>
              <a:gd name="adj" fmla="val 10714"/>
            </a:avLst>
          </a:prstGeom>
          <a:solidFill>
            <a:schemeClr val="bg1"/>
          </a:solidFill>
          <a:ln/>
          <a:effectLst>
            <a:outerShdw sx="100000" sy="100000" kx="0" ky="0" algn="bl" rotWithShape="0" blurRad="76200" dist="19050" dir="5400000">
              <a:srgbClr val="1B2433">
                <a:alpha val="10000"/>
              </a:srgbClr>
            </a:outerShdw>
          </a:effectLst>
        </p:spPr>
      </p:sp>
      <p:sp>
        <p:nvSpPr>
          <p:cNvPr id="15" name="ic_bg_171"/>
          <p:cNvSpPr/>
          <p:nvPr/>
        </p:nvSpPr>
        <p:spPr>
          <a:xfrm>
            <a:off x="8193024" y="4197096"/>
            <a:ext cx="585216" cy="585216"/>
          </a:xfrm>
          <a:prstGeom prst="ellipse">
            <a:avLst/>
          </a:prstGeom>
          <a:solidFill>
            <a:srgbClr val="0A2F5C"/>
          </a:solidFill>
          <a:ln/>
        </p:spPr>
      </p:sp>
      <p:pic>
        <p:nvPicPr>
          <p:cNvPr id="16" name="ic_172" descr="FaFileLines">    </p:cNvPr>
          <p:cNvPicPr>
            <a:picLocks noChangeAspect="1"/>
          </p:cNvPicPr>
          <p:nvPr/>
        </p:nvPicPr>
        <p:blipFill>
          <a:blip r:embed="rId4"/>
          <a:stretch>
            <a:fillRect/>
          </a:stretch>
        </p:blipFill>
        <p:spPr>
          <a:xfrm>
            <a:off x="8339328" y="4343400"/>
            <a:ext cx="292608" cy="292608"/>
          </a:xfrm>
          <a:prstGeom prst="rect">
            <a:avLst/>
          </a:prstGeom>
        </p:spPr>
      </p:pic>
      <p:sp>
        <p:nvSpPr>
          <p:cNvPr id="17" name="t_173"/>
          <p:cNvSpPr txBox="1"/>
          <p:nvPr/>
        </p:nvSpPr>
        <p:spPr>
          <a:xfrm>
            <a:off x="8924544" y="3977640"/>
            <a:ext cx="2514600" cy="1024128"/>
          </a:xfrm>
          <a:prstGeom prst="rect">
            <a:avLst/>
          </a:prstGeom>
          <a:noFill/>
          <a:ln/>
        </p:spPr>
        <p:txBody>
          <a:bodyPr wrap="square" lIns="0" tIns="0" rIns="0" bIns="0" rtlCol="0" anchor="ctr"/>
          <a:lstStyle/>
          <a:p>
            <a:pPr indent="0" marL="0">
              <a:buNone/>
            </a:pPr>
            <a:r>
              <a:rPr lang="en-US" sz="1400" b="1" dirty="0">
                <a:solidFill>
                  <a:schemeClr val="tx2"/>
                </a:solidFill>
              </a:rPr>
              <a:t>Contrats d'apprentissage et groupes</a:t>
            </a:r>
            <a:endParaRPr lang="en-US" sz="1400" dirty="0"/>
          </a:p>
        </p:txBody>
      </p:sp>
      <p:sp>
        <p:nvSpPr>
          <p:cNvPr id="18" name="card_174"/>
          <p:cNvSpPr/>
          <p:nvPr/>
        </p:nvSpPr>
        <p:spPr>
          <a:xfrm>
            <a:off x="548640" y="5166360"/>
            <a:ext cx="3566160" cy="1024128"/>
          </a:xfrm>
          <a:prstGeom prst="roundRect">
            <a:avLst>
              <a:gd name="adj" fmla="val 10714"/>
            </a:avLst>
          </a:prstGeom>
          <a:solidFill>
            <a:schemeClr val="bg1"/>
          </a:solidFill>
          <a:ln/>
          <a:effectLst>
            <a:outerShdw sx="100000" sy="100000" kx="0" ky="0" algn="bl" rotWithShape="0" blurRad="76200" dist="19050" dir="5400000">
              <a:srgbClr val="1B2433">
                <a:alpha val="10000"/>
              </a:srgbClr>
            </a:outerShdw>
          </a:effectLst>
        </p:spPr>
      </p:sp>
      <p:sp>
        <p:nvSpPr>
          <p:cNvPr id="19" name="ic_bg_175"/>
          <p:cNvSpPr/>
          <p:nvPr/>
        </p:nvSpPr>
        <p:spPr>
          <a:xfrm>
            <a:off x="731520" y="5385816"/>
            <a:ext cx="585216" cy="585216"/>
          </a:xfrm>
          <a:prstGeom prst="ellipse">
            <a:avLst/>
          </a:prstGeom>
          <a:solidFill>
            <a:srgbClr val="03909E"/>
          </a:solidFill>
          <a:ln/>
        </p:spPr>
      </p:sp>
      <p:pic>
        <p:nvPicPr>
          <p:cNvPr id="20" name="ic_176" descr="FaCalendarDays">    </p:cNvPr>
          <p:cNvPicPr>
            <a:picLocks noChangeAspect="1"/>
          </p:cNvPicPr>
          <p:nvPr/>
        </p:nvPicPr>
        <p:blipFill>
          <a:blip r:embed="rId5"/>
          <a:stretch>
            <a:fillRect/>
          </a:stretch>
        </p:blipFill>
        <p:spPr>
          <a:xfrm>
            <a:off x="877824" y="5532120"/>
            <a:ext cx="292608" cy="292608"/>
          </a:xfrm>
          <a:prstGeom prst="rect">
            <a:avLst/>
          </a:prstGeom>
        </p:spPr>
      </p:pic>
      <p:sp>
        <p:nvSpPr>
          <p:cNvPr id="21" name="t_177"/>
          <p:cNvSpPr txBox="1"/>
          <p:nvPr/>
        </p:nvSpPr>
        <p:spPr>
          <a:xfrm>
            <a:off x="1463040" y="5166360"/>
            <a:ext cx="2514600" cy="1024128"/>
          </a:xfrm>
          <a:prstGeom prst="rect">
            <a:avLst/>
          </a:prstGeom>
          <a:noFill/>
          <a:ln/>
        </p:spPr>
        <p:txBody>
          <a:bodyPr wrap="square" lIns="0" tIns="0" rIns="0" bIns="0" rtlCol="0" anchor="ctr"/>
          <a:lstStyle/>
          <a:p>
            <a:pPr indent="0" marL="0">
              <a:buNone/>
            </a:pPr>
            <a:r>
              <a:rPr lang="en-US" sz="1400" b="1" dirty="0">
                <a:solidFill>
                  <a:schemeClr val="tx2"/>
                </a:solidFill>
              </a:rPr>
              <a:t>Emplois du temps des formateurs</a:t>
            </a:r>
            <a:endParaRPr lang="en-US" sz="1400" dirty="0"/>
          </a:p>
        </p:txBody>
      </p:sp>
      <p:sp>
        <p:nvSpPr>
          <p:cNvPr id="22" name="card_178"/>
          <p:cNvSpPr/>
          <p:nvPr/>
        </p:nvSpPr>
        <p:spPr>
          <a:xfrm>
            <a:off x="4279392" y="5166360"/>
            <a:ext cx="3566160" cy="1024128"/>
          </a:xfrm>
          <a:prstGeom prst="roundRect">
            <a:avLst>
              <a:gd name="adj" fmla="val 10714"/>
            </a:avLst>
          </a:prstGeom>
          <a:solidFill>
            <a:schemeClr val="bg1"/>
          </a:solidFill>
          <a:ln/>
          <a:effectLst>
            <a:outerShdw sx="100000" sy="100000" kx="0" ky="0" algn="bl" rotWithShape="0" blurRad="76200" dist="19050" dir="5400000">
              <a:srgbClr val="1B2433">
                <a:alpha val="10000"/>
              </a:srgbClr>
            </a:outerShdw>
          </a:effectLst>
        </p:spPr>
      </p:sp>
      <p:sp>
        <p:nvSpPr>
          <p:cNvPr id="23" name="ic_bg_179"/>
          <p:cNvSpPr/>
          <p:nvPr/>
        </p:nvSpPr>
        <p:spPr>
          <a:xfrm>
            <a:off x="4462272" y="5385816"/>
            <a:ext cx="585216" cy="585216"/>
          </a:xfrm>
          <a:prstGeom prst="ellipse">
            <a:avLst/>
          </a:prstGeom>
          <a:solidFill>
            <a:srgbClr val="0A2F5C"/>
          </a:solidFill>
          <a:ln/>
        </p:spPr>
      </p:sp>
      <p:pic>
        <p:nvPicPr>
          <p:cNvPr id="24" name="ic_180" descr="FaClipboardCheck">    </p:cNvPr>
          <p:cNvPicPr>
            <a:picLocks noChangeAspect="1"/>
          </p:cNvPicPr>
          <p:nvPr/>
        </p:nvPicPr>
        <p:blipFill>
          <a:blip r:embed="rId6"/>
          <a:stretch>
            <a:fillRect/>
          </a:stretch>
        </p:blipFill>
        <p:spPr>
          <a:xfrm>
            <a:off x="4608576" y="5532120"/>
            <a:ext cx="292608" cy="292608"/>
          </a:xfrm>
          <a:prstGeom prst="rect">
            <a:avLst/>
          </a:prstGeom>
        </p:spPr>
      </p:pic>
      <p:sp>
        <p:nvSpPr>
          <p:cNvPr id="25" name="t_181"/>
          <p:cNvSpPr txBox="1"/>
          <p:nvPr/>
        </p:nvSpPr>
        <p:spPr>
          <a:xfrm>
            <a:off x="5193792" y="5166360"/>
            <a:ext cx="2514600" cy="1024128"/>
          </a:xfrm>
          <a:prstGeom prst="rect">
            <a:avLst/>
          </a:prstGeom>
          <a:noFill/>
          <a:ln/>
        </p:spPr>
        <p:txBody>
          <a:bodyPr wrap="square" lIns="0" tIns="0" rIns="0" bIns="0" rtlCol="0" anchor="ctr"/>
          <a:lstStyle/>
          <a:p>
            <a:pPr indent="0" marL="0">
              <a:buNone/>
            </a:pPr>
            <a:r>
              <a:rPr lang="en-US" sz="1400" b="1" dirty="0">
                <a:solidFill>
                  <a:schemeClr val="tx2"/>
                </a:solidFill>
              </a:rPr>
              <a:t>Examens semestriels et finaux</a:t>
            </a:r>
            <a:endParaRPr lang="en-US" sz="1400" dirty="0"/>
          </a:p>
        </p:txBody>
      </p:sp>
      <p:sp>
        <p:nvSpPr>
          <p:cNvPr id="26" name="card_182"/>
          <p:cNvSpPr/>
          <p:nvPr/>
        </p:nvSpPr>
        <p:spPr>
          <a:xfrm>
            <a:off x="8010144" y="5166360"/>
            <a:ext cx="3566160" cy="1024128"/>
          </a:xfrm>
          <a:prstGeom prst="roundRect">
            <a:avLst>
              <a:gd name="adj" fmla="val 10714"/>
            </a:avLst>
          </a:prstGeom>
          <a:solidFill>
            <a:schemeClr val="bg1"/>
          </a:solidFill>
          <a:ln/>
          <a:effectLst>
            <a:outerShdw sx="100000" sy="100000" kx="0" ky="0" algn="bl" rotWithShape="0" blurRad="76200" dist="19050" dir="5400000">
              <a:srgbClr val="1B2433">
                <a:alpha val="10000"/>
              </a:srgbClr>
            </a:outerShdw>
          </a:effectLst>
        </p:spPr>
      </p:sp>
      <p:sp>
        <p:nvSpPr>
          <p:cNvPr id="27" name="ic_bg_183"/>
          <p:cNvSpPr/>
          <p:nvPr/>
        </p:nvSpPr>
        <p:spPr>
          <a:xfrm>
            <a:off x="8193024" y="5385816"/>
            <a:ext cx="585216" cy="585216"/>
          </a:xfrm>
          <a:prstGeom prst="ellipse">
            <a:avLst/>
          </a:prstGeom>
          <a:solidFill>
            <a:srgbClr val="03909E"/>
          </a:solidFill>
          <a:ln/>
        </p:spPr>
      </p:sp>
      <p:pic>
        <p:nvPicPr>
          <p:cNvPr id="28" name="ic_184" descr="FaHandshake">    </p:cNvPr>
          <p:cNvPicPr>
            <a:picLocks noChangeAspect="1"/>
          </p:cNvPicPr>
          <p:nvPr/>
        </p:nvPicPr>
        <p:blipFill>
          <a:blip r:embed="rId7"/>
          <a:stretch>
            <a:fillRect/>
          </a:stretch>
        </p:blipFill>
        <p:spPr>
          <a:xfrm>
            <a:off x="8339328" y="5532120"/>
            <a:ext cx="292608" cy="292608"/>
          </a:xfrm>
          <a:prstGeom prst="rect">
            <a:avLst/>
          </a:prstGeom>
        </p:spPr>
      </p:pic>
      <p:sp>
        <p:nvSpPr>
          <p:cNvPr id="29" name="t_185"/>
          <p:cNvSpPr txBox="1"/>
          <p:nvPr/>
        </p:nvSpPr>
        <p:spPr>
          <a:xfrm>
            <a:off x="8924544" y="5166360"/>
            <a:ext cx="2514600" cy="1024128"/>
          </a:xfrm>
          <a:prstGeom prst="rect">
            <a:avLst/>
          </a:prstGeom>
          <a:noFill/>
          <a:ln/>
        </p:spPr>
        <p:txBody>
          <a:bodyPr wrap="square" lIns="0" tIns="0" rIns="0" bIns="0" rtlCol="0" anchor="ctr"/>
          <a:lstStyle/>
          <a:p>
            <a:pPr indent="0" marL="0">
              <a:buNone/>
            </a:pPr>
            <a:r>
              <a:rPr lang="en-US" sz="1400" b="1" dirty="0">
                <a:solidFill>
                  <a:schemeClr val="tx2"/>
                </a:solidFill>
              </a:rPr>
              <a:t>Partenariats avec les entreprises</a:t>
            </a:r>
            <a:endParaRPr lang="en-US" sz="14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Étude de cas : critiques et suggestions</a:t>
            </a:r>
            <a:endParaRPr lang="en-US" sz="3000" dirty="0"/>
          </a:p>
        </p:txBody>
      </p:sp>
      <p:sp>
        <p:nvSpPr>
          <p:cNvPr id="3" name="ic_bg_186"/>
          <p:cNvSpPr/>
          <p:nvPr/>
        </p:nvSpPr>
        <p:spPr>
          <a:xfrm>
            <a:off x="548640" y="1188720"/>
            <a:ext cx="420624" cy="420624"/>
          </a:xfrm>
          <a:prstGeom prst="ellipse">
            <a:avLst/>
          </a:prstGeom>
          <a:solidFill>
            <a:srgbClr val="C62828"/>
          </a:solidFill>
          <a:ln/>
        </p:spPr>
      </p:sp>
      <p:pic>
        <p:nvPicPr>
          <p:cNvPr id="4" name="ic_187" descr="FaXmark">    </p:cNvPr>
          <p:cNvPicPr>
            <a:picLocks noChangeAspect="1"/>
          </p:cNvPicPr>
          <p:nvPr/>
        </p:nvPicPr>
        <p:blipFill>
          <a:blip r:embed="rId1"/>
          <a:stretch>
            <a:fillRect/>
          </a:stretch>
        </p:blipFill>
        <p:spPr>
          <a:xfrm>
            <a:off x="653796" y="1293876"/>
            <a:ext cx="210312" cy="210312"/>
          </a:xfrm>
          <a:prstGeom prst="rect">
            <a:avLst/>
          </a:prstGeom>
        </p:spPr>
      </p:pic>
      <p:sp>
        <p:nvSpPr>
          <p:cNvPr id="5" name="t_188"/>
          <p:cNvSpPr txBox="1"/>
          <p:nvPr/>
        </p:nvSpPr>
        <p:spPr>
          <a:xfrm>
            <a:off x="1078992" y="1188720"/>
            <a:ext cx="3657600" cy="420624"/>
          </a:xfrm>
          <a:prstGeom prst="rect">
            <a:avLst/>
          </a:prstGeom>
          <a:noFill/>
          <a:ln/>
        </p:spPr>
        <p:txBody>
          <a:bodyPr wrap="square" lIns="0" tIns="0" rIns="0" bIns="0" rtlCol="0" anchor="ctr"/>
          <a:lstStyle/>
          <a:p>
            <a:pPr indent="0" marL="0">
              <a:buNone/>
            </a:pPr>
            <a:r>
              <a:rPr lang="en-US" sz="1700" b="1" dirty="0">
                <a:solidFill>
                  <a:srgbClr val="C62828"/>
                </a:solidFill>
              </a:rPr>
              <a:t>Critiques</a:t>
            </a:r>
            <a:endParaRPr lang="en-US" sz="1700" dirty="0"/>
          </a:p>
        </p:txBody>
      </p:sp>
      <p:sp>
        <p:nvSpPr>
          <p:cNvPr id="6" name="ic_bg_189"/>
          <p:cNvSpPr/>
          <p:nvPr/>
        </p:nvSpPr>
        <p:spPr>
          <a:xfrm>
            <a:off x="6583680" y="1188720"/>
            <a:ext cx="420624" cy="420624"/>
          </a:xfrm>
          <a:prstGeom prst="ellipse">
            <a:avLst/>
          </a:prstGeom>
          <a:solidFill>
            <a:srgbClr val="1E8E5A"/>
          </a:solidFill>
          <a:ln/>
        </p:spPr>
      </p:sp>
      <p:pic>
        <p:nvPicPr>
          <p:cNvPr id="7" name="ic_190" descr="FaCheck">    </p:cNvPr>
          <p:cNvPicPr>
            <a:picLocks noChangeAspect="1"/>
          </p:cNvPicPr>
          <p:nvPr/>
        </p:nvPicPr>
        <p:blipFill>
          <a:blip r:embed="rId2"/>
          <a:stretch>
            <a:fillRect/>
          </a:stretch>
        </p:blipFill>
        <p:spPr>
          <a:xfrm>
            <a:off x="6688836" y="1293876"/>
            <a:ext cx="210312" cy="210312"/>
          </a:xfrm>
          <a:prstGeom prst="rect">
            <a:avLst/>
          </a:prstGeom>
        </p:spPr>
      </p:pic>
      <p:sp>
        <p:nvSpPr>
          <p:cNvPr id="8" name="t_191"/>
          <p:cNvSpPr txBox="1"/>
          <p:nvPr/>
        </p:nvSpPr>
        <p:spPr>
          <a:xfrm>
            <a:off x="7114032" y="1188720"/>
            <a:ext cx="3657600" cy="420624"/>
          </a:xfrm>
          <a:prstGeom prst="rect">
            <a:avLst/>
          </a:prstGeom>
          <a:noFill/>
          <a:ln/>
        </p:spPr>
        <p:txBody>
          <a:bodyPr wrap="square" lIns="0" tIns="0" rIns="0" bIns="0" rtlCol="0" anchor="ctr"/>
          <a:lstStyle/>
          <a:p>
            <a:pPr indent="0" marL="0">
              <a:buNone/>
            </a:pPr>
            <a:r>
              <a:rPr lang="en-US" sz="1700" b="1" dirty="0">
                <a:solidFill>
                  <a:srgbClr val="1E8E5A"/>
                </a:solidFill>
              </a:rPr>
              <a:t>Suggestions</a:t>
            </a:r>
            <a:endParaRPr lang="en-US" sz="1700" dirty="0"/>
          </a:p>
        </p:txBody>
      </p:sp>
      <p:sp>
        <p:nvSpPr>
          <p:cNvPr id="9" name="crit_192"/>
          <p:cNvSpPr/>
          <p:nvPr/>
        </p:nvSpPr>
        <p:spPr>
          <a:xfrm>
            <a:off x="548640" y="1783080"/>
            <a:ext cx="5074920" cy="548640"/>
          </a:xfrm>
          <a:prstGeom prst="roundRect">
            <a:avLst>
              <a:gd name="adj" fmla="val 13333"/>
            </a:avLst>
          </a:prstGeom>
          <a:solidFill>
            <a:srgbClr val="FCEDED"/>
          </a:solidFill>
          <a:ln/>
        </p:spPr>
      </p:sp>
      <p:sp>
        <p:nvSpPr>
          <p:cNvPr id="10" name="t_193"/>
          <p:cNvSpPr txBox="1"/>
          <p:nvPr/>
        </p:nvSpPr>
        <p:spPr>
          <a:xfrm>
            <a:off x="731520" y="1783080"/>
            <a:ext cx="4754880" cy="548640"/>
          </a:xfrm>
          <a:prstGeom prst="rect">
            <a:avLst/>
          </a:prstGeom>
          <a:noFill/>
          <a:ln/>
        </p:spPr>
        <p:txBody>
          <a:bodyPr wrap="square" lIns="0" tIns="0" rIns="0" bIns="0" rtlCol="0" anchor="ctr"/>
          <a:lstStyle/>
          <a:p>
            <a:pPr indent="0" marL="0">
              <a:buNone/>
            </a:pPr>
            <a:r>
              <a:rPr lang="en-US" sz="1300" dirty="0">
                <a:solidFill>
                  <a:srgbClr val="1B2433"/>
                </a:solidFill>
              </a:rPr>
              <a:t>Saisie répétée des mêmes informations sur papier</a:t>
            </a:r>
            <a:endParaRPr lang="en-US" sz="1300" dirty="0"/>
          </a:p>
        </p:txBody>
      </p:sp>
      <p:pic>
        <p:nvPicPr>
          <p:cNvPr id="11" name="arr_194" descr="devient">    </p:cNvPr>
          <p:cNvPicPr>
            <a:picLocks noChangeAspect="1"/>
          </p:cNvPicPr>
          <p:nvPr/>
        </p:nvPicPr>
        <p:blipFill>
          <a:blip r:embed="rId3"/>
          <a:stretch>
            <a:fillRect/>
          </a:stretch>
        </p:blipFill>
        <p:spPr>
          <a:xfrm>
            <a:off x="5925312" y="1911096"/>
            <a:ext cx="292608" cy="292608"/>
          </a:xfrm>
          <a:prstGeom prst="rect">
            <a:avLst/>
          </a:prstGeom>
        </p:spPr>
      </p:pic>
      <p:sp>
        <p:nvSpPr>
          <p:cNvPr id="12" name="sugg_195"/>
          <p:cNvSpPr/>
          <p:nvPr/>
        </p:nvSpPr>
        <p:spPr>
          <a:xfrm>
            <a:off x="6583680" y="1783080"/>
            <a:ext cx="5074920" cy="548640"/>
          </a:xfrm>
          <a:prstGeom prst="roundRect">
            <a:avLst>
              <a:gd name="adj" fmla="val 13333"/>
            </a:avLst>
          </a:prstGeom>
          <a:solidFill>
            <a:srgbClr val="E8F5EE"/>
          </a:solidFill>
          <a:ln/>
        </p:spPr>
      </p:sp>
      <p:sp>
        <p:nvSpPr>
          <p:cNvPr id="13" name="t_196"/>
          <p:cNvSpPr txBox="1"/>
          <p:nvPr/>
        </p:nvSpPr>
        <p:spPr>
          <a:xfrm>
            <a:off x="6766560" y="1783080"/>
            <a:ext cx="4754880" cy="548640"/>
          </a:xfrm>
          <a:prstGeom prst="rect">
            <a:avLst/>
          </a:prstGeom>
          <a:noFill/>
          <a:ln/>
        </p:spPr>
        <p:txBody>
          <a:bodyPr wrap="square" lIns="0" tIns="0" rIns="0" bIns="0" rtlCol="0" anchor="ctr"/>
          <a:lstStyle/>
          <a:p>
            <a:pPr indent="0" marL="0">
              <a:buNone/>
            </a:pPr>
            <a:r>
              <a:rPr lang="en-US" sz="1300" dirty="0">
                <a:solidFill>
                  <a:srgbClr val="1B2433"/>
                </a:solidFill>
              </a:rPr>
              <a:t>Une base de données unique partagée par tous les services</a:t>
            </a:r>
            <a:endParaRPr lang="en-US" sz="1300" dirty="0"/>
          </a:p>
        </p:txBody>
      </p:sp>
      <p:sp>
        <p:nvSpPr>
          <p:cNvPr id="14" name="crit_197"/>
          <p:cNvSpPr/>
          <p:nvPr/>
        </p:nvSpPr>
        <p:spPr>
          <a:xfrm>
            <a:off x="548640" y="2423160"/>
            <a:ext cx="5074920" cy="548640"/>
          </a:xfrm>
          <a:prstGeom prst="roundRect">
            <a:avLst>
              <a:gd name="adj" fmla="val 13333"/>
            </a:avLst>
          </a:prstGeom>
          <a:solidFill>
            <a:srgbClr val="FCEDED"/>
          </a:solidFill>
          <a:ln/>
        </p:spPr>
      </p:sp>
      <p:sp>
        <p:nvSpPr>
          <p:cNvPr id="15" name="t_198"/>
          <p:cNvSpPr txBox="1"/>
          <p:nvPr/>
        </p:nvSpPr>
        <p:spPr>
          <a:xfrm>
            <a:off x="731520" y="2423160"/>
            <a:ext cx="4754880" cy="548640"/>
          </a:xfrm>
          <a:prstGeom prst="rect">
            <a:avLst/>
          </a:prstGeom>
          <a:noFill/>
          <a:ln/>
        </p:spPr>
        <p:txBody>
          <a:bodyPr wrap="square" lIns="0" tIns="0" rIns="0" bIns="0" rtlCol="0" anchor="ctr"/>
          <a:lstStyle/>
          <a:p>
            <a:pPr indent="0" marL="0">
              <a:buNone/>
            </a:pPr>
            <a:r>
              <a:rPr lang="en-US" sz="1300" dirty="0">
                <a:solidFill>
                  <a:srgbClr val="1B2433"/>
                </a:solidFill>
              </a:rPr>
              <a:t>Calcul manuel des moyennes et des procès-verbaux</a:t>
            </a:r>
            <a:endParaRPr lang="en-US" sz="1300" dirty="0"/>
          </a:p>
        </p:txBody>
      </p:sp>
      <p:pic>
        <p:nvPicPr>
          <p:cNvPr id="16" name="arr_199" descr="devient">    </p:cNvPr>
          <p:cNvPicPr>
            <a:picLocks noChangeAspect="1"/>
          </p:cNvPicPr>
          <p:nvPr/>
        </p:nvPicPr>
        <p:blipFill>
          <a:blip r:embed="rId4"/>
          <a:stretch>
            <a:fillRect/>
          </a:stretch>
        </p:blipFill>
        <p:spPr>
          <a:xfrm>
            <a:off x="5925312" y="2551176"/>
            <a:ext cx="292608" cy="292608"/>
          </a:xfrm>
          <a:prstGeom prst="rect">
            <a:avLst/>
          </a:prstGeom>
        </p:spPr>
      </p:pic>
      <p:sp>
        <p:nvSpPr>
          <p:cNvPr id="17" name="sugg_200"/>
          <p:cNvSpPr/>
          <p:nvPr/>
        </p:nvSpPr>
        <p:spPr>
          <a:xfrm>
            <a:off x="6583680" y="2423160"/>
            <a:ext cx="5074920" cy="548640"/>
          </a:xfrm>
          <a:prstGeom prst="roundRect">
            <a:avLst>
              <a:gd name="adj" fmla="val 13333"/>
            </a:avLst>
          </a:prstGeom>
          <a:solidFill>
            <a:srgbClr val="E8F5EE"/>
          </a:solidFill>
          <a:ln/>
        </p:spPr>
      </p:sp>
      <p:sp>
        <p:nvSpPr>
          <p:cNvPr id="18" name="t_201"/>
          <p:cNvSpPr txBox="1"/>
          <p:nvPr/>
        </p:nvSpPr>
        <p:spPr>
          <a:xfrm>
            <a:off x="6766560" y="2423160"/>
            <a:ext cx="4754880" cy="548640"/>
          </a:xfrm>
          <a:prstGeom prst="rect">
            <a:avLst/>
          </a:prstGeom>
          <a:noFill/>
          <a:ln/>
        </p:spPr>
        <p:txBody>
          <a:bodyPr wrap="square" lIns="0" tIns="0" rIns="0" bIns="0" rtlCol="0" anchor="ctr"/>
          <a:lstStyle/>
          <a:p>
            <a:pPr indent="0" marL="0">
              <a:buNone/>
            </a:pPr>
            <a:r>
              <a:rPr lang="en-US" sz="1300" dirty="0">
                <a:solidFill>
                  <a:srgbClr val="1B2433"/>
                </a:solidFill>
              </a:rPr>
              <a:t>Calcul automatique des moyennes et des délibérations</a:t>
            </a:r>
            <a:endParaRPr lang="en-US" sz="1300" dirty="0"/>
          </a:p>
        </p:txBody>
      </p:sp>
      <p:sp>
        <p:nvSpPr>
          <p:cNvPr id="19" name="crit_202"/>
          <p:cNvSpPr/>
          <p:nvPr/>
        </p:nvSpPr>
        <p:spPr>
          <a:xfrm>
            <a:off x="548640" y="3063240"/>
            <a:ext cx="5074920" cy="548640"/>
          </a:xfrm>
          <a:prstGeom prst="roundRect">
            <a:avLst>
              <a:gd name="adj" fmla="val 13333"/>
            </a:avLst>
          </a:prstGeom>
          <a:solidFill>
            <a:srgbClr val="FCEDED"/>
          </a:solidFill>
          <a:ln/>
        </p:spPr>
      </p:sp>
      <p:sp>
        <p:nvSpPr>
          <p:cNvPr id="20" name="t_203"/>
          <p:cNvSpPr txBox="1"/>
          <p:nvPr/>
        </p:nvSpPr>
        <p:spPr>
          <a:xfrm>
            <a:off x="731520" y="3063240"/>
            <a:ext cx="4754880" cy="548640"/>
          </a:xfrm>
          <a:prstGeom prst="rect">
            <a:avLst/>
          </a:prstGeom>
          <a:noFill/>
          <a:ln/>
        </p:spPr>
        <p:txBody>
          <a:bodyPr wrap="square" lIns="0" tIns="0" rIns="0" bIns="0" rtlCol="0" anchor="ctr"/>
          <a:lstStyle/>
          <a:p>
            <a:pPr indent="0" marL="0">
              <a:buNone/>
            </a:pPr>
            <a:r>
              <a:rPr lang="en-US" sz="1300" dirty="0">
                <a:solidFill>
                  <a:srgbClr val="1B2433"/>
                </a:solidFill>
              </a:rPr>
              <a:t>Chevauchements dans les emplois du temps</a:t>
            </a:r>
            <a:endParaRPr lang="en-US" sz="1300" dirty="0"/>
          </a:p>
        </p:txBody>
      </p:sp>
      <p:pic>
        <p:nvPicPr>
          <p:cNvPr id="21" name="arr_204" descr="devient">    </p:cNvPr>
          <p:cNvPicPr>
            <a:picLocks noChangeAspect="1"/>
          </p:cNvPicPr>
          <p:nvPr/>
        </p:nvPicPr>
        <p:blipFill>
          <a:blip r:embed="rId5"/>
          <a:stretch>
            <a:fillRect/>
          </a:stretch>
        </p:blipFill>
        <p:spPr>
          <a:xfrm>
            <a:off x="5925312" y="3191256"/>
            <a:ext cx="292608" cy="292608"/>
          </a:xfrm>
          <a:prstGeom prst="rect">
            <a:avLst/>
          </a:prstGeom>
        </p:spPr>
      </p:pic>
      <p:sp>
        <p:nvSpPr>
          <p:cNvPr id="22" name="sugg_205"/>
          <p:cNvSpPr/>
          <p:nvPr/>
        </p:nvSpPr>
        <p:spPr>
          <a:xfrm>
            <a:off x="6583680" y="3063240"/>
            <a:ext cx="5074920" cy="548640"/>
          </a:xfrm>
          <a:prstGeom prst="roundRect">
            <a:avLst>
              <a:gd name="adj" fmla="val 13333"/>
            </a:avLst>
          </a:prstGeom>
          <a:solidFill>
            <a:srgbClr val="E8F5EE"/>
          </a:solidFill>
          <a:ln/>
        </p:spPr>
      </p:sp>
      <p:sp>
        <p:nvSpPr>
          <p:cNvPr id="23" name="t_206"/>
          <p:cNvSpPr txBox="1"/>
          <p:nvPr/>
        </p:nvSpPr>
        <p:spPr>
          <a:xfrm>
            <a:off x="6766560" y="3063240"/>
            <a:ext cx="4754880" cy="548640"/>
          </a:xfrm>
          <a:prstGeom prst="rect">
            <a:avLst/>
          </a:prstGeom>
          <a:noFill/>
          <a:ln/>
        </p:spPr>
        <p:txBody>
          <a:bodyPr wrap="square" lIns="0" tIns="0" rIns="0" bIns="0" rtlCol="0" anchor="ctr"/>
          <a:lstStyle/>
          <a:p>
            <a:pPr indent="0" marL="0">
              <a:buNone/>
            </a:pPr>
            <a:r>
              <a:rPr lang="en-US" sz="1300" dirty="0">
                <a:solidFill>
                  <a:srgbClr val="1B2433"/>
                </a:solidFill>
              </a:rPr>
              <a:t>Détection automatique des conflits lors de la saisie</a:t>
            </a:r>
            <a:endParaRPr lang="en-US" sz="1300" dirty="0"/>
          </a:p>
        </p:txBody>
      </p:sp>
      <p:sp>
        <p:nvSpPr>
          <p:cNvPr id="24" name="crit_207"/>
          <p:cNvSpPr/>
          <p:nvPr/>
        </p:nvSpPr>
        <p:spPr>
          <a:xfrm>
            <a:off x="548640" y="3703320"/>
            <a:ext cx="5074920" cy="548640"/>
          </a:xfrm>
          <a:prstGeom prst="roundRect">
            <a:avLst>
              <a:gd name="adj" fmla="val 13333"/>
            </a:avLst>
          </a:prstGeom>
          <a:solidFill>
            <a:srgbClr val="FCEDED"/>
          </a:solidFill>
          <a:ln/>
        </p:spPr>
      </p:sp>
      <p:sp>
        <p:nvSpPr>
          <p:cNvPr id="25" name="t_208"/>
          <p:cNvSpPr txBox="1"/>
          <p:nvPr/>
        </p:nvSpPr>
        <p:spPr>
          <a:xfrm>
            <a:off x="731520" y="3703320"/>
            <a:ext cx="4754880" cy="548640"/>
          </a:xfrm>
          <a:prstGeom prst="rect">
            <a:avLst/>
          </a:prstGeom>
          <a:noFill/>
          <a:ln/>
        </p:spPr>
        <p:txBody>
          <a:bodyPr wrap="square" lIns="0" tIns="0" rIns="0" bIns="0" rtlCol="0" anchor="ctr"/>
          <a:lstStyle/>
          <a:p>
            <a:pPr indent="0" marL="0">
              <a:buNone/>
            </a:pPr>
            <a:r>
              <a:rPr lang="en-US" sz="1300" dirty="0">
                <a:solidFill>
                  <a:srgbClr val="1B2433"/>
                </a:solidFill>
              </a:rPr>
              <a:t>Emplois du temps et résultats seulement affichés</a:t>
            </a:r>
            <a:endParaRPr lang="en-US" sz="1300" dirty="0"/>
          </a:p>
        </p:txBody>
      </p:sp>
      <p:pic>
        <p:nvPicPr>
          <p:cNvPr id="26" name="arr_209" descr="devient">    </p:cNvPr>
          <p:cNvPicPr>
            <a:picLocks noChangeAspect="1"/>
          </p:cNvPicPr>
          <p:nvPr/>
        </p:nvPicPr>
        <p:blipFill>
          <a:blip r:embed="rId6"/>
          <a:stretch>
            <a:fillRect/>
          </a:stretch>
        </p:blipFill>
        <p:spPr>
          <a:xfrm>
            <a:off x="5925312" y="3831336"/>
            <a:ext cx="292608" cy="292608"/>
          </a:xfrm>
          <a:prstGeom prst="rect">
            <a:avLst/>
          </a:prstGeom>
        </p:spPr>
      </p:pic>
      <p:sp>
        <p:nvSpPr>
          <p:cNvPr id="27" name="sugg_210"/>
          <p:cNvSpPr/>
          <p:nvPr/>
        </p:nvSpPr>
        <p:spPr>
          <a:xfrm>
            <a:off x="6583680" y="3703320"/>
            <a:ext cx="5074920" cy="548640"/>
          </a:xfrm>
          <a:prstGeom prst="roundRect">
            <a:avLst>
              <a:gd name="adj" fmla="val 13333"/>
            </a:avLst>
          </a:prstGeom>
          <a:solidFill>
            <a:srgbClr val="E8F5EE"/>
          </a:solidFill>
          <a:ln/>
        </p:spPr>
      </p:sp>
      <p:sp>
        <p:nvSpPr>
          <p:cNvPr id="28" name="t_211"/>
          <p:cNvSpPr txBox="1"/>
          <p:nvPr/>
        </p:nvSpPr>
        <p:spPr>
          <a:xfrm>
            <a:off x="6766560" y="3703320"/>
            <a:ext cx="4754880" cy="548640"/>
          </a:xfrm>
          <a:prstGeom prst="rect">
            <a:avLst/>
          </a:prstGeom>
          <a:noFill/>
          <a:ln/>
        </p:spPr>
        <p:txBody>
          <a:bodyPr wrap="square" lIns="0" tIns="0" rIns="0" bIns="0" rtlCol="0" anchor="ctr"/>
          <a:lstStyle/>
          <a:p>
            <a:pPr indent="0" marL="0">
              <a:buNone/>
            </a:pPr>
            <a:r>
              <a:rPr lang="en-US" sz="1300" dirty="0">
                <a:solidFill>
                  <a:srgbClr val="1B2433"/>
                </a:solidFill>
              </a:rPr>
              <a:t>Consultation en ligne des emplois du temps, notes et documents</a:t>
            </a:r>
            <a:endParaRPr lang="en-US" sz="1300" dirty="0"/>
          </a:p>
        </p:txBody>
      </p:sp>
      <p:sp>
        <p:nvSpPr>
          <p:cNvPr id="29" name="crit_212"/>
          <p:cNvSpPr/>
          <p:nvPr/>
        </p:nvSpPr>
        <p:spPr>
          <a:xfrm>
            <a:off x="548640" y="4343400"/>
            <a:ext cx="5074920" cy="548640"/>
          </a:xfrm>
          <a:prstGeom prst="roundRect">
            <a:avLst>
              <a:gd name="adj" fmla="val 13333"/>
            </a:avLst>
          </a:prstGeom>
          <a:solidFill>
            <a:srgbClr val="FCEDED"/>
          </a:solidFill>
          <a:ln/>
        </p:spPr>
      </p:sp>
      <p:sp>
        <p:nvSpPr>
          <p:cNvPr id="30" name="t_213"/>
          <p:cNvSpPr txBox="1"/>
          <p:nvPr/>
        </p:nvSpPr>
        <p:spPr>
          <a:xfrm>
            <a:off x="731520" y="4343400"/>
            <a:ext cx="4754880" cy="548640"/>
          </a:xfrm>
          <a:prstGeom prst="rect">
            <a:avLst/>
          </a:prstGeom>
          <a:noFill/>
          <a:ln/>
        </p:spPr>
        <p:txBody>
          <a:bodyPr wrap="square" lIns="0" tIns="0" rIns="0" bIns="0" rtlCol="0" anchor="ctr"/>
          <a:lstStyle/>
          <a:p>
            <a:pPr indent="0" marL="0">
              <a:buNone/>
            </a:pPr>
            <a:r>
              <a:rPr lang="en-US" sz="1300" dirty="0">
                <a:solidFill>
                  <a:srgbClr val="1B2433"/>
                </a:solidFill>
              </a:rPr>
              <a:t>Feuilles d'absence papier difficiles à exploiter</a:t>
            </a:r>
            <a:endParaRPr lang="en-US" sz="1300" dirty="0"/>
          </a:p>
        </p:txBody>
      </p:sp>
      <p:pic>
        <p:nvPicPr>
          <p:cNvPr id="31" name="arr_214" descr="devient">    </p:cNvPr>
          <p:cNvPicPr>
            <a:picLocks noChangeAspect="1"/>
          </p:cNvPicPr>
          <p:nvPr/>
        </p:nvPicPr>
        <p:blipFill>
          <a:blip r:embed="rId7"/>
          <a:stretch>
            <a:fillRect/>
          </a:stretch>
        </p:blipFill>
        <p:spPr>
          <a:xfrm>
            <a:off x="5925312" y="4471416"/>
            <a:ext cx="292608" cy="292608"/>
          </a:xfrm>
          <a:prstGeom prst="rect">
            <a:avLst/>
          </a:prstGeom>
        </p:spPr>
      </p:pic>
      <p:sp>
        <p:nvSpPr>
          <p:cNvPr id="32" name="sugg_215"/>
          <p:cNvSpPr/>
          <p:nvPr/>
        </p:nvSpPr>
        <p:spPr>
          <a:xfrm>
            <a:off x="6583680" y="4343400"/>
            <a:ext cx="5074920" cy="548640"/>
          </a:xfrm>
          <a:prstGeom prst="roundRect">
            <a:avLst>
              <a:gd name="adj" fmla="val 13333"/>
            </a:avLst>
          </a:prstGeom>
          <a:solidFill>
            <a:srgbClr val="E8F5EE"/>
          </a:solidFill>
          <a:ln/>
        </p:spPr>
      </p:sp>
      <p:sp>
        <p:nvSpPr>
          <p:cNvPr id="33" name="t_216"/>
          <p:cNvSpPr txBox="1"/>
          <p:nvPr/>
        </p:nvSpPr>
        <p:spPr>
          <a:xfrm>
            <a:off x="6766560" y="4343400"/>
            <a:ext cx="4754880" cy="548640"/>
          </a:xfrm>
          <a:prstGeom prst="rect">
            <a:avLst/>
          </a:prstGeom>
          <a:noFill/>
          <a:ln/>
        </p:spPr>
        <p:txBody>
          <a:bodyPr wrap="square" lIns="0" tIns="0" rIns="0" bIns="0" rtlCol="0" anchor="ctr"/>
          <a:lstStyle/>
          <a:p>
            <a:pPr indent="0" marL="0">
              <a:buNone/>
            </a:pPr>
            <a:r>
              <a:rPr lang="en-US" sz="1300" dirty="0">
                <a:solidFill>
                  <a:srgbClr val="1B2433"/>
                </a:solidFill>
              </a:rPr>
              <a:t>Appel numérique par séance et statistiques d'assiduité</a:t>
            </a:r>
            <a:endParaRPr lang="en-US" sz="1300" dirty="0"/>
          </a:p>
        </p:txBody>
      </p:sp>
      <p:sp>
        <p:nvSpPr>
          <p:cNvPr id="34" name="crit_217"/>
          <p:cNvSpPr/>
          <p:nvPr/>
        </p:nvSpPr>
        <p:spPr>
          <a:xfrm>
            <a:off x="548640" y="4983480"/>
            <a:ext cx="5074920" cy="548640"/>
          </a:xfrm>
          <a:prstGeom prst="roundRect">
            <a:avLst>
              <a:gd name="adj" fmla="val 13333"/>
            </a:avLst>
          </a:prstGeom>
          <a:solidFill>
            <a:srgbClr val="FCEDED"/>
          </a:solidFill>
          <a:ln/>
        </p:spPr>
      </p:sp>
      <p:sp>
        <p:nvSpPr>
          <p:cNvPr id="35" name="t_218"/>
          <p:cNvSpPr txBox="1"/>
          <p:nvPr/>
        </p:nvSpPr>
        <p:spPr>
          <a:xfrm>
            <a:off x="731520" y="4983480"/>
            <a:ext cx="4754880" cy="548640"/>
          </a:xfrm>
          <a:prstGeom prst="rect">
            <a:avLst/>
          </a:prstGeom>
          <a:noFill/>
          <a:ln/>
        </p:spPr>
        <p:txBody>
          <a:bodyPr wrap="square" lIns="0" tIns="0" rIns="0" bIns="0" rtlCol="0" anchor="ctr"/>
          <a:lstStyle/>
          <a:p>
            <a:pPr indent="0" marL="0">
              <a:buNone/>
            </a:pPr>
            <a:r>
              <a:rPr lang="en-US" sz="1300" dirty="0">
                <a:solidFill>
                  <a:srgbClr val="1B2433"/>
                </a:solidFill>
              </a:rPr>
              <a:t>Aucun canal de communication officiel</a:t>
            </a:r>
            <a:endParaRPr lang="en-US" sz="1300" dirty="0"/>
          </a:p>
        </p:txBody>
      </p:sp>
      <p:pic>
        <p:nvPicPr>
          <p:cNvPr id="36" name="arr_219" descr="devient">    </p:cNvPr>
          <p:cNvPicPr>
            <a:picLocks noChangeAspect="1"/>
          </p:cNvPicPr>
          <p:nvPr/>
        </p:nvPicPr>
        <p:blipFill>
          <a:blip r:embed="rId8"/>
          <a:stretch>
            <a:fillRect/>
          </a:stretch>
        </p:blipFill>
        <p:spPr>
          <a:xfrm>
            <a:off x="5925312" y="5111496"/>
            <a:ext cx="292608" cy="292608"/>
          </a:xfrm>
          <a:prstGeom prst="rect">
            <a:avLst/>
          </a:prstGeom>
        </p:spPr>
      </p:pic>
      <p:sp>
        <p:nvSpPr>
          <p:cNvPr id="37" name="sugg_220"/>
          <p:cNvSpPr/>
          <p:nvPr/>
        </p:nvSpPr>
        <p:spPr>
          <a:xfrm>
            <a:off x="6583680" y="4983480"/>
            <a:ext cx="5074920" cy="548640"/>
          </a:xfrm>
          <a:prstGeom prst="roundRect">
            <a:avLst>
              <a:gd name="adj" fmla="val 13333"/>
            </a:avLst>
          </a:prstGeom>
          <a:solidFill>
            <a:srgbClr val="E8F5EE"/>
          </a:solidFill>
          <a:ln/>
        </p:spPr>
      </p:sp>
      <p:sp>
        <p:nvSpPr>
          <p:cNvPr id="38" name="t_221"/>
          <p:cNvSpPr txBox="1"/>
          <p:nvPr/>
        </p:nvSpPr>
        <p:spPr>
          <a:xfrm>
            <a:off x="6766560" y="4983480"/>
            <a:ext cx="4754880" cy="548640"/>
          </a:xfrm>
          <a:prstGeom prst="rect">
            <a:avLst/>
          </a:prstGeom>
          <a:noFill/>
          <a:ln/>
        </p:spPr>
        <p:txBody>
          <a:bodyPr wrap="square" lIns="0" tIns="0" rIns="0" bIns="0" rtlCol="0" anchor="ctr"/>
          <a:lstStyle/>
          <a:p>
            <a:pPr indent="0" marL="0">
              <a:buNone/>
            </a:pPr>
            <a:r>
              <a:rPr lang="en-US" sz="1300" dirty="0">
                <a:solidFill>
                  <a:srgbClr val="1B2433"/>
                </a:solidFill>
              </a:rPr>
              <a:t>Messagerie interne et notifications ciblées</a:t>
            </a:r>
            <a:endParaRPr lang="en-US" sz="1300" dirty="0"/>
          </a:p>
        </p:txBody>
      </p:sp>
      <p:sp>
        <p:nvSpPr>
          <p:cNvPr id="39" name="crit_222"/>
          <p:cNvSpPr/>
          <p:nvPr/>
        </p:nvSpPr>
        <p:spPr>
          <a:xfrm>
            <a:off x="548640" y="5623560"/>
            <a:ext cx="5074920" cy="548640"/>
          </a:xfrm>
          <a:prstGeom prst="roundRect">
            <a:avLst>
              <a:gd name="adj" fmla="val 13333"/>
            </a:avLst>
          </a:prstGeom>
          <a:solidFill>
            <a:srgbClr val="FCEDED"/>
          </a:solidFill>
          <a:ln/>
        </p:spPr>
      </p:sp>
      <p:sp>
        <p:nvSpPr>
          <p:cNvPr id="40" name="t_223"/>
          <p:cNvSpPr txBox="1"/>
          <p:nvPr/>
        </p:nvSpPr>
        <p:spPr>
          <a:xfrm>
            <a:off x="731520" y="5623560"/>
            <a:ext cx="4754880" cy="548640"/>
          </a:xfrm>
          <a:prstGeom prst="rect">
            <a:avLst/>
          </a:prstGeom>
          <a:noFill/>
          <a:ln/>
        </p:spPr>
        <p:txBody>
          <a:bodyPr wrap="square" lIns="0" tIns="0" rIns="0" bIns="0" rtlCol="0" anchor="ctr"/>
          <a:lstStyle/>
          <a:p>
            <a:pPr indent="0" marL="0">
              <a:buNone/>
            </a:pPr>
            <a:r>
              <a:rPr lang="en-US" sz="1300" dirty="0">
                <a:solidFill>
                  <a:srgbClr val="1B2433"/>
                </a:solidFill>
              </a:rPr>
              <a:t>Archivage papier exposé aux pertes</a:t>
            </a:r>
            <a:endParaRPr lang="en-US" sz="1300" dirty="0"/>
          </a:p>
        </p:txBody>
      </p:sp>
      <p:pic>
        <p:nvPicPr>
          <p:cNvPr id="41" name="arr_224" descr="devient">    </p:cNvPr>
          <p:cNvPicPr>
            <a:picLocks noChangeAspect="1"/>
          </p:cNvPicPr>
          <p:nvPr/>
        </p:nvPicPr>
        <p:blipFill>
          <a:blip r:embed="rId9"/>
          <a:stretch>
            <a:fillRect/>
          </a:stretch>
        </p:blipFill>
        <p:spPr>
          <a:xfrm>
            <a:off x="5925312" y="5751576"/>
            <a:ext cx="292608" cy="292608"/>
          </a:xfrm>
          <a:prstGeom prst="rect">
            <a:avLst/>
          </a:prstGeom>
        </p:spPr>
      </p:pic>
      <p:sp>
        <p:nvSpPr>
          <p:cNvPr id="42" name="sugg_225"/>
          <p:cNvSpPr/>
          <p:nvPr/>
        </p:nvSpPr>
        <p:spPr>
          <a:xfrm>
            <a:off x="6583680" y="5623560"/>
            <a:ext cx="5074920" cy="548640"/>
          </a:xfrm>
          <a:prstGeom prst="roundRect">
            <a:avLst>
              <a:gd name="adj" fmla="val 13333"/>
            </a:avLst>
          </a:prstGeom>
          <a:solidFill>
            <a:srgbClr val="E8F5EE"/>
          </a:solidFill>
          <a:ln/>
        </p:spPr>
      </p:sp>
      <p:sp>
        <p:nvSpPr>
          <p:cNvPr id="43" name="t_226"/>
          <p:cNvSpPr txBox="1"/>
          <p:nvPr/>
        </p:nvSpPr>
        <p:spPr>
          <a:xfrm>
            <a:off x="6766560" y="5623560"/>
            <a:ext cx="4754880" cy="548640"/>
          </a:xfrm>
          <a:prstGeom prst="rect">
            <a:avLst/>
          </a:prstGeom>
          <a:noFill/>
          <a:ln/>
        </p:spPr>
        <p:txBody>
          <a:bodyPr wrap="square" lIns="0" tIns="0" rIns="0" bIns="0" rtlCol="0" anchor="ctr"/>
          <a:lstStyle/>
          <a:p>
            <a:pPr indent="0" marL="0">
              <a:buNone/>
            </a:pPr>
            <a:r>
              <a:rPr lang="en-US" sz="1300" dirty="0">
                <a:solidFill>
                  <a:srgbClr val="1B2433"/>
                </a:solidFill>
              </a:rPr>
              <a:t>Stockage centralisé et sauvegardes régulières</a:t>
            </a:r>
            <a:endParaRPr lang="en-US" sz="13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Étude de faisabilité : besoins fonctionnels</a:t>
            </a:r>
            <a:endParaRPr lang="en-US" sz="3000" dirty="0"/>
          </a:p>
        </p:txBody>
      </p:sp>
      <p:sp>
        <p:nvSpPr>
          <p:cNvPr id="3" name="card_227"/>
          <p:cNvSpPr/>
          <p:nvPr/>
        </p:nvSpPr>
        <p:spPr>
          <a:xfrm>
            <a:off x="548640" y="1280160"/>
            <a:ext cx="2651760" cy="4983480"/>
          </a:xfrm>
          <a:prstGeom prst="roundRect">
            <a:avLst>
              <a:gd name="adj" fmla="val 4138"/>
            </a:avLst>
          </a:prstGeom>
          <a:solidFill>
            <a:schemeClr val="bg1"/>
          </a:solidFill>
          <a:ln/>
          <a:effectLst>
            <a:outerShdw sx="100000" sy="100000" kx="0" ky="0" algn="bl" rotWithShape="0" blurRad="76200" dist="19050" dir="5400000">
              <a:srgbClr val="1B2433">
                <a:alpha val="10000"/>
              </a:srgbClr>
            </a:outerShdw>
          </a:effectLst>
        </p:spPr>
      </p:sp>
      <p:pic>
        <p:nvPicPr>
          <p:cNvPr id="4" name="thumb_228" descr="Administration">    </p:cNvPr>
          <p:cNvPicPr>
            <a:picLocks noChangeAspect="1"/>
          </p:cNvPicPr>
          <p:nvPr/>
        </p:nvPicPr>
        <p:blipFill>
          <a:blip r:embed="rId1"/>
          <a:stretch>
            <a:fillRect/>
          </a:stretch>
        </p:blipFill>
        <p:spPr>
          <a:xfrm>
            <a:off x="658368" y="1389888"/>
            <a:ext cx="2432304" cy="1452085"/>
          </a:xfrm>
          <a:prstGeom prst="rect">
            <a:avLst/>
          </a:prstGeom>
        </p:spPr>
      </p:pic>
      <p:sp>
        <p:nvSpPr>
          <p:cNvPr id="5" name="t_229"/>
          <p:cNvSpPr txBox="1"/>
          <p:nvPr/>
        </p:nvSpPr>
        <p:spPr>
          <a:xfrm>
            <a:off x="749808" y="3017520"/>
            <a:ext cx="2286000" cy="365760"/>
          </a:xfrm>
          <a:prstGeom prst="rect">
            <a:avLst/>
          </a:prstGeom>
          <a:noFill/>
          <a:ln/>
        </p:spPr>
        <p:txBody>
          <a:bodyPr wrap="square" lIns="0" tIns="0" rIns="0" bIns="0" rtlCol="0" anchor="t"/>
          <a:lstStyle/>
          <a:p>
            <a:pPr indent="0" marL="0">
              <a:buNone/>
            </a:pPr>
            <a:r>
              <a:rPr lang="en-US" sz="1700" b="1" dirty="0">
                <a:solidFill>
                  <a:schemeClr val="tx2"/>
                </a:solidFill>
              </a:rPr>
              <a:t>Administration</a:t>
            </a:r>
            <a:endParaRPr lang="en-US" sz="1700" dirty="0"/>
          </a:p>
        </p:txBody>
      </p:sp>
      <p:sp>
        <p:nvSpPr>
          <p:cNvPr id="6" name="t_230"/>
          <p:cNvSpPr txBox="1"/>
          <p:nvPr/>
        </p:nvSpPr>
        <p:spPr>
          <a:xfrm>
            <a:off x="749808" y="3520440"/>
            <a:ext cx="2331720" cy="2560320"/>
          </a:xfrm>
          <a:prstGeom prst="rect">
            <a:avLst/>
          </a:prstGeom>
          <a:noFill/>
          <a:ln/>
        </p:spPr>
        <p:txBody>
          <a:bodyPr wrap="square" lIns="0" tIns="0" rIns="0" bIns="0" rtlCol="0" anchor="t"/>
          <a:lstStyle/>
          <a:p>
            <a:pPr marL="177800" indent="-177800">
              <a:spcAft>
                <a:spcPts val="1400"/>
              </a:spcAft>
              <a:buSzPct val="100000"/>
              <a:buChar char="•"/>
            </a:pPr>
            <a:r>
              <a:rPr lang="en-US" sz="1400" dirty="0">
                <a:solidFill>
                  <a:srgbClr val="3F4652"/>
                </a:solidFill>
              </a:rPr>
              <a:t>Sessions, spécialités, modules</a:t>
            </a:r>
            <a:endParaRPr lang="en-US" sz="1400" dirty="0"/>
          </a:p>
          <a:p>
            <a:pPr marL="177800" indent="-177800">
              <a:spcAft>
                <a:spcPts val="1400"/>
              </a:spcAft>
              <a:buSzPct val="100000"/>
              <a:buChar char="•"/>
            </a:pPr>
            <a:r>
              <a:rPr lang="en-US" sz="1400" dirty="0">
                <a:solidFill>
                  <a:srgbClr val="3F4652"/>
                </a:solidFill>
              </a:rPr>
              <a:t>Numéros d'inscription</a:t>
            </a:r>
            <a:endParaRPr lang="en-US" sz="1400" dirty="0"/>
          </a:p>
          <a:p>
            <a:pPr marL="177800" indent="-177800">
              <a:spcAft>
                <a:spcPts val="1400"/>
              </a:spcAft>
              <a:buSzPct val="100000"/>
              <a:buChar char="•"/>
            </a:pPr>
            <a:r>
              <a:rPr lang="en-US" sz="1400" dirty="0">
                <a:solidFill>
                  <a:srgbClr val="3F4652"/>
                </a:solidFill>
              </a:rPr>
              <a:t>Emplois du temps, délibérations</a:t>
            </a:r>
            <a:endParaRPr lang="en-US" sz="1400" dirty="0"/>
          </a:p>
        </p:txBody>
      </p:sp>
      <p:sp>
        <p:nvSpPr>
          <p:cNvPr id="7" name="card_231"/>
          <p:cNvSpPr/>
          <p:nvPr/>
        </p:nvSpPr>
        <p:spPr>
          <a:xfrm>
            <a:off x="3383280" y="1280160"/>
            <a:ext cx="2651760" cy="4983480"/>
          </a:xfrm>
          <a:prstGeom prst="roundRect">
            <a:avLst>
              <a:gd name="adj" fmla="val 4138"/>
            </a:avLst>
          </a:prstGeom>
          <a:solidFill>
            <a:schemeClr val="bg1"/>
          </a:solidFill>
          <a:ln/>
          <a:effectLst>
            <a:outerShdw sx="100000" sy="100000" kx="0" ky="0" algn="bl" rotWithShape="0" blurRad="76200" dist="19050" dir="5400000">
              <a:srgbClr val="1B2433">
                <a:alpha val="10000"/>
              </a:srgbClr>
            </a:outerShdw>
          </a:effectLst>
        </p:spPr>
      </p:sp>
      <p:pic>
        <p:nvPicPr>
          <p:cNvPr id="8" name="thumb_232" descr="Enseignant">    </p:cNvPr>
          <p:cNvPicPr>
            <a:picLocks noChangeAspect="1"/>
          </p:cNvPicPr>
          <p:nvPr/>
        </p:nvPicPr>
        <p:blipFill>
          <a:blip r:embed="rId2"/>
          <a:stretch>
            <a:fillRect/>
          </a:stretch>
        </p:blipFill>
        <p:spPr>
          <a:xfrm>
            <a:off x="3493008" y="1389888"/>
            <a:ext cx="2432304" cy="1452085"/>
          </a:xfrm>
          <a:prstGeom prst="rect">
            <a:avLst/>
          </a:prstGeom>
        </p:spPr>
      </p:pic>
      <p:sp>
        <p:nvSpPr>
          <p:cNvPr id="9" name="t_233"/>
          <p:cNvSpPr txBox="1"/>
          <p:nvPr/>
        </p:nvSpPr>
        <p:spPr>
          <a:xfrm>
            <a:off x="3584448" y="3017520"/>
            <a:ext cx="2286000" cy="365760"/>
          </a:xfrm>
          <a:prstGeom prst="rect">
            <a:avLst/>
          </a:prstGeom>
          <a:noFill/>
          <a:ln/>
        </p:spPr>
        <p:txBody>
          <a:bodyPr wrap="square" lIns="0" tIns="0" rIns="0" bIns="0" rtlCol="0" anchor="t"/>
          <a:lstStyle/>
          <a:p>
            <a:pPr indent="0" marL="0">
              <a:buNone/>
            </a:pPr>
            <a:r>
              <a:rPr lang="en-US" sz="1700" b="1" dirty="0">
                <a:solidFill>
                  <a:schemeClr val="tx2"/>
                </a:solidFill>
              </a:rPr>
              <a:t>Enseignant</a:t>
            </a:r>
            <a:endParaRPr lang="en-US" sz="1700" dirty="0"/>
          </a:p>
        </p:txBody>
      </p:sp>
      <p:sp>
        <p:nvSpPr>
          <p:cNvPr id="10" name="t_234"/>
          <p:cNvSpPr txBox="1"/>
          <p:nvPr/>
        </p:nvSpPr>
        <p:spPr>
          <a:xfrm>
            <a:off x="3584448" y="3520440"/>
            <a:ext cx="2331720" cy="2560320"/>
          </a:xfrm>
          <a:prstGeom prst="rect">
            <a:avLst/>
          </a:prstGeom>
          <a:noFill/>
          <a:ln/>
        </p:spPr>
        <p:txBody>
          <a:bodyPr wrap="square" lIns="0" tIns="0" rIns="0" bIns="0" rtlCol="0" anchor="t"/>
          <a:lstStyle/>
          <a:p>
            <a:pPr marL="177800" indent="-177800">
              <a:spcAft>
                <a:spcPts val="1400"/>
              </a:spcAft>
              <a:buSzPct val="100000"/>
              <a:buChar char="•"/>
            </a:pPr>
            <a:r>
              <a:rPr lang="en-US" sz="1400" dirty="0">
                <a:solidFill>
                  <a:srgbClr val="3F4652"/>
                </a:solidFill>
              </a:rPr>
              <a:t>Appel par séance</a:t>
            </a:r>
            <a:endParaRPr lang="en-US" sz="1400" dirty="0"/>
          </a:p>
          <a:p>
            <a:pPr marL="177800" indent="-177800">
              <a:spcAft>
                <a:spcPts val="1400"/>
              </a:spcAft>
              <a:buSzPct val="100000"/>
              <a:buChar char="•"/>
            </a:pPr>
            <a:r>
              <a:rPr lang="en-US" sz="1400" dirty="0">
                <a:solidFill>
                  <a:srgbClr val="3F4652"/>
                </a:solidFill>
              </a:rPr>
              <a:t>Examens et saisie des notes</a:t>
            </a:r>
            <a:endParaRPr lang="en-US" sz="1400" dirty="0"/>
          </a:p>
          <a:p>
            <a:pPr marL="177800" indent="-177800">
              <a:spcAft>
                <a:spcPts val="1400"/>
              </a:spcAft>
              <a:buSzPct val="100000"/>
              <a:buChar char="•"/>
            </a:pPr>
            <a:r>
              <a:rPr lang="en-US" sz="1400" dirty="0">
                <a:solidFill>
                  <a:srgbClr val="3F4652"/>
                </a:solidFill>
              </a:rPr>
              <a:t>Devoirs et supports de cours</a:t>
            </a:r>
            <a:endParaRPr lang="en-US" sz="1400" dirty="0"/>
          </a:p>
        </p:txBody>
      </p:sp>
      <p:sp>
        <p:nvSpPr>
          <p:cNvPr id="11" name="card_235"/>
          <p:cNvSpPr/>
          <p:nvPr/>
        </p:nvSpPr>
        <p:spPr>
          <a:xfrm>
            <a:off x="6217920" y="1280160"/>
            <a:ext cx="2651760" cy="4983480"/>
          </a:xfrm>
          <a:prstGeom prst="roundRect">
            <a:avLst>
              <a:gd name="adj" fmla="val 4138"/>
            </a:avLst>
          </a:prstGeom>
          <a:solidFill>
            <a:schemeClr val="bg1"/>
          </a:solidFill>
          <a:ln/>
          <a:effectLst>
            <a:outerShdw sx="100000" sy="100000" kx="0" ky="0" algn="bl" rotWithShape="0" blurRad="76200" dist="19050" dir="5400000">
              <a:srgbClr val="1B2433">
                <a:alpha val="10000"/>
              </a:srgbClr>
            </a:outerShdw>
          </a:effectLst>
        </p:spPr>
      </p:sp>
      <p:pic>
        <p:nvPicPr>
          <p:cNvPr id="12" name="thumb_236" descr="Stagiaire">    </p:cNvPr>
          <p:cNvPicPr>
            <a:picLocks noChangeAspect="1"/>
          </p:cNvPicPr>
          <p:nvPr/>
        </p:nvPicPr>
        <p:blipFill>
          <a:blip r:embed="rId3"/>
          <a:stretch>
            <a:fillRect/>
          </a:stretch>
        </p:blipFill>
        <p:spPr>
          <a:xfrm>
            <a:off x="6327648" y="1389888"/>
            <a:ext cx="2432304" cy="1452085"/>
          </a:xfrm>
          <a:prstGeom prst="rect">
            <a:avLst/>
          </a:prstGeom>
        </p:spPr>
      </p:pic>
      <p:sp>
        <p:nvSpPr>
          <p:cNvPr id="13" name="t_237"/>
          <p:cNvSpPr txBox="1"/>
          <p:nvPr/>
        </p:nvSpPr>
        <p:spPr>
          <a:xfrm>
            <a:off x="6419088" y="3017520"/>
            <a:ext cx="2286000" cy="365760"/>
          </a:xfrm>
          <a:prstGeom prst="rect">
            <a:avLst/>
          </a:prstGeom>
          <a:noFill/>
          <a:ln/>
        </p:spPr>
        <p:txBody>
          <a:bodyPr wrap="square" lIns="0" tIns="0" rIns="0" bIns="0" rtlCol="0" anchor="t"/>
          <a:lstStyle/>
          <a:p>
            <a:pPr indent="0" marL="0">
              <a:buNone/>
            </a:pPr>
            <a:r>
              <a:rPr lang="en-US" sz="1700" b="1" dirty="0">
                <a:solidFill>
                  <a:schemeClr val="tx2"/>
                </a:solidFill>
              </a:rPr>
              <a:t>Stagiaire</a:t>
            </a:r>
            <a:endParaRPr lang="en-US" sz="1700" dirty="0"/>
          </a:p>
        </p:txBody>
      </p:sp>
      <p:sp>
        <p:nvSpPr>
          <p:cNvPr id="14" name="t_238"/>
          <p:cNvSpPr txBox="1"/>
          <p:nvPr/>
        </p:nvSpPr>
        <p:spPr>
          <a:xfrm>
            <a:off x="6419088" y="3520440"/>
            <a:ext cx="2331720" cy="2560320"/>
          </a:xfrm>
          <a:prstGeom prst="rect">
            <a:avLst/>
          </a:prstGeom>
          <a:noFill/>
          <a:ln/>
        </p:spPr>
        <p:txBody>
          <a:bodyPr wrap="square" lIns="0" tIns="0" rIns="0" bIns="0" rtlCol="0" anchor="t"/>
          <a:lstStyle/>
          <a:p>
            <a:pPr marL="177800" indent="-177800">
              <a:spcAft>
                <a:spcPts val="1400"/>
              </a:spcAft>
              <a:buSzPct val="100000"/>
              <a:buChar char="•"/>
            </a:pPr>
            <a:r>
              <a:rPr lang="en-US" sz="1400" dirty="0">
                <a:solidFill>
                  <a:srgbClr val="3F4652"/>
                </a:solidFill>
              </a:rPr>
              <a:t>Emploi du temps et notes</a:t>
            </a:r>
            <a:endParaRPr lang="en-US" sz="1400" dirty="0"/>
          </a:p>
          <a:p>
            <a:pPr marL="177800" indent="-177800">
              <a:spcAft>
                <a:spcPts val="1400"/>
              </a:spcAft>
              <a:buSzPct val="100000"/>
              <a:buChar char="•"/>
            </a:pPr>
            <a:r>
              <a:rPr lang="en-US" sz="1400" dirty="0">
                <a:solidFill>
                  <a:srgbClr val="3F4652"/>
                </a:solidFill>
              </a:rPr>
              <a:t>Assiduité et délibérations</a:t>
            </a:r>
            <a:endParaRPr lang="en-US" sz="1400" dirty="0"/>
          </a:p>
          <a:p>
            <a:pPr marL="177800" indent="-177800">
              <a:spcAft>
                <a:spcPts val="1400"/>
              </a:spcAft>
              <a:buSzPct val="100000"/>
              <a:buChar char="•"/>
            </a:pPr>
            <a:r>
              <a:rPr lang="en-US" sz="1400" dirty="0">
                <a:solidFill>
                  <a:srgbClr val="3F4652"/>
                </a:solidFill>
              </a:rPr>
              <a:t>Remise des devoirs en ligne</a:t>
            </a:r>
            <a:endParaRPr lang="en-US" sz="1400" dirty="0"/>
          </a:p>
        </p:txBody>
      </p:sp>
      <p:sp>
        <p:nvSpPr>
          <p:cNvPr id="15" name="card_239"/>
          <p:cNvSpPr/>
          <p:nvPr/>
        </p:nvSpPr>
        <p:spPr>
          <a:xfrm>
            <a:off x="9052560" y="1280160"/>
            <a:ext cx="2606040" cy="4983480"/>
          </a:xfrm>
          <a:prstGeom prst="roundRect">
            <a:avLst>
              <a:gd name="adj" fmla="val 4211"/>
            </a:avLst>
          </a:prstGeom>
          <a:solidFill>
            <a:schemeClr val="tx2"/>
          </a:solidFill>
          <a:ln/>
          <a:effectLst>
            <a:outerShdw sx="100000" sy="100000" kx="0" ky="0" algn="bl" rotWithShape="0" blurRad="127000" dist="38100" dir="5400000">
              <a:srgbClr val="1B2433">
                <a:alpha val="14000"/>
              </a:srgbClr>
            </a:outerShdw>
          </a:effectLst>
        </p:spPr>
      </p:sp>
      <p:sp>
        <p:nvSpPr>
          <p:cNvPr id="16" name="ic_bg_240"/>
          <p:cNvSpPr/>
          <p:nvPr/>
        </p:nvSpPr>
        <p:spPr>
          <a:xfrm>
            <a:off x="9281160" y="1508760"/>
            <a:ext cx="777240" cy="777240"/>
          </a:xfrm>
          <a:prstGeom prst="ellipse">
            <a:avLst/>
          </a:prstGeom>
          <a:solidFill>
            <a:srgbClr val="D7971D"/>
          </a:solidFill>
          <a:ln/>
        </p:spPr>
      </p:sp>
      <p:pic>
        <p:nvPicPr>
          <p:cNvPr id="17" name="ic_241" descr="FaRobot">    </p:cNvPr>
          <p:cNvPicPr>
            <a:picLocks noChangeAspect="1"/>
          </p:cNvPicPr>
          <p:nvPr/>
        </p:nvPicPr>
        <p:blipFill>
          <a:blip r:embed="rId4"/>
          <a:stretch>
            <a:fillRect/>
          </a:stretch>
        </p:blipFill>
        <p:spPr>
          <a:xfrm>
            <a:off x="9475470" y="1703070"/>
            <a:ext cx="388620" cy="388620"/>
          </a:xfrm>
          <a:prstGeom prst="rect">
            <a:avLst/>
          </a:prstGeom>
        </p:spPr>
      </p:pic>
      <p:sp>
        <p:nvSpPr>
          <p:cNvPr id="18" name="t_242"/>
          <p:cNvSpPr txBox="1"/>
          <p:nvPr/>
        </p:nvSpPr>
        <p:spPr>
          <a:xfrm>
            <a:off x="9281160" y="2468880"/>
            <a:ext cx="2194560" cy="685800"/>
          </a:xfrm>
          <a:prstGeom prst="rect">
            <a:avLst/>
          </a:prstGeom>
          <a:noFill/>
          <a:ln/>
        </p:spPr>
        <p:txBody>
          <a:bodyPr wrap="square" lIns="0" tIns="0" rIns="0" bIns="0" rtlCol="0" anchor="t"/>
          <a:lstStyle/>
          <a:p>
            <a:pPr indent="0" marL="0">
              <a:buNone/>
            </a:pPr>
            <a:r>
              <a:rPr lang="en-US" sz="1700" b="1" dirty="0">
                <a:solidFill>
                  <a:srgbClr val="FFFFFF"/>
                </a:solidFill>
              </a:rPr>
              <a:t>Assistant intelligent</a:t>
            </a:r>
            <a:endParaRPr lang="en-US" sz="1700" dirty="0"/>
          </a:p>
        </p:txBody>
      </p:sp>
      <p:sp>
        <p:nvSpPr>
          <p:cNvPr id="19" name="t_243"/>
          <p:cNvSpPr txBox="1"/>
          <p:nvPr/>
        </p:nvSpPr>
        <p:spPr>
          <a:xfrm>
            <a:off x="9281160" y="3200400"/>
            <a:ext cx="2194560" cy="1645920"/>
          </a:xfrm>
          <a:prstGeom prst="rect">
            <a:avLst/>
          </a:prstGeom>
          <a:noFill/>
          <a:ln/>
        </p:spPr>
        <p:txBody>
          <a:bodyPr wrap="square" lIns="0" tIns="0" rIns="0" bIns="0" rtlCol="0" anchor="t"/>
          <a:lstStyle/>
          <a:p>
            <a:pPr indent="0" marL="0">
              <a:buNone/>
            </a:pPr>
            <a:r>
              <a:rPr lang="en-US" sz="1300" dirty="0">
                <a:solidFill>
                  <a:srgbClr val="CFE3F0"/>
                </a:solidFill>
              </a:rPr>
              <a:t>Chatbot public basé sur l'API Gemini qui répond aux questions fréquentes : spécialités, inscription, dates.</a:t>
            </a:r>
            <a:endParaRPr lang="en-US" sz="1300" dirty="0"/>
          </a:p>
        </p:txBody>
      </p:sp>
      <p:sp>
        <p:nvSpPr>
          <p:cNvPr id="20" name="t_244"/>
          <p:cNvSpPr txBox="1"/>
          <p:nvPr/>
        </p:nvSpPr>
        <p:spPr>
          <a:xfrm>
            <a:off x="9281160" y="5074920"/>
            <a:ext cx="2194560" cy="914400"/>
          </a:xfrm>
          <a:prstGeom prst="rect">
            <a:avLst/>
          </a:prstGeom>
          <a:noFill/>
          <a:ln/>
        </p:spPr>
        <p:txBody>
          <a:bodyPr wrap="square" lIns="0" tIns="0" rIns="0" bIns="0" rtlCol="0" anchor="t"/>
          <a:lstStyle/>
          <a:p>
            <a:pPr indent="0" marL="0">
              <a:buNone/>
            </a:pPr>
            <a:r>
              <a:rPr lang="en-US" sz="1200" i="1" dirty="0">
                <a:solidFill>
                  <a:srgbClr val="D7971D"/>
                </a:solidFill>
              </a:rPr>
              <a:t>+ Authentification, profil, messagerie et documents pour tous</a:t>
            </a:r>
            <a:endParaRPr lang="en-US" sz="12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Étude de faisabilité : besoins non fonctionnels</a:t>
            </a:r>
            <a:endParaRPr lang="en-US" sz="3000" dirty="0"/>
          </a:p>
        </p:txBody>
      </p:sp>
      <p:sp>
        <p:nvSpPr>
          <p:cNvPr id="3" name="card_245"/>
          <p:cNvSpPr/>
          <p:nvPr/>
        </p:nvSpPr>
        <p:spPr>
          <a:xfrm>
            <a:off x="548640" y="1325880"/>
            <a:ext cx="3566160" cy="2286000"/>
          </a:xfrm>
          <a:prstGeom prst="roundRect">
            <a:avLst>
              <a:gd name="adj" fmla="val 4800"/>
            </a:avLst>
          </a:prstGeom>
          <a:solidFill>
            <a:schemeClr val="bg1"/>
          </a:solidFill>
          <a:ln/>
          <a:effectLst>
            <a:outerShdw sx="100000" sy="100000" kx="0" ky="0" algn="bl" rotWithShape="0" blurRad="76200" dist="19050" dir="5400000">
              <a:srgbClr val="1B2433">
                <a:alpha val="10000"/>
              </a:srgbClr>
            </a:outerShdw>
          </a:effectLst>
        </p:spPr>
      </p:sp>
      <p:sp>
        <p:nvSpPr>
          <p:cNvPr id="4" name="ic_bg_246"/>
          <p:cNvSpPr/>
          <p:nvPr/>
        </p:nvSpPr>
        <p:spPr>
          <a:xfrm>
            <a:off x="822960" y="1600200"/>
            <a:ext cx="731520" cy="731520"/>
          </a:xfrm>
          <a:prstGeom prst="ellipse">
            <a:avLst/>
          </a:prstGeom>
          <a:solidFill>
            <a:srgbClr val="0A2F5C"/>
          </a:solidFill>
          <a:ln/>
        </p:spPr>
      </p:sp>
      <p:pic>
        <p:nvPicPr>
          <p:cNvPr id="5" name="ic_247" descr="FaShieldHalved">    </p:cNvPr>
          <p:cNvPicPr>
            <a:picLocks noChangeAspect="1"/>
          </p:cNvPicPr>
          <p:nvPr/>
        </p:nvPicPr>
        <p:blipFill>
          <a:blip r:embed="rId1"/>
          <a:stretch>
            <a:fillRect/>
          </a:stretch>
        </p:blipFill>
        <p:spPr>
          <a:xfrm>
            <a:off x="1005840" y="1783080"/>
            <a:ext cx="365760" cy="365760"/>
          </a:xfrm>
          <a:prstGeom prst="rect">
            <a:avLst/>
          </a:prstGeom>
        </p:spPr>
      </p:pic>
      <p:sp>
        <p:nvSpPr>
          <p:cNvPr id="6" name="t_248"/>
          <p:cNvSpPr txBox="1"/>
          <p:nvPr/>
        </p:nvSpPr>
        <p:spPr>
          <a:xfrm>
            <a:off x="1737360" y="1709928"/>
            <a:ext cx="2194560" cy="502920"/>
          </a:xfrm>
          <a:prstGeom prst="rect">
            <a:avLst/>
          </a:prstGeom>
          <a:noFill/>
          <a:ln/>
        </p:spPr>
        <p:txBody>
          <a:bodyPr wrap="square" lIns="0" tIns="0" rIns="0" bIns="0" rtlCol="0" anchor="ctr"/>
          <a:lstStyle/>
          <a:p>
            <a:pPr indent="0" marL="0">
              <a:buNone/>
            </a:pPr>
            <a:r>
              <a:rPr lang="en-US" sz="1800" b="1" dirty="0">
                <a:solidFill>
                  <a:schemeClr val="tx2"/>
                </a:solidFill>
              </a:rPr>
              <a:t>Sécurité</a:t>
            </a:r>
            <a:endParaRPr lang="en-US" sz="1800" dirty="0"/>
          </a:p>
        </p:txBody>
      </p:sp>
      <p:sp>
        <p:nvSpPr>
          <p:cNvPr id="7" name="t_249"/>
          <p:cNvSpPr txBox="1"/>
          <p:nvPr/>
        </p:nvSpPr>
        <p:spPr>
          <a:xfrm>
            <a:off x="822960" y="2560320"/>
            <a:ext cx="3063240" cy="822960"/>
          </a:xfrm>
          <a:prstGeom prst="rect">
            <a:avLst/>
          </a:prstGeom>
          <a:noFill/>
          <a:ln/>
        </p:spPr>
        <p:txBody>
          <a:bodyPr wrap="square" lIns="0" tIns="0" rIns="0" bIns="0" rtlCol="0" anchor="t"/>
          <a:lstStyle/>
          <a:p>
            <a:pPr indent="0" marL="0">
              <a:buNone/>
            </a:pPr>
            <a:r>
              <a:rPr lang="en-US" sz="1400" dirty="0">
                <a:solidFill>
                  <a:srgbClr val="6B7585"/>
                </a:solidFill>
              </a:rPr>
              <a:t>Mots de passe hachés, cookie httpOnly, CSRF, rôles</a:t>
            </a:r>
            <a:endParaRPr lang="en-US" sz="1400" dirty="0"/>
          </a:p>
        </p:txBody>
      </p:sp>
      <p:sp>
        <p:nvSpPr>
          <p:cNvPr id="8" name="card_250"/>
          <p:cNvSpPr/>
          <p:nvPr/>
        </p:nvSpPr>
        <p:spPr>
          <a:xfrm>
            <a:off x="4279392" y="1325880"/>
            <a:ext cx="3566160" cy="2286000"/>
          </a:xfrm>
          <a:prstGeom prst="roundRect">
            <a:avLst>
              <a:gd name="adj" fmla="val 4800"/>
            </a:avLst>
          </a:prstGeom>
          <a:solidFill>
            <a:schemeClr val="bg1"/>
          </a:solidFill>
          <a:ln/>
          <a:effectLst>
            <a:outerShdw sx="100000" sy="100000" kx="0" ky="0" algn="bl" rotWithShape="0" blurRad="76200" dist="19050" dir="5400000">
              <a:srgbClr val="1B2433">
                <a:alpha val="10000"/>
              </a:srgbClr>
            </a:outerShdw>
          </a:effectLst>
        </p:spPr>
      </p:sp>
      <p:sp>
        <p:nvSpPr>
          <p:cNvPr id="9" name="ic_bg_251"/>
          <p:cNvSpPr/>
          <p:nvPr/>
        </p:nvSpPr>
        <p:spPr>
          <a:xfrm>
            <a:off x="4553712" y="1600200"/>
            <a:ext cx="731520" cy="731520"/>
          </a:xfrm>
          <a:prstGeom prst="ellipse">
            <a:avLst/>
          </a:prstGeom>
          <a:solidFill>
            <a:srgbClr val="03909E"/>
          </a:solidFill>
          <a:ln/>
        </p:spPr>
      </p:sp>
      <p:pic>
        <p:nvPicPr>
          <p:cNvPr id="10" name="ic_252" descr="FaGaugeHigh">    </p:cNvPr>
          <p:cNvPicPr>
            <a:picLocks noChangeAspect="1"/>
          </p:cNvPicPr>
          <p:nvPr/>
        </p:nvPicPr>
        <p:blipFill>
          <a:blip r:embed="rId2"/>
          <a:stretch>
            <a:fillRect/>
          </a:stretch>
        </p:blipFill>
        <p:spPr>
          <a:xfrm>
            <a:off x="4736592" y="1783080"/>
            <a:ext cx="365760" cy="365760"/>
          </a:xfrm>
          <a:prstGeom prst="rect">
            <a:avLst/>
          </a:prstGeom>
        </p:spPr>
      </p:pic>
      <p:sp>
        <p:nvSpPr>
          <p:cNvPr id="11" name="t_253"/>
          <p:cNvSpPr txBox="1"/>
          <p:nvPr/>
        </p:nvSpPr>
        <p:spPr>
          <a:xfrm>
            <a:off x="5468112" y="1709928"/>
            <a:ext cx="2194560" cy="502920"/>
          </a:xfrm>
          <a:prstGeom prst="rect">
            <a:avLst/>
          </a:prstGeom>
          <a:noFill/>
          <a:ln/>
        </p:spPr>
        <p:txBody>
          <a:bodyPr wrap="square" lIns="0" tIns="0" rIns="0" bIns="0" rtlCol="0" anchor="ctr"/>
          <a:lstStyle/>
          <a:p>
            <a:pPr indent="0" marL="0">
              <a:buNone/>
            </a:pPr>
            <a:r>
              <a:rPr lang="en-US" sz="1800" b="1" dirty="0">
                <a:solidFill>
                  <a:schemeClr val="tx2"/>
                </a:solidFill>
              </a:rPr>
              <a:t>Performance</a:t>
            </a:r>
            <a:endParaRPr lang="en-US" sz="1800" dirty="0"/>
          </a:p>
        </p:txBody>
      </p:sp>
      <p:sp>
        <p:nvSpPr>
          <p:cNvPr id="12" name="t_254"/>
          <p:cNvSpPr txBox="1"/>
          <p:nvPr/>
        </p:nvSpPr>
        <p:spPr>
          <a:xfrm>
            <a:off x="4553712" y="2560320"/>
            <a:ext cx="3063240" cy="822960"/>
          </a:xfrm>
          <a:prstGeom prst="rect">
            <a:avLst/>
          </a:prstGeom>
          <a:noFill/>
          <a:ln/>
        </p:spPr>
        <p:txBody>
          <a:bodyPr wrap="square" lIns="0" tIns="0" rIns="0" bIns="0" rtlCol="0" anchor="t"/>
          <a:lstStyle/>
          <a:p>
            <a:pPr indent="0" marL="0">
              <a:buNone/>
            </a:pPr>
            <a:r>
              <a:rPr lang="en-US" sz="1400" dirty="0">
                <a:solidFill>
                  <a:srgbClr val="6B7585"/>
                </a:solidFill>
              </a:rPr>
              <a:t>API REST, interface SPA, listes paginées</a:t>
            </a:r>
            <a:endParaRPr lang="en-US" sz="1400" dirty="0"/>
          </a:p>
        </p:txBody>
      </p:sp>
      <p:sp>
        <p:nvSpPr>
          <p:cNvPr id="13" name="card_255"/>
          <p:cNvSpPr/>
          <p:nvPr/>
        </p:nvSpPr>
        <p:spPr>
          <a:xfrm>
            <a:off x="8010144" y="1325880"/>
            <a:ext cx="3566160" cy="2286000"/>
          </a:xfrm>
          <a:prstGeom prst="roundRect">
            <a:avLst>
              <a:gd name="adj" fmla="val 4800"/>
            </a:avLst>
          </a:prstGeom>
          <a:solidFill>
            <a:schemeClr val="bg1"/>
          </a:solidFill>
          <a:ln/>
          <a:effectLst>
            <a:outerShdw sx="100000" sy="100000" kx="0" ky="0" algn="bl" rotWithShape="0" blurRad="76200" dist="19050" dir="5400000">
              <a:srgbClr val="1B2433">
                <a:alpha val="10000"/>
              </a:srgbClr>
            </a:outerShdw>
          </a:effectLst>
        </p:spPr>
      </p:sp>
      <p:sp>
        <p:nvSpPr>
          <p:cNvPr id="14" name="ic_bg_256"/>
          <p:cNvSpPr/>
          <p:nvPr/>
        </p:nvSpPr>
        <p:spPr>
          <a:xfrm>
            <a:off x="8284464" y="1600200"/>
            <a:ext cx="731520" cy="731520"/>
          </a:xfrm>
          <a:prstGeom prst="ellipse">
            <a:avLst/>
          </a:prstGeom>
          <a:solidFill>
            <a:srgbClr val="0A2F5C"/>
          </a:solidFill>
          <a:ln/>
        </p:spPr>
      </p:sp>
      <p:pic>
        <p:nvPicPr>
          <p:cNvPr id="15" name="ic_257" descr="FaClock">    </p:cNvPr>
          <p:cNvPicPr>
            <a:picLocks noChangeAspect="1"/>
          </p:cNvPicPr>
          <p:nvPr/>
        </p:nvPicPr>
        <p:blipFill>
          <a:blip r:embed="rId3"/>
          <a:stretch>
            <a:fillRect/>
          </a:stretch>
        </p:blipFill>
        <p:spPr>
          <a:xfrm>
            <a:off x="8467344" y="1783080"/>
            <a:ext cx="365760" cy="365760"/>
          </a:xfrm>
          <a:prstGeom prst="rect">
            <a:avLst/>
          </a:prstGeom>
        </p:spPr>
      </p:pic>
      <p:sp>
        <p:nvSpPr>
          <p:cNvPr id="16" name="t_258"/>
          <p:cNvSpPr txBox="1"/>
          <p:nvPr/>
        </p:nvSpPr>
        <p:spPr>
          <a:xfrm>
            <a:off x="9198864" y="1709928"/>
            <a:ext cx="2194560" cy="502920"/>
          </a:xfrm>
          <a:prstGeom prst="rect">
            <a:avLst/>
          </a:prstGeom>
          <a:noFill/>
          <a:ln/>
        </p:spPr>
        <p:txBody>
          <a:bodyPr wrap="square" lIns="0" tIns="0" rIns="0" bIns="0" rtlCol="0" anchor="ctr"/>
          <a:lstStyle/>
          <a:p>
            <a:pPr indent="0" marL="0">
              <a:buNone/>
            </a:pPr>
            <a:r>
              <a:rPr lang="en-US" sz="1800" b="1" dirty="0">
                <a:solidFill>
                  <a:schemeClr val="tx2"/>
                </a:solidFill>
              </a:rPr>
              <a:t>Disponibilité</a:t>
            </a:r>
            <a:endParaRPr lang="en-US" sz="1800" dirty="0"/>
          </a:p>
        </p:txBody>
      </p:sp>
      <p:sp>
        <p:nvSpPr>
          <p:cNvPr id="17" name="t_259"/>
          <p:cNvSpPr txBox="1"/>
          <p:nvPr/>
        </p:nvSpPr>
        <p:spPr>
          <a:xfrm>
            <a:off x="8284464" y="2560320"/>
            <a:ext cx="3063240" cy="822960"/>
          </a:xfrm>
          <a:prstGeom prst="rect">
            <a:avLst/>
          </a:prstGeom>
          <a:noFill/>
          <a:ln/>
        </p:spPr>
        <p:txBody>
          <a:bodyPr wrap="square" lIns="0" tIns="0" rIns="0" bIns="0" rtlCol="0" anchor="t"/>
          <a:lstStyle/>
          <a:p>
            <a:pPr indent="0" marL="0">
              <a:buNone/>
            </a:pPr>
            <a:r>
              <a:rPr lang="en-US" sz="1400" dirty="0">
                <a:solidFill>
                  <a:srgbClr val="6B7585"/>
                </a:solidFill>
              </a:rPr>
              <a:t>Accès 24 h / 24 depuis un navigateur</a:t>
            </a:r>
            <a:endParaRPr lang="en-US" sz="1400" dirty="0"/>
          </a:p>
        </p:txBody>
      </p:sp>
      <p:sp>
        <p:nvSpPr>
          <p:cNvPr id="18" name="card_260"/>
          <p:cNvSpPr/>
          <p:nvPr/>
        </p:nvSpPr>
        <p:spPr>
          <a:xfrm>
            <a:off x="548640" y="3840480"/>
            <a:ext cx="3566160" cy="2286000"/>
          </a:xfrm>
          <a:prstGeom prst="roundRect">
            <a:avLst>
              <a:gd name="adj" fmla="val 4800"/>
            </a:avLst>
          </a:prstGeom>
          <a:solidFill>
            <a:schemeClr val="bg1"/>
          </a:solidFill>
          <a:ln/>
          <a:effectLst>
            <a:outerShdw sx="100000" sy="100000" kx="0" ky="0" algn="bl" rotWithShape="0" blurRad="76200" dist="19050" dir="5400000">
              <a:srgbClr val="1B2433">
                <a:alpha val="10000"/>
              </a:srgbClr>
            </a:outerShdw>
          </a:effectLst>
        </p:spPr>
      </p:sp>
      <p:sp>
        <p:nvSpPr>
          <p:cNvPr id="19" name="ic_bg_261"/>
          <p:cNvSpPr/>
          <p:nvPr/>
        </p:nvSpPr>
        <p:spPr>
          <a:xfrm>
            <a:off x="822960" y="4114800"/>
            <a:ext cx="731520" cy="731520"/>
          </a:xfrm>
          <a:prstGeom prst="ellipse">
            <a:avLst/>
          </a:prstGeom>
          <a:solidFill>
            <a:srgbClr val="03909E"/>
          </a:solidFill>
          <a:ln/>
        </p:spPr>
      </p:sp>
      <p:pic>
        <p:nvPicPr>
          <p:cNvPr id="20" name="ic_262" descr="FaDesktop">    </p:cNvPr>
          <p:cNvPicPr>
            <a:picLocks noChangeAspect="1"/>
          </p:cNvPicPr>
          <p:nvPr/>
        </p:nvPicPr>
        <p:blipFill>
          <a:blip r:embed="rId4"/>
          <a:stretch>
            <a:fillRect/>
          </a:stretch>
        </p:blipFill>
        <p:spPr>
          <a:xfrm>
            <a:off x="1005840" y="4297680"/>
            <a:ext cx="365760" cy="365760"/>
          </a:xfrm>
          <a:prstGeom prst="rect">
            <a:avLst/>
          </a:prstGeom>
        </p:spPr>
      </p:pic>
      <p:sp>
        <p:nvSpPr>
          <p:cNvPr id="21" name="t_263"/>
          <p:cNvSpPr txBox="1"/>
          <p:nvPr/>
        </p:nvSpPr>
        <p:spPr>
          <a:xfrm>
            <a:off x="1737360" y="4224528"/>
            <a:ext cx="2194560" cy="502920"/>
          </a:xfrm>
          <a:prstGeom prst="rect">
            <a:avLst/>
          </a:prstGeom>
          <a:noFill/>
          <a:ln/>
        </p:spPr>
        <p:txBody>
          <a:bodyPr wrap="square" lIns="0" tIns="0" rIns="0" bIns="0" rtlCol="0" anchor="ctr"/>
          <a:lstStyle/>
          <a:p>
            <a:pPr indent="0" marL="0">
              <a:buNone/>
            </a:pPr>
            <a:r>
              <a:rPr lang="en-US" sz="1800" b="1" dirty="0">
                <a:solidFill>
                  <a:schemeClr val="tx2"/>
                </a:solidFill>
              </a:rPr>
              <a:t>Portabilité</a:t>
            </a:r>
            <a:endParaRPr lang="en-US" sz="1800" dirty="0"/>
          </a:p>
        </p:txBody>
      </p:sp>
      <p:sp>
        <p:nvSpPr>
          <p:cNvPr id="22" name="t_264"/>
          <p:cNvSpPr txBox="1"/>
          <p:nvPr/>
        </p:nvSpPr>
        <p:spPr>
          <a:xfrm>
            <a:off x="822960" y="5074920"/>
            <a:ext cx="3063240" cy="822960"/>
          </a:xfrm>
          <a:prstGeom prst="rect">
            <a:avLst/>
          </a:prstGeom>
          <a:noFill/>
          <a:ln/>
        </p:spPr>
        <p:txBody>
          <a:bodyPr wrap="square" lIns="0" tIns="0" rIns="0" bIns="0" rtlCol="0" anchor="t"/>
          <a:lstStyle/>
          <a:p>
            <a:pPr indent="0" marL="0">
              <a:buNone/>
            </a:pPr>
            <a:r>
              <a:rPr lang="en-US" sz="1400" dirty="0">
                <a:solidFill>
                  <a:srgbClr val="6B7585"/>
                </a:solidFill>
              </a:rPr>
              <a:t>Interface responsive, adaptée à tous les écrans</a:t>
            </a:r>
            <a:endParaRPr lang="en-US" sz="1400" dirty="0"/>
          </a:p>
        </p:txBody>
      </p:sp>
      <p:sp>
        <p:nvSpPr>
          <p:cNvPr id="23" name="card_265"/>
          <p:cNvSpPr/>
          <p:nvPr/>
        </p:nvSpPr>
        <p:spPr>
          <a:xfrm>
            <a:off x="4279392" y="3840480"/>
            <a:ext cx="3566160" cy="2286000"/>
          </a:xfrm>
          <a:prstGeom prst="roundRect">
            <a:avLst>
              <a:gd name="adj" fmla="val 4800"/>
            </a:avLst>
          </a:prstGeom>
          <a:solidFill>
            <a:schemeClr val="bg1"/>
          </a:solidFill>
          <a:ln/>
          <a:effectLst>
            <a:outerShdw sx="100000" sy="100000" kx="0" ky="0" algn="bl" rotWithShape="0" blurRad="76200" dist="19050" dir="5400000">
              <a:srgbClr val="1B2433">
                <a:alpha val="10000"/>
              </a:srgbClr>
            </a:outerShdw>
          </a:effectLst>
        </p:spPr>
      </p:sp>
      <p:sp>
        <p:nvSpPr>
          <p:cNvPr id="24" name="ic_bg_266"/>
          <p:cNvSpPr/>
          <p:nvPr/>
        </p:nvSpPr>
        <p:spPr>
          <a:xfrm>
            <a:off x="4553712" y="4114800"/>
            <a:ext cx="731520" cy="731520"/>
          </a:xfrm>
          <a:prstGeom prst="ellipse">
            <a:avLst/>
          </a:prstGeom>
          <a:solidFill>
            <a:srgbClr val="0A2F5C"/>
          </a:solidFill>
          <a:ln/>
        </p:spPr>
      </p:sp>
      <p:pic>
        <p:nvPicPr>
          <p:cNvPr id="25" name="ic_267" descr="FaPalette">    </p:cNvPr>
          <p:cNvPicPr>
            <a:picLocks noChangeAspect="1"/>
          </p:cNvPicPr>
          <p:nvPr/>
        </p:nvPicPr>
        <p:blipFill>
          <a:blip r:embed="rId5"/>
          <a:stretch>
            <a:fillRect/>
          </a:stretch>
        </p:blipFill>
        <p:spPr>
          <a:xfrm>
            <a:off x="4736592" y="4297680"/>
            <a:ext cx="365760" cy="365760"/>
          </a:xfrm>
          <a:prstGeom prst="rect">
            <a:avLst/>
          </a:prstGeom>
        </p:spPr>
      </p:pic>
      <p:sp>
        <p:nvSpPr>
          <p:cNvPr id="26" name="t_268"/>
          <p:cNvSpPr txBox="1"/>
          <p:nvPr/>
        </p:nvSpPr>
        <p:spPr>
          <a:xfrm>
            <a:off x="5468112" y="4224528"/>
            <a:ext cx="2194560" cy="502920"/>
          </a:xfrm>
          <a:prstGeom prst="rect">
            <a:avLst/>
          </a:prstGeom>
          <a:noFill/>
          <a:ln/>
        </p:spPr>
        <p:txBody>
          <a:bodyPr wrap="square" lIns="0" tIns="0" rIns="0" bIns="0" rtlCol="0" anchor="ctr"/>
          <a:lstStyle/>
          <a:p>
            <a:pPr indent="0" marL="0">
              <a:buNone/>
            </a:pPr>
            <a:r>
              <a:rPr lang="en-US" sz="1800" b="1" dirty="0">
                <a:solidFill>
                  <a:schemeClr val="tx2"/>
                </a:solidFill>
              </a:rPr>
              <a:t>Ergonomie</a:t>
            </a:r>
            <a:endParaRPr lang="en-US" sz="1800" dirty="0"/>
          </a:p>
        </p:txBody>
      </p:sp>
      <p:sp>
        <p:nvSpPr>
          <p:cNvPr id="27" name="t_269"/>
          <p:cNvSpPr txBox="1"/>
          <p:nvPr/>
        </p:nvSpPr>
        <p:spPr>
          <a:xfrm>
            <a:off x="4553712" y="5074920"/>
            <a:ext cx="3063240" cy="822960"/>
          </a:xfrm>
          <a:prstGeom prst="rect">
            <a:avLst/>
          </a:prstGeom>
          <a:noFill/>
          <a:ln/>
        </p:spPr>
        <p:txBody>
          <a:bodyPr wrap="square" lIns="0" tIns="0" rIns="0" bIns="0" rtlCol="0" anchor="t"/>
          <a:lstStyle/>
          <a:p>
            <a:pPr indent="0" marL="0">
              <a:buNone/>
            </a:pPr>
            <a:r>
              <a:rPr lang="en-US" sz="1400" dirty="0">
                <a:solidFill>
                  <a:srgbClr val="6B7585"/>
                </a:solidFill>
              </a:rPr>
              <a:t>Interface claire, thème clair / sombre</a:t>
            </a:r>
            <a:endParaRPr lang="en-US" sz="1400" dirty="0"/>
          </a:p>
        </p:txBody>
      </p:sp>
      <p:sp>
        <p:nvSpPr>
          <p:cNvPr id="28" name="card_270"/>
          <p:cNvSpPr/>
          <p:nvPr/>
        </p:nvSpPr>
        <p:spPr>
          <a:xfrm>
            <a:off x="8010144" y="3840480"/>
            <a:ext cx="3566160" cy="2286000"/>
          </a:xfrm>
          <a:prstGeom prst="roundRect">
            <a:avLst>
              <a:gd name="adj" fmla="val 4800"/>
            </a:avLst>
          </a:prstGeom>
          <a:solidFill>
            <a:schemeClr val="bg1"/>
          </a:solidFill>
          <a:ln/>
          <a:effectLst>
            <a:outerShdw sx="100000" sy="100000" kx="0" ky="0" algn="bl" rotWithShape="0" blurRad="76200" dist="19050" dir="5400000">
              <a:srgbClr val="1B2433">
                <a:alpha val="10000"/>
              </a:srgbClr>
            </a:outerShdw>
          </a:effectLst>
        </p:spPr>
      </p:sp>
      <p:sp>
        <p:nvSpPr>
          <p:cNvPr id="29" name="ic_bg_271"/>
          <p:cNvSpPr/>
          <p:nvPr/>
        </p:nvSpPr>
        <p:spPr>
          <a:xfrm>
            <a:off x="8284464" y="4114800"/>
            <a:ext cx="731520" cy="731520"/>
          </a:xfrm>
          <a:prstGeom prst="ellipse">
            <a:avLst/>
          </a:prstGeom>
          <a:solidFill>
            <a:srgbClr val="03909E"/>
          </a:solidFill>
          <a:ln/>
        </p:spPr>
      </p:sp>
      <p:pic>
        <p:nvPicPr>
          <p:cNvPr id="30" name="ic_272" descr="FaGears">    </p:cNvPr>
          <p:cNvPicPr>
            <a:picLocks noChangeAspect="1"/>
          </p:cNvPicPr>
          <p:nvPr/>
        </p:nvPicPr>
        <p:blipFill>
          <a:blip r:embed="rId6"/>
          <a:stretch>
            <a:fillRect/>
          </a:stretch>
        </p:blipFill>
        <p:spPr>
          <a:xfrm>
            <a:off x="8467344" y="4297680"/>
            <a:ext cx="365760" cy="365760"/>
          </a:xfrm>
          <a:prstGeom prst="rect">
            <a:avLst/>
          </a:prstGeom>
        </p:spPr>
      </p:pic>
      <p:sp>
        <p:nvSpPr>
          <p:cNvPr id="31" name="t_273"/>
          <p:cNvSpPr txBox="1"/>
          <p:nvPr/>
        </p:nvSpPr>
        <p:spPr>
          <a:xfrm>
            <a:off x="9198864" y="4224528"/>
            <a:ext cx="2194560" cy="502920"/>
          </a:xfrm>
          <a:prstGeom prst="rect">
            <a:avLst/>
          </a:prstGeom>
          <a:noFill/>
          <a:ln/>
        </p:spPr>
        <p:txBody>
          <a:bodyPr wrap="square" lIns="0" tIns="0" rIns="0" bIns="0" rtlCol="0" anchor="ctr"/>
          <a:lstStyle/>
          <a:p>
            <a:pPr indent="0" marL="0">
              <a:buNone/>
            </a:pPr>
            <a:r>
              <a:rPr lang="en-US" sz="1800" b="1" dirty="0">
                <a:solidFill>
                  <a:schemeClr val="tx2"/>
                </a:solidFill>
              </a:rPr>
              <a:t>Maintenabilité</a:t>
            </a:r>
            <a:endParaRPr lang="en-US" sz="1800" dirty="0"/>
          </a:p>
        </p:txBody>
      </p:sp>
      <p:sp>
        <p:nvSpPr>
          <p:cNvPr id="32" name="t_274"/>
          <p:cNvSpPr txBox="1"/>
          <p:nvPr/>
        </p:nvSpPr>
        <p:spPr>
          <a:xfrm>
            <a:off x="8284464" y="5074920"/>
            <a:ext cx="3063240" cy="822960"/>
          </a:xfrm>
          <a:prstGeom prst="rect">
            <a:avLst/>
          </a:prstGeom>
          <a:noFill/>
          <a:ln/>
        </p:spPr>
        <p:txBody>
          <a:bodyPr wrap="square" lIns="0" tIns="0" rIns="0" bIns="0" rtlCol="0" anchor="t"/>
          <a:lstStyle/>
          <a:p>
            <a:pPr indent="0" marL="0">
              <a:buNone/>
            </a:pPr>
            <a:r>
              <a:rPr lang="en-US" sz="1400" dirty="0">
                <a:solidFill>
                  <a:srgbClr val="6B7585"/>
                </a:solidFill>
              </a:rPr>
              <a:t>Architecture MVC, migrations versionnées</a:t>
            </a:r>
            <a:endParaRPr lang="en-US" sz="14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sec_img_275" descr="Partie conception">    </p:cNvPr>
          <p:cNvPicPr>
            <a:picLocks noChangeAspect="1"/>
          </p:cNvPicPr>
          <p:nvPr/>
        </p:nvPicPr>
        <p:blipFill>
          <a:blip r:embed="rId1"/>
          <a:stretch>
            <a:fillRect/>
          </a:stretch>
        </p:blipFill>
        <p:spPr>
          <a:xfrm>
            <a:off x="6796735" y="0"/>
            <a:ext cx="5394960" cy="6858000"/>
          </a:xfrm>
          <a:prstGeom prst="rect">
            <a:avLst/>
          </a:prstGeom>
        </p:spPr>
      </p:pic>
      <p:sp>
        <p:nvSpPr>
          <p:cNvPr id="3" name="deco_276"/>
          <p:cNvSpPr/>
          <p:nvPr/>
        </p:nvSpPr>
        <p:spPr>
          <a:xfrm>
            <a:off x="-1737360" y="-2286000"/>
            <a:ext cx="3474720" cy="3474720"/>
          </a:xfrm>
          <a:prstGeom prst="ellipse">
            <a:avLst/>
          </a:prstGeom>
          <a:solidFill>
            <a:srgbClr val="03909E">
              <a:alpha val="15000"/>
            </a:srgbClr>
          </a:solidFill>
          <a:ln/>
        </p:spPr>
      </p:sp>
      <p:sp>
        <p:nvSpPr>
          <p:cNvPr id="4" name="t_277"/>
          <p:cNvSpPr txBox="1"/>
          <p:nvPr/>
        </p:nvSpPr>
        <p:spPr>
          <a:xfrm>
            <a:off x="731520" y="1417320"/>
            <a:ext cx="2743200" cy="1280160"/>
          </a:xfrm>
          <a:prstGeom prst="rect">
            <a:avLst/>
          </a:prstGeom>
          <a:noFill/>
          <a:ln/>
        </p:spPr>
        <p:txBody>
          <a:bodyPr wrap="square" lIns="0" tIns="0" rIns="0" bIns="0" rtlCol="0" anchor="t"/>
          <a:lstStyle/>
          <a:p>
            <a:pPr indent="0" marL="0">
              <a:buNone/>
            </a:pPr>
            <a:r>
              <a:rPr lang="en-US" sz="8800" b="1" dirty="0">
                <a:solidFill>
                  <a:srgbClr val="D7971D"/>
                </a:solidFill>
                <a:latin typeface="Segoe UI Semibold" pitchFamily="34" charset="0"/>
                <a:ea typeface="Segoe UI Semibold" pitchFamily="34" charset="-122"/>
                <a:cs typeface="Segoe UI Semibold" pitchFamily="34" charset="-120"/>
              </a:rPr>
              <a:t>03</a:t>
            </a:r>
            <a:endParaRPr lang="en-US" sz="8800" dirty="0"/>
          </a:p>
        </p:txBody>
      </p:sp>
      <p:sp>
        <p:nvSpPr>
          <p:cNvPr id="5" name="Text 0"/>
          <p:cNvSpPr/>
          <p:nvPr>
            <p:ph idx="100" type="title" hasCustomPrompt="1"/>
          </p:nvPr>
        </p:nvSpPr>
        <p:spPr>
          <a:xfrm>
            <a:off x="731520" y="2788920"/>
            <a:ext cx="548640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Segoe UI Semibold" pitchFamily="34" charset="0"/>
                <a:ea typeface="Segoe UI Semibold" pitchFamily="34" charset="-122"/>
                <a:cs typeface="Segoe UI Semibold" pitchFamily="34" charset="-120"/>
              </a:rPr>
              <a:t>Partie conception</a:t>
            </a:r>
            <a:endParaRPr lang="en-US" sz="4000" dirty="0"/>
          </a:p>
        </p:txBody>
      </p:sp>
      <p:sp>
        <p:nvSpPr>
          <p:cNvPr id="6" name="t_278"/>
          <p:cNvSpPr txBox="1"/>
          <p:nvPr/>
        </p:nvSpPr>
        <p:spPr>
          <a:xfrm>
            <a:off x="731520" y="4251960"/>
            <a:ext cx="5486400" cy="1097280"/>
          </a:xfrm>
          <a:prstGeom prst="rect">
            <a:avLst/>
          </a:prstGeom>
          <a:noFill/>
          <a:ln/>
        </p:spPr>
        <p:txBody>
          <a:bodyPr wrap="square" lIns="0" tIns="0" rIns="0" bIns="0" rtlCol="0" anchor="t"/>
          <a:lstStyle/>
          <a:p>
            <a:pPr indent="0" marL="0">
              <a:buNone/>
            </a:pPr>
            <a:r>
              <a:rPr lang="en-US" sz="1600" dirty="0">
                <a:solidFill>
                  <a:srgbClr val="CFE3F0"/>
                </a:solidFill>
              </a:rPr>
              <a:t>Acteurs, méthode SCRUM, solution informatique et modélisation UML</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Les acteurs</a:t>
            </a:r>
            <a:endParaRPr lang="en-US" sz="3000" dirty="0"/>
          </a:p>
        </p:txBody>
      </p:sp>
      <p:sp>
        <p:nvSpPr>
          <p:cNvPr id="3" name="card_279"/>
          <p:cNvSpPr/>
          <p:nvPr/>
        </p:nvSpPr>
        <p:spPr>
          <a:xfrm>
            <a:off x="548640" y="1280160"/>
            <a:ext cx="2651760" cy="4206240"/>
          </a:xfrm>
          <a:prstGeom prst="roundRect">
            <a:avLst>
              <a:gd name="adj" fmla="val 4138"/>
            </a:avLst>
          </a:prstGeom>
          <a:solidFill>
            <a:schemeClr val="bg1"/>
          </a:solidFill>
          <a:ln/>
          <a:effectLst>
            <a:outerShdw sx="100000" sy="100000" kx="0" ky="0" algn="bl" rotWithShape="0" blurRad="76200" dist="19050" dir="5400000">
              <a:srgbClr val="1B2433">
                <a:alpha val="10000"/>
              </a:srgbClr>
            </a:outerShdw>
          </a:effectLst>
        </p:spPr>
      </p:sp>
      <p:sp>
        <p:nvSpPr>
          <p:cNvPr id="4" name="ic_bg_280"/>
          <p:cNvSpPr/>
          <p:nvPr/>
        </p:nvSpPr>
        <p:spPr>
          <a:xfrm>
            <a:off x="1417320" y="1508760"/>
            <a:ext cx="914400" cy="914400"/>
          </a:xfrm>
          <a:prstGeom prst="ellipse">
            <a:avLst/>
          </a:prstGeom>
          <a:solidFill>
            <a:srgbClr val="0A2F5C"/>
          </a:solidFill>
          <a:ln/>
        </p:spPr>
      </p:sp>
      <p:pic>
        <p:nvPicPr>
          <p:cNvPr id="5" name="ic_281" descr="FaUserTie">    </p:cNvPr>
          <p:cNvPicPr>
            <a:picLocks noChangeAspect="1"/>
          </p:cNvPicPr>
          <p:nvPr/>
        </p:nvPicPr>
        <p:blipFill>
          <a:blip r:embed="rId1"/>
          <a:stretch>
            <a:fillRect/>
          </a:stretch>
        </p:blipFill>
        <p:spPr>
          <a:xfrm>
            <a:off x="1645920" y="1737360"/>
            <a:ext cx="457200" cy="457200"/>
          </a:xfrm>
          <a:prstGeom prst="rect">
            <a:avLst/>
          </a:prstGeom>
        </p:spPr>
      </p:pic>
      <p:sp>
        <p:nvSpPr>
          <p:cNvPr id="6" name="t_282"/>
          <p:cNvSpPr txBox="1"/>
          <p:nvPr/>
        </p:nvSpPr>
        <p:spPr>
          <a:xfrm>
            <a:off x="640080" y="2560320"/>
            <a:ext cx="2468880" cy="411480"/>
          </a:xfrm>
          <a:prstGeom prst="rect">
            <a:avLst/>
          </a:prstGeom>
          <a:noFill/>
          <a:ln/>
        </p:spPr>
        <p:txBody>
          <a:bodyPr wrap="square" lIns="0" tIns="0" rIns="0" bIns="0" rtlCol="0" anchor="t"/>
          <a:lstStyle/>
          <a:p>
            <a:pPr algn="ctr" indent="0" marL="0">
              <a:buNone/>
            </a:pPr>
            <a:r>
              <a:rPr lang="en-US" sz="1800" b="1" dirty="0">
                <a:solidFill>
                  <a:schemeClr val="tx2"/>
                </a:solidFill>
              </a:rPr>
              <a:t>Administration</a:t>
            </a:r>
            <a:endParaRPr lang="en-US" sz="1800" dirty="0"/>
          </a:p>
        </p:txBody>
      </p:sp>
      <p:pic>
        <p:nvPicPr>
          <p:cNvPr id="7" name="act_shot_283" descr="Administration">    </p:cNvPr>
          <p:cNvPicPr>
            <a:picLocks noChangeAspect="1"/>
          </p:cNvPicPr>
          <p:nvPr/>
        </p:nvPicPr>
        <p:blipFill>
          <a:blip r:embed="rId2"/>
          <a:stretch>
            <a:fillRect/>
          </a:stretch>
        </p:blipFill>
        <p:spPr>
          <a:xfrm>
            <a:off x="685800" y="3154680"/>
            <a:ext cx="2377440" cy="1419332"/>
          </a:xfrm>
          <a:prstGeom prst="rect">
            <a:avLst/>
          </a:prstGeom>
        </p:spPr>
      </p:pic>
      <p:sp>
        <p:nvSpPr>
          <p:cNvPr id="8" name="card_284"/>
          <p:cNvSpPr/>
          <p:nvPr/>
        </p:nvSpPr>
        <p:spPr>
          <a:xfrm>
            <a:off x="3364992" y="1280160"/>
            <a:ext cx="2651760" cy="4206240"/>
          </a:xfrm>
          <a:prstGeom prst="roundRect">
            <a:avLst>
              <a:gd name="adj" fmla="val 4138"/>
            </a:avLst>
          </a:prstGeom>
          <a:solidFill>
            <a:schemeClr val="bg1"/>
          </a:solidFill>
          <a:ln/>
          <a:effectLst>
            <a:outerShdw sx="100000" sy="100000" kx="0" ky="0" algn="bl" rotWithShape="0" blurRad="76200" dist="19050" dir="5400000">
              <a:srgbClr val="1B2433">
                <a:alpha val="10000"/>
              </a:srgbClr>
            </a:outerShdw>
          </a:effectLst>
        </p:spPr>
      </p:sp>
      <p:sp>
        <p:nvSpPr>
          <p:cNvPr id="9" name="ic_bg_285"/>
          <p:cNvSpPr/>
          <p:nvPr/>
        </p:nvSpPr>
        <p:spPr>
          <a:xfrm>
            <a:off x="4233672" y="1508760"/>
            <a:ext cx="914400" cy="914400"/>
          </a:xfrm>
          <a:prstGeom prst="ellipse">
            <a:avLst/>
          </a:prstGeom>
          <a:solidFill>
            <a:srgbClr val="03909E"/>
          </a:solidFill>
          <a:ln/>
        </p:spPr>
      </p:sp>
      <p:pic>
        <p:nvPicPr>
          <p:cNvPr id="10" name="ic_286" descr="FaChalkboardUser">    </p:cNvPr>
          <p:cNvPicPr>
            <a:picLocks noChangeAspect="1"/>
          </p:cNvPicPr>
          <p:nvPr/>
        </p:nvPicPr>
        <p:blipFill>
          <a:blip r:embed="rId3"/>
          <a:stretch>
            <a:fillRect/>
          </a:stretch>
        </p:blipFill>
        <p:spPr>
          <a:xfrm>
            <a:off x="4462272" y="1737360"/>
            <a:ext cx="457200" cy="457200"/>
          </a:xfrm>
          <a:prstGeom prst="rect">
            <a:avLst/>
          </a:prstGeom>
        </p:spPr>
      </p:pic>
      <p:sp>
        <p:nvSpPr>
          <p:cNvPr id="11" name="t_287"/>
          <p:cNvSpPr txBox="1"/>
          <p:nvPr/>
        </p:nvSpPr>
        <p:spPr>
          <a:xfrm>
            <a:off x="3456432" y="2560320"/>
            <a:ext cx="2468880" cy="411480"/>
          </a:xfrm>
          <a:prstGeom prst="rect">
            <a:avLst/>
          </a:prstGeom>
          <a:noFill/>
          <a:ln/>
        </p:spPr>
        <p:txBody>
          <a:bodyPr wrap="square" lIns="0" tIns="0" rIns="0" bIns="0" rtlCol="0" anchor="t"/>
          <a:lstStyle/>
          <a:p>
            <a:pPr algn="ctr" indent="0" marL="0">
              <a:buNone/>
            </a:pPr>
            <a:r>
              <a:rPr lang="en-US" sz="1800" b="1" dirty="0">
                <a:solidFill>
                  <a:schemeClr val="tx2"/>
                </a:solidFill>
              </a:rPr>
              <a:t>Enseignant</a:t>
            </a:r>
            <a:endParaRPr lang="en-US" sz="1800" dirty="0"/>
          </a:p>
        </p:txBody>
      </p:sp>
      <p:pic>
        <p:nvPicPr>
          <p:cNvPr id="12" name="act_shot_288" descr="Enseignant">    </p:cNvPr>
          <p:cNvPicPr>
            <a:picLocks noChangeAspect="1"/>
          </p:cNvPicPr>
          <p:nvPr/>
        </p:nvPicPr>
        <p:blipFill>
          <a:blip r:embed="rId4"/>
          <a:stretch>
            <a:fillRect/>
          </a:stretch>
        </p:blipFill>
        <p:spPr>
          <a:xfrm>
            <a:off x="3502152" y="3154680"/>
            <a:ext cx="2377440" cy="1419332"/>
          </a:xfrm>
          <a:prstGeom prst="rect">
            <a:avLst/>
          </a:prstGeom>
        </p:spPr>
      </p:pic>
      <p:sp>
        <p:nvSpPr>
          <p:cNvPr id="13" name="card_289"/>
          <p:cNvSpPr/>
          <p:nvPr/>
        </p:nvSpPr>
        <p:spPr>
          <a:xfrm>
            <a:off x="6181344" y="1280160"/>
            <a:ext cx="2651760" cy="4206240"/>
          </a:xfrm>
          <a:prstGeom prst="roundRect">
            <a:avLst>
              <a:gd name="adj" fmla="val 4138"/>
            </a:avLst>
          </a:prstGeom>
          <a:solidFill>
            <a:schemeClr val="bg1"/>
          </a:solidFill>
          <a:ln/>
          <a:effectLst>
            <a:outerShdw sx="100000" sy="100000" kx="0" ky="0" algn="bl" rotWithShape="0" blurRad="76200" dist="19050" dir="5400000">
              <a:srgbClr val="1B2433">
                <a:alpha val="10000"/>
              </a:srgbClr>
            </a:outerShdw>
          </a:effectLst>
        </p:spPr>
      </p:sp>
      <p:sp>
        <p:nvSpPr>
          <p:cNvPr id="14" name="ic_bg_290"/>
          <p:cNvSpPr/>
          <p:nvPr/>
        </p:nvSpPr>
        <p:spPr>
          <a:xfrm>
            <a:off x="7050024" y="1508760"/>
            <a:ext cx="914400" cy="914400"/>
          </a:xfrm>
          <a:prstGeom prst="ellipse">
            <a:avLst/>
          </a:prstGeom>
          <a:solidFill>
            <a:srgbClr val="D7971D"/>
          </a:solidFill>
          <a:ln/>
        </p:spPr>
      </p:sp>
      <p:pic>
        <p:nvPicPr>
          <p:cNvPr id="15" name="ic_291" descr="FaUserGraduate">    </p:cNvPr>
          <p:cNvPicPr>
            <a:picLocks noChangeAspect="1"/>
          </p:cNvPicPr>
          <p:nvPr/>
        </p:nvPicPr>
        <p:blipFill>
          <a:blip r:embed="rId5"/>
          <a:stretch>
            <a:fillRect/>
          </a:stretch>
        </p:blipFill>
        <p:spPr>
          <a:xfrm>
            <a:off x="7278624" y="1737360"/>
            <a:ext cx="457200" cy="457200"/>
          </a:xfrm>
          <a:prstGeom prst="rect">
            <a:avLst/>
          </a:prstGeom>
        </p:spPr>
      </p:pic>
      <p:sp>
        <p:nvSpPr>
          <p:cNvPr id="16" name="t_292"/>
          <p:cNvSpPr txBox="1"/>
          <p:nvPr/>
        </p:nvSpPr>
        <p:spPr>
          <a:xfrm>
            <a:off x="6272784" y="2560320"/>
            <a:ext cx="2468880" cy="411480"/>
          </a:xfrm>
          <a:prstGeom prst="rect">
            <a:avLst/>
          </a:prstGeom>
          <a:noFill/>
          <a:ln/>
        </p:spPr>
        <p:txBody>
          <a:bodyPr wrap="square" lIns="0" tIns="0" rIns="0" bIns="0" rtlCol="0" anchor="t"/>
          <a:lstStyle/>
          <a:p>
            <a:pPr algn="ctr" indent="0" marL="0">
              <a:buNone/>
            </a:pPr>
            <a:r>
              <a:rPr lang="en-US" sz="1800" b="1" dirty="0">
                <a:solidFill>
                  <a:schemeClr val="tx2"/>
                </a:solidFill>
              </a:rPr>
              <a:t>Stagiaire</a:t>
            </a:r>
            <a:endParaRPr lang="en-US" sz="1800" dirty="0"/>
          </a:p>
        </p:txBody>
      </p:sp>
      <p:pic>
        <p:nvPicPr>
          <p:cNvPr id="17" name="act_shot_293" descr="Stagiaire">    </p:cNvPr>
          <p:cNvPicPr>
            <a:picLocks noChangeAspect="1"/>
          </p:cNvPicPr>
          <p:nvPr/>
        </p:nvPicPr>
        <p:blipFill>
          <a:blip r:embed="rId6"/>
          <a:stretch>
            <a:fillRect/>
          </a:stretch>
        </p:blipFill>
        <p:spPr>
          <a:xfrm>
            <a:off x="6318504" y="3154680"/>
            <a:ext cx="2377440" cy="1419332"/>
          </a:xfrm>
          <a:prstGeom prst="rect">
            <a:avLst/>
          </a:prstGeom>
        </p:spPr>
      </p:pic>
      <p:sp>
        <p:nvSpPr>
          <p:cNvPr id="18" name="card_294"/>
          <p:cNvSpPr/>
          <p:nvPr/>
        </p:nvSpPr>
        <p:spPr>
          <a:xfrm>
            <a:off x="8997696" y="1280160"/>
            <a:ext cx="2651760" cy="4206240"/>
          </a:xfrm>
          <a:prstGeom prst="roundRect">
            <a:avLst>
              <a:gd name="adj" fmla="val 4138"/>
            </a:avLst>
          </a:prstGeom>
          <a:solidFill>
            <a:schemeClr val="bg1"/>
          </a:solidFill>
          <a:ln/>
          <a:effectLst>
            <a:outerShdw sx="100000" sy="100000" kx="0" ky="0" algn="bl" rotWithShape="0" blurRad="76200" dist="19050" dir="5400000">
              <a:srgbClr val="1B2433">
                <a:alpha val="10000"/>
              </a:srgbClr>
            </a:outerShdw>
          </a:effectLst>
        </p:spPr>
      </p:sp>
      <p:sp>
        <p:nvSpPr>
          <p:cNvPr id="19" name="ic_bg_295"/>
          <p:cNvSpPr/>
          <p:nvPr/>
        </p:nvSpPr>
        <p:spPr>
          <a:xfrm>
            <a:off x="9866376" y="1508760"/>
            <a:ext cx="914400" cy="914400"/>
          </a:xfrm>
          <a:prstGeom prst="ellipse">
            <a:avLst/>
          </a:prstGeom>
          <a:solidFill>
            <a:srgbClr val="3F4652"/>
          </a:solidFill>
          <a:ln/>
        </p:spPr>
      </p:sp>
      <p:pic>
        <p:nvPicPr>
          <p:cNvPr id="20" name="ic_296" descr="FaUser">    </p:cNvPr>
          <p:cNvPicPr>
            <a:picLocks noChangeAspect="1"/>
          </p:cNvPicPr>
          <p:nvPr/>
        </p:nvPicPr>
        <p:blipFill>
          <a:blip r:embed="rId7"/>
          <a:stretch>
            <a:fillRect/>
          </a:stretch>
        </p:blipFill>
        <p:spPr>
          <a:xfrm>
            <a:off x="10094976" y="1737360"/>
            <a:ext cx="457200" cy="457200"/>
          </a:xfrm>
          <a:prstGeom prst="rect">
            <a:avLst/>
          </a:prstGeom>
        </p:spPr>
      </p:pic>
      <p:sp>
        <p:nvSpPr>
          <p:cNvPr id="21" name="t_297"/>
          <p:cNvSpPr txBox="1"/>
          <p:nvPr/>
        </p:nvSpPr>
        <p:spPr>
          <a:xfrm>
            <a:off x="9089136" y="2560320"/>
            <a:ext cx="2468880" cy="411480"/>
          </a:xfrm>
          <a:prstGeom prst="rect">
            <a:avLst/>
          </a:prstGeom>
          <a:noFill/>
          <a:ln/>
        </p:spPr>
        <p:txBody>
          <a:bodyPr wrap="square" lIns="0" tIns="0" rIns="0" bIns="0" rtlCol="0" anchor="t"/>
          <a:lstStyle/>
          <a:p>
            <a:pPr algn="ctr" indent="0" marL="0">
              <a:buNone/>
            </a:pPr>
            <a:r>
              <a:rPr lang="en-US" sz="1800" b="1" dirty="0">
                <a:solidFill>
                  <a:schemeClr val="tx2"/>
                </a:solidFill>
              </a:rPr>
              <a:t>Visiteur</a:t>
            </a:r>
            <a:endParaRPr lang="en-US" sz="1800" dirty="0"/>
          </a:p>
        </p:txBody>
      </p:sp>
      <p:pic>
        <p:nvPicPr>
          <p:cNvPr id="22" name="act_shot_298" descr="Visiteur">    </p:cNvPr>
          <p:cNvPicPr>
            <a:picLocks noChangeAspect="1"/>
          </p:cNvPicPr>
          <p:nvPr/>
        </p:nvPicPr>
        <p:blipFill>
          <a:blip r:embed="rId8"/>
          <a:stretch>
            <a:fillRect/>
          </a:stretch>
        </p:blipFill>
        <p:spPr>
          <a:xfrm>
            <a:off x="9134856" y="3154680"/>
            <a:ext cx="2377440" cy="1419332"/>
          </a:xfrm>
          <a:prstGeom prst="rect">
            <a:avLst/>
          </a:prstGeom>
        </p:spPr>
      </p:pic>
      <p:sp>
        <p:nvSpPr>
          <p:cNvPr id="23" name="card_299"/>
          <p:cNvSpPr/>
          <p:nvPr/>
        </p:nvSpPr>
        <p:spPr>
          <a:xfrm>
            <a:off x="548640" y="5669280"/>
            <a:ext cx="11109960" cy="640080"/>
          </a:xfrm>
          <a:prstGeom prst="roundRect">
            <a:avLst>
              <a:gd name="adj" fmla="val 17143"/>
            </a:avLst>
          </a:prstGeom>
          <a:solidFill>
            <a:schemeClr val="bg1"/>
          </a:solidFill>
          <a:ln/>
          <a:effectLst>
            <a:outerShdw sx="100000" sy="100000" kx="0" ky="0" algn="bl" rotWithShape="0" blurRad="76200" dist="19050" dir="5400000">
              <a:srgbClr val="1B2433">
                <a:alpha val="10000"/>
              </a:srgbClr>
            </a:outerShdw>
          </a:effectLst>
        </p:spPr>
      </p:sp>
      <p:pic>
        <p:nvPicPr>
          <p:cNvPr id="24" name="gemini_ic" descr="API Gemini">    </p:cNvPr>
          <p:cNvPicPr>
            <a:picLocks noChangeAspect="1"/>
          </p:cNvPicPr>
          <p:nvPr/>
        </p:nvPicPr>
        <p:blipFill>
          <a:blip r:embed="rId9"/>
          <a:stretch>
            <a:fillRect/>
          </a:stretch>
        </p:blipFill>
        <p:spPr>
          <a:xfrm>
            <a:off x="777240" y="5788152"/>
            <a:ext cx="402336" cy="402336"/>
          </a:xfrm>
          <a:prstGeom prst="rect">
            <a:avLst/>
          </a:prstGeom>
        </p:spPr>
      </p:pic>
      <p:sp>
        <p:nvSpPr>
          <p:cNvPr id="25" name="t_300"/>
          <p:cNvSpPr txBox="1"/>
          <p:nvPr/>
        </p:nvSpPr>
        <p:spPr>
          <a:xfrm>
            <a:off x="1325880" y="5669280"/>
            <a:ext cx="10058400" cy="640080"/>
          </a:xfrm>
          <a:prstGeom prst="rect">
            <a:avLst/>
          </a:prstGeom>
          <a:noFill/>
          <a:ln/>
        </p:spPr>
        <p:txBody>
          <a:bodyPr wrap="square" lIns="0" tIns="0" rIns="0" bIns="0" rtlCol="0" anchor="ctr"/>
          <a:lstStyle/>
          <a:p>
            <a:pPr indent="0" marL="0">
              <a:buNone/>
            </a:pPr>
            <a:r>
              <a:rPr lang="en-US" sz="1400" b="1" dirty="0">
                <a:solidFill>
                  <a:schemeClr val="tx2"/>
                </a:solidFill>
              </a:rPr>
              <a:t>Système externe : </a:t>
            </a:r>
            <a:pPr indent="0" marL="0">
              <a:buNone/>
            </a:pPr>
            <a:r>
              <a:rPr lang="en-US" sz="1400" dirty="0">
                <a:solidFill>
                  <a:srgbClr val="3F4652"/>
                </a:solidFill>
              </a:rPr>
              <a:t>API Gemini, utilisée par l'assistant intelligent</a:t>
            </a:r>
            <a:endParaRPr lang="en-US" sz="14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Méthodologie agile SCRUM</a:t>
            </a:r>
            <a:endParaRPr lang="en-US" sz="3000" dirty="0"/>
          </a:p>
        </p:txBody>
      </p:sp>
      <p:sp>
        <p:nvSpPr>
          <p:cNvPr id="3" name="card_301"/>
          <p:cNvSpPr/>
          <p:nvPr/>
        </p:nvSpPr>
        <p:spPr>
          <a:xfrm>
            <a:off x="548640" y="1234440"/>
            <a:ext cx="6126480" cy="5029200"/>
          </a:xfrm>
          <a:prstGeom prst="roundRect">
            <a:avLst>
              <a:gd name="adj" fmla="val 2182"/>
            </a:avLst>
          </a:prstGeom>
          <a:solidFill>
            <a:schemeClr val="bg1"/>
          </a:solidFill>
          <a:ln/>
          <a:effectLst>
            <a:outerShdw sx="100000" sy="100000" kx="0" ky="0" algn="bl" rotWithShape="0" blurRad="127000" dist="38100" dir="5400000">
              <a:srgbClr val="1B2433">
                <a:alpha val="14000"/>
              </a:srgbClr>
            </a:outerShdw>
          </a:effectLst>
        </p:spPr>
      </p:sp>
      <p:pic>
        <p:nvPicPr>
          <p:cNvPr id="4" name="fig_302" descr="figure">    </p:cNvPr>
          <p:cNvPicPr>
            <a:picLocks noChangeAspect="1"/>
          </p:cNvPicPr>
          <p:nvPr/>
        </p:nvPicPr>
        <p:blipFill>
          <a:blip r:embed="rId1"/>
          <a:stretch>
            <a:fillRect/>
          </a:stretch>
        </p:blipFill>
        <p:spPr>
          <a:xfrm>
            <a:off x="658368" y="2590716"/>
            <a:ext cx="5907024" cy="2316648"/>
          </a:xfrm>
          <a:prstGeom prst="rect">
            <a:avLst/>
          </a:prstGeom>
        </p:spPr>
      </p:pic>
      <p:sp>
        <p:nvSpPr>
          <p:cNvPr id="5" name="card_303"/>
          <p:cNvSpPr/>
          <p:nvPr/>
        </p:nvSpPr>
        <p:spPr>
          <a:xfrm>
            <a:off x="6903720" y="1234440"/>
            <a:ext cx="4754880" cy="5029200"/>
          </a:xfrm>
          <a:prstGeom prst="roundRect">
            <a:avLst>
              <a:gd name="adj" fmla="val 2308"/>
            </a:avLst>
          </a:prstGeom>
          <a:solidFill>
            <a:schemeClr val="bg1"/>
          </a:solidFill>
          <a:ln/>
          <a:effectLst>
            <a:outerShdw sx="100000" sy="100000" kx="0" ky="0" algn="bl" rotWithShape="0" blurRad="76200" dist="19050" dir="5400000">
              <a:srgbClr val="1B2433">
                <a:alpha val="10000"/>
              </a:srgbClr>
            </a:outerShdw>
          </a:effectLst>
        </p:spPr>
      </p:sp>
      <p:sp>
        <p:nvSpPr>
          <p:cNvPr id="6" name="t_304"/>
          <p:cNvSpPr txBox="1"/>
          <p:nvPr/>
        </p:nvSpPr>
        <p:spPr>
          <a:xfrm>
            <a:off x="7132320" y="1371600"/>
            <a:ext cx="4389120" cy="365760"/>
          </a:xfrm>
          <a:prstGeom prst="rect">
            <a:avLst/>
          </a:prstGeom>
          <a:noFill/>
          <a:ln/>
        </p:spPr>
        <p:txBody>
          <a:bodyPr wrap="square" lIns="0" tIns="0" rIns="0" bIns="0" rtlCol="0" anchor="t"/>
          <a:lstStyle/>
          <a:p>
            <a:pPr indent="0" marL="0">
              <a:buNone/>
            </a:pPr>
            <a:r>
              <a:rPr lang="en-US" sz="1400" b="1" dirty="0">
                <a:solidFill>
                  <a:schemeClr val="accent1"/>
                </a:solidFill>
              </a:rPr>
              <a:t>7 sprints  ·  déc. 2025 → sept. 2026</a:t>
            </a:r>
            <a:endParaRPr lang="en-US" sz="1400" dirty="0"/>
          </a:p>
        </p:txBody>
      </p:sp>
      <p:sp>
        <p:nvSpPr>
          <p:cNvPr id="7" name="sp_305"/>
          <p:cNvSpPr/>
          <p:nvPr/>
        </p:nvSpPr>
        <p:spPr>
          <a:xfrm>
            <a:off x="7132320" y="1901952"/>
            <a:ext cx="548640" cy="402336"/>
          </a:xfrm>
          <a:prstGeom prst="roundRect">
            <a:avLst>
              <a:gd name="adj" fmla="val 18182"/>
            </a:avLst>
          </a:prstGeom>
          <a:solidFill>
            <a:srgbClr val="0A2F5C"/>
          </a:solidFill>
          <a:ln/>
        </p:spPr>
      </p:sp>
      <p:sp>
        <p:nvSpPr>
          <p:cNvPr id="8" name="t_306"/>
          <p:cNvSpPr txBox="1"/>
          <p:nvPr/>
        </p:nvSpPr>
        <p:spPr>
          <a:xfrm>
            <a:off x="7132320" y="1901952"/>
            <a:ext cx="548640" cy="402336"/>
          </a:xfrm>
          <a:prstGeom prst="rect">
            <a:avLst/>
          </a:prstGeom>
          <a:noFill/>
          <a:ln/>
        </p:spPr>
        <p:txBody>
          <a:bodyPr wrap="square" lIns="0" tIns="0" rIns="0" bIns="0" rtlCol="0" anchor="ctr"/>
          <a:lstStyle/>
          <a:p>
            <a:pPr algn="ctr" indent="0" marL="0">
              <a:buNone/>
            </a:pPr>
            <a:r>
              <a:rPr lang="en-US" sz="1300" b="1" dirty="0">
                <a:solidFill>
                  <a:srgbClr val="FFFFFF"/>
                </a:solidFill>
              </a:rPr>
              <a:t>S1</a:t>
            </a:r>
            <a:endParaRPr lang="en-US" sz="1300" dirty="0"/>
          </a:p>
        </p:txBody>
      </p:sp>
      <p:sp>
        <p:nvSpPr>
          <p:cNvPr id="9" name="t_307"/>
          <p:cNvSpPr txBox="1"/>
          <p:nvPr/>
        </p:nvSpPr>
        <p:spPr>
          <a:xfrm>
            <a:off x="7818120" y="1847088"/>
            <a:ext cx="2606040" cy="512064"/>
          </a:xfrm>
          <a:prstGeom prst="rect">
            <a:avLst/>
          </a:prstGeom>
          <a:noFill/>
          <a:ln/>
        </p:spPr>
        <p:txBody>
          <a:bodyPr wrap="square" lIns="0" tIns="0" rIns="0" bIns="0" rtlCol="0" anchor="ctr"/>
          <a:lstStyle/>
          <a:p>
            <a:pPr indent="0" marL="0">
              <a:buNone/>
            </a:pPr>
            <a:r>
              <a:rPr lang="en-US" sz="1300" dirty="0">
                <a:solidFill>
                  <a:srgbClr val="1B2433"/>
                </a:solidFill>
              </a:rPr>
              <a:t>Initialisation, API et espace stagiaire</a:t>
            </a:r>
            <a:endParaRPr lang="en-US" sz="1300" dirty="0"/>
          </a:p>
        </p:txBody>
      </p:sp>
      <p:sp>
        <p:nvSpPr>
          <p:cNvPr id="10" name="t_308"/>
          <p:cNvSpPr txBox="1"/>
          <p:nvPr/>
        </p:nvSpPr>
        <p:spPr>
          <a:xfrm>
            <a:off x="10424160" y="1847088"/>
            <a:ext cx="1097280" cy="512064"/>
          </a:xfrm>
          <a:prstGeom prst="rect">
            <a:avLst/>
          </a:prstGeom>
          <a:noFill/>
          <a:ln/>
        </p:spPr>
        <p:txBody>
          <a:bodyPr wrap="square" lIns="0" tIns="0" rIns="0" bIns="0" rtlCol="0" anchor="ctr"/>
          <a:lstStyle/>
          <a:p>
            <a:pPr algn="r" indent="0" marL="0">
              <a:buNone/>
            </a:pPr>
            <a:r>
              <a:rPr lang="en-US" sz="1100" dirty="0">
                <a:solidFill>
                  <a:srgbClr val="6B7585"/>
                </a:solidFill>
              </a:rPr>
              <a:t>déc. 2025</a:t>
            </a:r>
            <a:endParaRPr lang="en-US" sz="1100" dirty="0"/>
          </a:p>
        </p:txBody>
      </p:sp>
      <p:sp>
        <p:nvSpPr>
          <p:cNvPr id="11" name="sp_309"/>
          <p:cNvSpPr/>
          <p:nvPr/>
        </p:nvSpPr>
        <p:spPr>
          <a:xfrm>
            <a:off x="7132320" y="2523744"/>
            <a:ext cx="548640" cy="402336"/>
          </a:xfrm>
          <a:prstGeom prst="roundRect">
            <a:avLst>
              <a:gd name="adj" fmla="val 18182"/>
            </a:avLst>
          </a:prstGeom>
          <a:solidFill>
            <a:srgbClr val="0A2F5C"/>
          </a:solidFill>
          <a:ln/>
        </p:spPr>
      </p:sp>
      <p:sp>
        <p:nvSpPr>
          <p:cNvPr id="12" name="t_310"/>
          <p:cNvSpPr txBox="1"/>
          <p:nvPr/>
        </p:nvSpPr>
        <p:spPr>
          <a:xfrm>
            <a:off x="7132320" y="2523744"/>
            <a:ext cx="548640" cy="402336"/>
          </a:xfrm>
          <a:prstGeom prst="rect">
            <a:avLst/>
          </a:prstGeom>
          <a:noFill/>
          <a:ln/>
        </p:spPr>
        <p:txBody>
          <a:bodyPr wrap="square" lIns="0" tIns="0" rIns="0" bIns="0" rtlCol="0" anchor="ctr"/>
          <a:lstStyle/>
          <a:p>
            <a:pPr algn="ctr" indent="0" marL="0">
              <a:buNone/>
            </a:pPr>
            <a:r>
              <a:rPr lang="en-US" sz="1300" b="1" dirty="0">
                <a:solidFill>
                  <a:srgbClr val="FFFFFF"/>
                </a:solidFill>
              </a:rPr>
              <a:t>S2</a:t>
            </a:r>
            <a:endParaRPr lang="en-US" sz="1300" dirty="0"/>
          </a:p>
        </p:txBody>
      </p:sp>
      <p:sp>
        <p:nvSpPr>
          <p:cNvPr id="13" name="t_311"/>
          <p:cNvSpPr txBox="1"/>
          <p:nvPr/>
        </p:nvSpPr>
        <p:spPr>
          <a:xfrm>
            <a:off x="7818120" y="2468880"/>
            <a:ext cx="2606040" cy="512064"/>
          </a:xfrm>
          <a:prstGeom prst="rect">
            <a:avLst/>
          </a:prstGeom>
          <a:noFill/>
          <a:ln/>
        </p:spPr>
        <p:txBody>
          <a:bodyPr wrap="square" lIns="0" tIns="0" rIns="0" bIns="0" rtlCol="0" anchor="ctr"/>
          <a:lstStyle/>
          <a:p>
            <a:pPr indent="0" marL="0">
              <a:buNone/>
            </a:pPr>
            <a:r>
              <a:rPr lang="en-US" sz="1300" dirty="0">
                <a:solidFill>
                  <a:srgbClr val="1B2433"/>
                </a:solidFill>
              </a:rPr>
              <a:t>Panneau d'administration</a:t>
            </a:r>
            <a:endParaRPr lang="en-US" sz="1300" dirty="0"/>
          </a:p>
        </p:txBody>
      </p:sp>
      <p:sp>
        <p:nvSpPr>
          <p:cNvPr id="14" name="t_312"/>
          <p:cNvSpPr txBox="1"/>
          <p:nvPr/>
        </p:nvSpPr>
        <p:spPr>
          <a:xfrm>
            <a:off x="10424160" y="2468880"/>
            <a:ext cx="1097280" cy="512064"/>
          </a:xfrm>
          <a:prstGeom prst="rect">
            <a:avLst/>
          </a:prstGeom>
          <a:noFill/>
          <a:ln/>
        </p:spPr>
        <p:txBody>
          <a:bodyPr wrap="square" lIns="0" tIns="0" rIns="0" bIns="0" rtlCol="0" anchor="ctr"/>
          <a:lstStyle/>
          <a:p>
            <a:pPr algn="r" indent="0" marL="0">
              <a:buNone/>
            </a:pPr>
            <a:r>
              <a:rPr lang="en-US" sz="1100" dirty="0">
                <a:solidFill>
                  <a:srgbClr val="6B7585"/>
                </a:solidFill>
              </a:rPr>
              <a:t>déc. – janv.</a:t>
            </a:r>
            <a:endParaRPr lang="en-US" sz="1100" dirty="0"/>
          </a:p>
        </p:txBody>
      </p:sp>
      <p:sp>
        <p:nvSpPr>
          <p:cNvPr id="15" name="sp_313"/>
          <p:cNvSpPr/>
          <p:nvPr/>
        </p:nvSpPr>
        <p:spPr>
          <a:xfrm>
            <a:off x="7132320" y="3145536"/>
            <a:ext cx="548640" cy="402336"/>
          </a:xfrm>
          <a:prstGeom prst="roundRect">
            <a:avLst>
              <a:gd name="adj" fmla="val 18182"/>
            </a:avLst>
          </a:prstGeom>
          <a:solidFill>
            <a:srgbClr val="0A2F5C"/>
          </a:solidFill>
          <a:ln/>
        </p:spPr>
      </p:sp>
      <p:sp>
        <p:nvSpPr>
          <p:cNvPr id="16" name="t_314"/>
          <p:cNvSpPr txBox="1"/>
          <p:nvPr/>
        </p:nvSpPr>
        <p:spPr>
          <a:xfrm>
            <a:off x="7132320" y="3145536"/>
            <a:ext cx="548640" cy="402336"/>
          </a:xfrm>
          <a:prstGeom prst="rect">
            <a:avLst/>
          </a:prstGeom>
          <a:noFill/>
          <a:ln/>
        </p:spPr>
        <p:txBody>
          <a:bodyPr wrap="square" lIns="0" tIns="0" rIns="0" bIns="0" rtlCol="0" anchor="ctr"/>
          <a:lstStyle/>
          <a:p>
            <a:pPr algn="ctr" indent="0" marL="0">
              <a:buNone/>
            </a:pPr>
            <a:r>
              <a:rPr lang="en-US" sz="1300" b="1" dirty="0">
                <a:solidFill>
                  <a:srgbClr val="FFFFFF"/>
                </a:solidFill>
              </a:rPr>
              <a:t>S3</a:t>
            </a:r>
            <a:endParaRPr lang="en-US" sz="1300" dirty="0"/>
          </a:p>
        </p:txBody>
      </p:sp>
      <p:sp>
        <p:nvSpPr>
          <p:cNvPr id="17" name="t_315"/>
          <p:cNvSpPr txBox="1"/>
          <p:nvPr/>
        </p:nvSpPr>
        <p:spPr>
          <a:xfrm>
            <a:off x="7818120" y="3090672"/>
            <a:ext cx="2606040" cy="512064"/>
          </a:xfrm>
          <a:prstGeom prst="rect">
            <a:avLst/>
          </a:prstGeom>
          <a:noFill/>
          <a:ln/>
        </p:spPr>
        <p:txBody>
          <a:bodyPr wrap="square" lIns="0" tIns="0" rIns="0" bIns="0" rtlCol="0" anchor="ctr"/>
          <a:lstStyle/>
          <a:p>
            <a:pPr indent="0" marL="0">
              <a:buNone/>
            </a:pPr>
            <a:r>
              <a:rPr lang="en-US" sz="1300" dirty="0">
                <a:solidFill>
                  <a:srgbClr val="1B2433"/>
                </a:solidFill>
              </a:rPr>
              <a:t>Inscription en ligne, révision de la BDD</a:t>
            </a:r>
            <a:endParaRPr lang="en-US" sz="1300" dirty="0"/>
          </a:p>
        </p:txBody>
      </p:sp>
      <p:sp>
        <p:nvSpPr>
          <p:cNvPr id="18" name="t_316"/>
          <p:cNvSpPr txBox="1"/>
          <p:nvPr/>
        </p:nvSpPr>
        <p:spPr>
          <a:xfrm>
            <a:off x="10424160" y="3090672"/>
            <a:ext cx="1097280" cy="512064"/>
          </a:xfrm>
          <a:prstGeom prst="rect">
            <a:avLst/>
          </a:prstGeom>
          <a:noFill/>
          <a:ln/>
        </p:spPr>
        <p:txBody>
          <a:bodyPr wrap="square" lIns="0" tIns="0" rIns="0" bIns="0" rtlCol="0" anchor="ctr"/>
          <a:lstStyle/>
          <a:p>
            <a:pPr algn="r" indent="0" marL="0">
              <a:buNone/>
            </a:pPr>
            <a:r>
              <a:rPr lang="en-US" sz="1100" dirty="0">
                <a:solidFill>
                  <a:srgbClr val="6B7585"/>
                </a:solidFill>
              </a:rPr>
              <a:t>janv. – fév.</a:t>
            </a:r>
            <a:endParaRPr lang="en-US" sz="1100" dirty="0"/>
          </a:p>
        </p:txBody>
      </p:sp>
      <p:sp>
        <p:nvSpPr>
          <p:cNvPr id="19" name="sp_317"/>
          <p:cNvSpPr/>
          <p:nvPr/>
        </p:nvSpPr>
        <p:spPr>
          <a:xfrm>
            <a:off x="7132320" y="3767328"/>
            <a:ext cx="548640" cy="402336"/>
          </a:xfrm>
          <a:prstGeom prst="roundRect">
            <a:avLst>
              <a:gd name="adj" fmla="val 18182"/>
            </a:avLst>
          </a:prstGeom>
          <a:solidFill>
            <a:srgbClr val="0A2F5C"/>
          </a:solidFill>
          <a:ln/>
        </p:spPr>
      </p:sp>
      <p:sp>
        <p:nvSpPr>
          <p:cNvPr id="20" name="t_318"/>
          <p:cNvSpPr txBox="1"/>
          <p:nvPr/>
        </p:nvSpPr>
        <p:spPr>
          <a:xfrm>
            <a:off x="7132320" y="3767328"/>
            <a:ext cx="548640" cy="402336"/>
          </a:xfrm>
          <a:prstGeom prst="rect">
            <a:avLst/>
          </a:prstGeom>
          <a:noFill/>
          <a:ln/>
        </p:spPr>
        <p:txBody>
          <a:bodyPr wrap="square" lIns="0" tIns="0" rIns="0" bIns="0" rtlCol="0" anchor="ctr"/>
          <a:lstStyle/>
          <a:p>
            <a:pPr algn="ctr" indent="0" marL="0">
              <a:buNone/>
            </a:pPr>
            <a:r>
              <a:rPr lang="en-US" sz="1300" b="1" dirty="0">
                <a:solidFill>
                  <a:srgbClr val="FFFFFF"/>
                </a:solidFill>
              </a:rPr>
              <a:t>S4</a:t>
            </a:r>
            <a:endParaRPr lang="en-US" sz="1300" dirty="0"/>
          </a:p>
        </p:txBody>
      </p:sp>
      <p:sp>
        <p:nvSpPr>
          <p:cNvPr id="21" name="t_319"/>
          <p:cNvSpPr txBox="1"/>
          <p:nvPr/>
        </p:nvSpPr>
        <p:spPr>
          <a:xfrm>
            <a:off x="7818120" y="3712464"/>
            <a:ext cx="2606040" cy="512064"/>
          </a:xfrm>
          <a:prstGeom prst="rect">
            <a:avLst/>
          </a:prstGeom>
          <a:noFill/>
          <a:ln/>
        </p:spPr>
        <p:txBody>
          <a:bodyPr wrap="square" lIns="0" tIns="0" rIns="0" bIns="0" rtlCol="0" anchor="ctr"/>
          <a:lstStyle/>
          <a:p>
            <a:pPr indent="0" marL="0">
              <a:buNone/>
            </a:pPr>
            <a:r>
              <a:rPr lang="en-US" sz="1300" dirty="0">
                <a:solidFill>
                  <a:srgbClr val="1B2433"/>
                </a:solidFill>
              </a:rPr>
              <a:t>Emplois du temps par session</a:t>
            </a:r>
            <a:endParaRPr lang="en-US" sz="1300" dirty="0"/>
          </a:p>
        </p:txBody>
      </p:sp>
      <p:sp>
        <p:nvSpPr>
          <p:cNvPr id="22" name="t_320"/>
          <p:cNvSpPr txBox="1"/>
          <p:nvPr/>
        </p:nvSpPr>
        <p:spPr>
          <a:xfrm>
            <a:off x="10424160" y="3712464"/>
            <a:ext cx="1097280" cy="512064"/>
          </a:xfrm>
          <a:prstGeom prst="rect">
            <a:avLst/>
          </a:prstGeom>
          <a:noFill/>
          <a:ln/>
        </p:spPr>
        <p:txBody>
          <a:bodyPr wrap="square" lIns="0" tIns="0" rIns="0" bIns="0" rtlCol="0" anchor="ctr"/>
          <a:lstStyle/>
          <a:p>
            <a:pPr algn="r" indent="0" marL="0">
              <a:buNone/>
            </a:pPr>
            <a:r>
              <a:rPr lang="en-US" sz="1100" dirty="0">
                <a:solidFill>
                  <a:srgbClr val="6B7585"/>
                </a:solidFill>
              </a:rPr>
              <a:t>fév. – mars</a:t>
            </a:r>
            <a:endParaRPr lang="en-US" sz="1100" dirty="0"/>
          </a:p>
        </p:txBody>
      </p:sp>
      <p:sp>
        <p:nvSpPr>
          <p:cNvPr id="23" name="sp_321"/>
          <p:cNvSpPr/>
          <p:nvPr/>
        </p:nvSpPr>
        <p:spPr>
          <a:xfrm>
            <a:off x="7132320" y="4389120"/>
            <a:ext cx="548640" cy="402336"/>
          </a:xfrm>
          <a:prstGeom prst="roundRect">
            <a:avLst>
              <a:gd name="adj" fmla="val 18182"/>
            </a:avLst>
          </a:prstGeom>
          <a:solidFill>
            <a:srgbClr val="0A2F5C"/>
          </a:solidFill>
          <a:ln/>
        </p:spPr>
      </p:sp>
      <p:sp>
        <p:nvSpPr>
          <p:cNvPr id="24" name="t_322"/>
          <p:cNvSpPr txBox="1"/>
          <p:nvPr/>
        </p:nvSpPr>
        <p:spPr>
          <a:xfrm>
            <a:off x="7132320" y="4389120"/>
            <a:ext cx="548640" cy="402336"/>
          </a:xfrm>
          <a:prstGeom prst="rect">
            <a:avLst/>
          </a:prstGeom>
          <a:noFill/>
          <a:ln/>
        </p:spPr>
        <p:txBody>
          <a:bodyPr wrap="square" lIns="0" tIns="0" rIns="0" bIns="0" rtlCol="0" anchor="ctr"/>
          <a:lstStyle/>
          <a:p>
            <a:pPr algn="ctr" indent="0" marL="0">
              <a:buNone/>
            </a:pPr>
            <a:r>
              <a:rPr lang="en-US" sz="1300" b="1" dirty="0">
                <a:solidFill>
                  <a:srgbClr val="FFFFFF"/>
                </a:solidFill>
              </a:rPr>
              <a:t>S5</a:t>
            </a:r>
            <a:endParaRPr lang="en-US" sz="1300" dirty="0"/>
          </a:p>
        </p:txBody>
      </p:sp>
      <p:sp>
        <p:nvSpPr>
          <p:cNvPr id="25" name="t_323"/>
          <p:cNvSpPr txBox="1"/>
          <p:nvPr/>
        </p:nvSpPr>
        <p:spPr>
          <a:xfrm>
            <a:off x="7818120" y="4334256"/>
            <a:ext cx="2606040" cy="512064"/>
          </a:xfrm>
          <a:prstGeom prst="rect">
            <a:avLst/>
          </a:prstGeom>
          <a:noFill/>
          <a:ln/>
        </p:spPr>
        <p:txBody>
          <a:bodyPr wrap="square" lIns="0" tIns="0" rIns="0" bIns="0" rtlCol="0" anchor="ctr"/>
          <a:lstStyle/>
          <a:p>
            <a:pPr indent="0" marL="0">
              <a:buNone/>
            </a:pPr>
            <a:r>
              <a:rPr lang="en-US" sz="1300" dirty="0">
                <a:solidFill>
                  <a:srgbClr val="1B2433"/>
                </a:solidFill>
              </a:rPr>
              <a:t>Espace enseignant et assistant</a:t>
            </a:r>
            <a:endParaRPr lang="en-US" sz="1300" dirty="0"/>
          </a:p>
        </p:txBody>
      </p:sp>
      <p:sp>
        <p:nvSpPr>
          <p:cNvPr id="26" name="t_324"/>
          <p:cNvSpPr txBox="1"/>
          <p:nvPr/>
        </p:nvSpPr>
        <p:spPr>
          <a:xfrm>
            <a:off x="10424160" y="4334256"/>
            <a:ext cx="1097280" cy="512064"/>
          </a:xfrm>
          <a:prstGeom prst="rect">
            <a:avLst/>
          </a:prstGeom>
          <a:noFill/>
          <a:ln/>
        </p:spPr>
        <p:txBody>
          <a:bodyPr wrap="square" lIns="0" tIns="0" rIns="0" bIns="0" rtlCol="0" anchor="ctr"/>
          <a:lstStyle/>
          <a:p>
            <a:pPr algn="r" indent="0" marL="0">
              <a:buNone/>
            </a:pPr>
            <a:r>
              <a:rPr lang="en-US" sz="1100" dirty="0">
                <a:solidFill>
                  <a:srgbClr val="6B7585"/>
                </a:solidFill>
              </a:rPr>
              <a:t>mars – avr.</a:t>
            </a:r>
            <a:endParaRPr lang="en-US" sz="1100" dirty="0"/>
          </a:p>
        </p:txBody>
      </p:sp>
      <p:sp>
        <p:nvSpPr>
          <p:cNvPr id="27" name="sp_325"/>
          <p:cNvSpPr/>
          <p:nvPr/>
        </p:nvSpPr>
        <p:spPr>
          <a:xfrm>
            <a:off x="7132320" y="5010912"/>
            <a:ext cx="548640" cy="402336"/>
          </a:xfrm>
          <a:prstGeom prst="roundRect">
            <a:avLst>
              <a:gd name="adj" fmla="val 18182"/>
            </a:avLst>
          </a:prstGeom>
          <a:solidFill>
            <a:srgbClr val="0A2F5C"/>
          </a:solidFill>
          <a:ln/>
        </p:spPr>
      </p:sp>
      <p:sp>
        <p:nvSpPr>
          <p:cNvPr id="28" name="t_326"/>
          <p:cNvSpPr txBox="1"/>
          <p:nvPr/>
        </p:nvSpPr>
        <p:spPr>
          <a:xfrm>
            <a:off x="7132320" y="5010912"/>
            <a:ext cx="548640" cy="402336"/>
          </a:xfrm>
          <a:prstGeom prst="rect">
            <a:avLst/>
          </a:prstGeom>
          <a:noFill/>
          <a:ln/>
        </p:spPr>
        <p:txBody>
          <a:bodyPr wrap="square" lIns="0" tIns="0" rIns="0" bIns="0" rtlCol="0" anchor="ctr"/>
          <a:lstStyle/>
          <a:p>
            <a:pPr algn="ctr" indent="0" marL="0">
              <a:buNone/>
            </a:pPr>
            <a:r>
              <a:rPr lang="en-US" sz="1300" b="1" dirty="0">
                <a:solidFill>
                  <a:srgbClr val="FFFFFF"/>
                </a:solidFill>
              </a:rPr>
              <a:t>S6</a:t>
            </a:r>
            <a:endParaRPr lang="en-US" sz="1300" dirty="0"/>
          </a:p>
        </p:txBody>
      </p:sp>
      <p:sp>
        <p:nvSpPr>
          <p:cNvPr id="29" name="t_327"/>
          <p:cNvSpPr txBox="1"/>
          <p:nvPr/>
        </p:nvSpPr>
        <p:spPr>
          <a:xfrm>
            <a:off x="7818120" y="4956048"/>
            <a:ext cx="2606040" cy="512064"/>
          </a:xfrm>
          <a:prstGeom prst="rect">
            <a:avLst/>
          </a:prstGeom>
          <a:noFill/>
          <a:ln/>
        </p:spPr>
        <p:txBody>
          <a:bodyPr wrap="square" lIns="0" tIns="0" rIns="0" bIns="0" rtlCol="0" anchor="ctr"/>
          <a:lstStyle/>
          <a:p>
            <a:pPr indent="0" marL="0">
              <a:buNone/>
            </a:pPr>
            <a:r>
              <a:rPr lang="en-US" sz="1300" dirty="0">
                <a:solidFill>
                  <a:srgbClr val="1B2433"/>
                </a:solidFill>
              </a:rPr>
              <a:t>Délibérations, passage, sécurité</a:t>
            </a:r>
            <a:endParaRPr lang="en-US" sz="1300" dirty="0"/>
          </a:p>
        </p:txBody>
      </p:sp>
      <p:sp>
        <p:nvSpPr>
          <p:cNvPr id="30" name="t_328"/>
          <p:cNvSpPr txBox="1"/>
          <p:nvPr/>
        </p:nvSpPr>
        <p:spPr>
          <a:xfrm>
            <a:off x="10424160" y="4956048"/>
            <a:ext cx="1097280" cy="512064"/>
          </a:xfrm>
          <a:prstGeom prst="rect">
            <a:avLst/>
          </a:prstGeom>
          <a:noFill/>
          <a:ln/>
        </p:spPr>
        <p:txBody>
          <a:bodyPr wrap="square" lIns="0" tIns="0" rIns="0" bIns="0" rtlCol="0" anchor="ctr"/>
          <a:lstStyle/>
          <a:p>
            <a:pPr algn="r" indent="0" marL="0">
              <a:buNone/>
            </a:pPr>
            <a:r>
              <a:rPr lang="en-US" sz="1100" dirty="0">
                <a:solidFill>
                  <a:srgbClr val="6B7585"/>
                </a:solidFill>
              </a:rPr>
              <a:t>avr. – juil.</a:t>
            </a:r>
            <a:endParaRPr lang="en-US" sz="1100" dirty="0"/>
          </a:p>
        </p:txBody>
      </p:sp>
      <p:sp>
        <p:nvSpPr>
          <p:cNvPr id="31" name="sp_329"/>
          <p:cNvSpPr/>
          <p:nvPr/>
        </p:nvSpPr>
        <p:spPr>
          <a:xfrm>
            <a:off x="7132320" y="5632704"/>
            <a:ext cx="548640" cy="402336"/>
          </a:xfrm>
          <a:prstGeom prst="roundRect">
            <a:avLst>
              <a:gd name="adj" fmla="val 18182"/>
            </a:avLst>
          </a:prstGeom>
          <a:solidFill>
            <a:srgbClr val="D7971D"/>
          </a:solidFill>
          <a:ln/>
        </p:spPr>
      </p:sp>
      <p:sp>
        <p:nvSpPr>
          <p:cNvPr id="32" name="t_330"/>
          <p:cNvSpPr txBox="1"/>
          <p:nvPr/>
        </p:nvSpPr>
        <p:spPr>
          <a:xfrm>
            <a:off x="7132320" y="5632704"/>
            <a:ext cx="548640" cy="402336"/>
          </a:xfrm>
          <a:prstGeom prst="rect">
            <a:avLst/>
          </a:prstGeom>
          <a:noFill/>
          <a:ln/>
        </p:spPr>
        <p:txBody>
          <a:bodyPr wrap="square" lIns="0" tIns="0" rIns="0" bIns="0" rtlCol="0" anchor="ctr"/>
          <a:lstStyle/>
          <a:p>
            <a:pPr algn="ctr" indent="0" marL="0">
              <a:buNone/>
            </a:pPr>
            <a:r>
              <a:rPr lang="en-US" sz="1300" b="1" dirty="0">
                <a:solidFill>
                  <a:srgbClr val="FFFFFF"/>
                </a:solidFill>
              </a:rPr>
              <a:t>S7</a:t>
            </a:r>
            <a:endParaRPr lang="en-US" sz="1300" dirty="0"/>
          </a:p>
        </p:txBody>
      </p:sp>
      <p:sp>
        <p:nvSpPr>
          <p:cNvPr id="33" name="t_331"/>
          <p:cNvSpPr txBox="1"/>
          <p:nvPr/>
        </p:nvSpPr>
        <p:spPr>
          <a:xfrm>
            <a:off x="7818120" y="5577840"/>
            <a:ext cx="2606040" cy="512064"/>
          </a:xfrm>
          <a:prstGeom prst="rect">
            <a:avLst/>
          </a:prstGeom>
          <a:noFill/>
          <a:ln/>
        </p:spPr>
        <p:txBody>
          <a:bodyPr wrap="square" lIns="0" tIns="0" rIns="0" bIns="0" rtlCol="0" anchor="ctr"/>
          <a:lstStyle/>
          <a:p>
            <a:pPr indent="0" marL="0">
              <a:buNone/>
            </a:pPr>
            <a:r>
              <a:rPr lang="en-US" sz="1300" dirty="0">
                <a:solidFill>
                  <a:srgbClr val="1B2433"/>
                </a:solidFill>
              </a:rPr>
              <a:t>Tests, corrections, documentation</a:t>
            </a:r>
            <a:endParaRPr lang="en-US" sz="1300" dirty="0"/>
          </a:p>
        </p:txBody>
      </p:sp>
      <p:sp>
        <p:nvSpPr>
          <p:cNvPr id="34" name="t_332"/>
          <p:cNvSpPr txBox="1"/>
          <p:nvPr/>
        </p:nvSpPr>
        <p:spPr>
          <a:xfrm>
            <a:off x="10424160" y="5577840"/>
            <a:ext cx="1097280" cy="512064"/>
          </a:xfrm>
          <a:prstGeom prst="rect">
            <a:avLst/>
          </a:prstGeom>
          <a:noFill/>
          <a:ln/>
        </p:spPr>
        <p:txBody>
          <a:bodyPr wrap="square" lIns="0" tIns="0" rIns="0" bIns="0" rtlCol="0" anchor="ctr"/>
          <a:lstStyle/>
          <a:p>
            <a:pPr algn="r" indent="0" marL="0">
              <a:buNone/>
            </a:pPr>
            <a:r>
              <a:rPr lang="en-US" sz="1100" dirty="0">
                <a:solidFill>
                  <a:srgbClr val="6B7585"/>
                </a:solidFill>
              </a:rPr>
              <a:t>juil. – sept.</a:t>
            </a:r>
            <a:endParaRPr lang="en-US" sz="11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Solution informatique : architecture</a:t>
            </a:r>
            <a:endParaRPr lang="en-US" sz="3000" dirty="0"/>
          </a:p>
        </p:txBody>
      </p:sp>
      <p:sp>
        <p:nvSpPr>
          <p:cNvPr id="3" name="card_333"/>
          <p:cNvSpPr/>
          <p:nvPr/>
        </p:nvSpPr>
        <p:spPr>
          <a:xfrm>
            <a:off x="548640" y="1234440"/>
            <a:ext cx="7680960" cy="5029200"/>
          </a:xfrm>
          <a:prstGeom prst="roundRect">
            <a:avLst>
              <a:gd name="adj" fmla="val 2182"/>
            </a:avLst>
          </a:prstGeom>
          <a:solidFill>
            <a:schemeClr val="bg1"/>
          </a:solidFill>
          <a:ln/>
          <a:effectLst>
            <a:outerShdw sx="100000" sy="100000" kx="0" ky="0" algn="bl" rotWithShape="0" blurRad="127000" dist="38100" dir="5400000">
              <a:srgbClr val="1B2433">
                <a:alpha val="14000"/>
              </a:srgbClr>
            </a:outerShdw>
          </a:effectLst>
        </p:spPr>
      </p:sp>
      <p:pic>
        <p:nvPicPr>
          <p:cNvPr id="4" name="fig_334" descr="Architecture de la solution">    </p:cNvPr>
          <p:cNvPicPr>
            <a:picLocks noChangeAspect="1"/>
          </p:cNvPicPr>
          <p:nvPr/>
        </p:nvPicPr>
        <p:blipFill>
          <a:blip r:embed="rId1"/>
          <a:stretch>
            <a:fillRect/>
          </a:stretch>
        </p:blipFill>
        <p:spPr>
          <a:xfrm>
            <a:off x="658368" y="1651736"/>
            <a:ext cx="7461504" cy="3883713"/>
          </a:xfrm>
          <a:prstGeom prst="rect">
            <a:avLst/>
          </a:prstGeom>
        </p:spPr>
      </p:pic>
      <p:sp>
        <p:nvSpPr>
          <p:cNvPr id="5" name="cap_335"/>
          <p:cNvSpPr txBox="1"/>
          <p:nvPr/>
        </p:nvSpPr>
        <p:spPr>
          <a:xfrm>
            <a:off x="658368" y="5897880"/>
            <a:ext cx="7461504" cy="310896"/>
          </a:xfrm>
          <a:prstGeom prst="rect">
            <a:avLst/>
          </a:prstGeom>
          <a:noFill/>
          <a:ln/>
        </p:spPr>
        <p:txBody>
          <a:bodyPr wrap="square" lIns="0" tIns="0" rIns="0" bIns="0" rtlCol="0" anchor="ctr"/>
          <a:lstStyle/>
          <a:p>
            <a:pPr algn="ctr" indent="0" marL="0">
              <a:buNone/>
            </a:pPr>
            <a:r>
              <a:rPr lang="en-US" sz="1100" i="1" dirty="0">
                <a:solidFill>
                  <a:schemeClr val="tx2"/>
                </a:solidFill>
              </a:rPr>
              <a:t>Architecture de la solution</a:t>
            </a:r>
            <a:endParaRPr lang="en-US" sz="1100" dirty="0"/>
          </a:p>
        </p:txBody>
      </p:sp>
      <p:sp>
        <p:nvSpPr>
          <p:cNvPr id="6" name="card_336"/>
          <p:cNvSpPr/>
          <p:nvPr/>
        </p:nvSpPr>
        <p:spPr>
          <a:xfrm>
            <a:off x="8458200" y="1234440"/>
            <a:ext cx="3200400" cy="1554480"/>
          </a:xfrm>
          <a:prstGeom prst="roundRect">
            <a:avLst>
              <a:gd name="adj" fmla="val 7059"/>
            </a:avLst>
          </a:prstGeom>
          <a:solidFill>
            <a:schemeClr val="bg1"/>
          </a:solidFill>
          <a:ln/>
          <a:effectLst>
            <a:outerShdw sx="100000" sy="100000" kx="0" ky="0" algn="bl" rotWithShape="0" blurRad="76200" dist="19050" dir="5400000">
              <a:srgbClr val="1B2433">
                <a:alpha val="10000"/>
              </a:srgbClr>
            </a:outerShdw>
          </a:effectLst>
        </p:spPr>
      </p:sp>
      <p:sp>
        <p:nvSpPr>
          <p:cNvPr id="7" name="ic_bg_337"/>
          <p:cNvSpPr/>
          <p:nvPr/>
        </p:nvSpPr>
        <p:spPr>
          <a:xfrm>
            <a:off x="8641080" y="1463040"/>
            <a:ext cx="640080" cy="640080"/>
          </a:xfrm>
          <a:prstGeom prst="ellipse">
            <a:avLst/>
          </a:prstGeom>
          <a:solidFill>
            <a:srgbClr val="03909E"/>
          </a:solidFill>
          <a:ln/>
        </p:spPr>
      </p:sp>
      <p:pic>
        <p:nvPicPr>
          <p:cNvPr id="8" name="ic_338" descr="FaDesktop">    </p:cNvPr>
          <p:cNvPicPr>
            <a:picLocks noChangeAspect="1"/>
          </p:cNvPicPr>
          <p:nvPr/>
        </p:nvPicPr>
        <p:blipFill>
          <a:blip r:embed="rId2"/>
          <a:stretch>
            <a:fillRect/>
          </a:stretch>
        </p:blipFill>
        <p:spPr>
          <a:xfrm>
            <a:off x="8801100" y="1623060"/>
            <a:ext cx="320040" cy="320040"/>
          </a:xfrm>
          <a:prstGeom prst="rect">
            <a:avLst/>
          </a:prstGeom>
        </p:spPr>
      </p:pic>
      <p:sp>
        <p:nvSpPr>
          <p:cNvPr id="9" name="t_339"/>
          <p:cNvSpPr txBox="1"/>
          <p:nvPr/>
        </p:nvSpPr>
        <p:spPr>
          <a:xfrm>
            <a:off x="9418320" y="1463040"/>
            <a:ext cx="2103120" cy="640080"/>
          </a:xfrm>
          <a:prstGeom prst="rect">
            <a:avLst/>
          </a:prstGeom>
          <a:noFill/>
          <a:ln/>
        </p:spPr>
        <p:txBody>
          <a:bodyPr wrap="square" lIns="0" tIns="0" rIns="0" bIns="0" rtlCol="0" anchor="ctr"/>
          <a:lstStyle/>
          <a:p>
            <a:pPr indent="0" marL="0">
              <a:buNone/>
            </a:pPr>
            <a:r>
              <a:rPr lang="en-US" sz="1700" b="1" dirty="0">
                <a:solidFill>
                  <a:schemeClr val="tx2"/>
                </a:solidFill>
              </a:rPr>
              <a:t>Présentation</a:t>
            </a:r>
            <a:endParaRPr lang="en-US" sz="1700" dirty="0"/>
          </a:p>
        </p:txBody>
      </p:sp>
      <p:sp>
        <p:nvSpPr>
          <p:cNvPr id="10" name="t_340"/>
          <p:cNvSpPr txBox="1"/>
          <p:nvPr/>
        </p:nvSpPr>
        <p:spPr>
          <a:xfrm>
            <a:off x="8641080" y="2194560"/>
            <a:ext cx="2880360" cy="457200"/>
          </a:xfrm>
          <a:prstGeom prst="rect">
            <a:avLst/>
          </a:prstGeom>
          <a:noFill/>
          <a:ln/>
        </p:spPr>
        <p:txBody>
          <a:bodyPr wrap="square" lIns="0" tIns="0" rIns="0" bIns="0" rtlCol="0" anchor="t"/>
          <a:lstStyle/>
          <a:p>
            <a:pPr indent="0" marL="0">
              <a:buNone/>
            </a:pPr>
            <a:r>
              <a:rPr lang="en-US" sz="1300" dirty="0">
                <a:solidFill>
                  <a:srgbClr val="6B7585"/>
                </a:solidFill>
              </a:rPr>
              <a:t>SPA Vue.js + Tailwind CSS</a:t>
            </a:r>
            <a:endParaRPr lang="en-US" sz="1300" dirty="0"/>
          </a:p>
        </p:txBody>
      </p:sp>
      <p:sp>
        <p:nvSpPr>
          <p:cNvPr id="11" name="card_341"/>
          <p:cNvSpPr/>
          <p:nvPr/>
        </p:nvSpPr>
        <p:spPr>
          <a:xfrm>
            <a:off x="8458200" y="2953512"/>
            <a:ext cx="3200400" cy="1554480"/>
          </a:xfrm>
          <a:prstGeom prst="roundRect">
            <a:avLst>
              <a:gd name="adj" fmla="val 7059"/>
            </a:avLst>
          </a:prstGeom>
          <a:solidFill>
            <a:schemeClr val="bg1"/>
          </a:solidFill>
          <a:ln/>
          <a:effectLst>
            <a:outerShdw sx="100000" sy="100000" kx="0" ky="0" algn="bl" rotWithShape="0" blurRad="76200" dist="19050" dir="5400000">
              <a:srgbClr val="1B2433">
                <a:alpha val="10000"/>
              </a:srgbClr>
            </a:outerShdw>
          </a:effectLst>
        </p:spPr>
      </p:sp>
      <p:sp>
        <p:nvSpPr>
          <p:cNvPr id="12" name="ic_bg_342"/>
          <p:cNvSpPr/>
          <p:nvPr/>
        </p:nvSpPr>
        <p:spPr>
          <a:xfrm>
            <a:off x="8641080" y="3182112"/>
            <a:ext cx="640080" cy="640080"/>
          </a:xfrm>
          <a:prstGeom prst="ellipse">
            <a:avLst/>
          </a:prstGeom>
          <a:solidFill>
            <a:srgbClr val="0A2F5C"/>
          </a:solidFill>
          <a:ln/>
        </p:spPr>
      </p:sp>
      <p:pic>
        <p:nvPicPr>
          <p:cNvPr id="13" name="ic_343" descr="FaServer">    </p:cNvPr>
          <p:cNvPicPr>
            <a:picLocks noChangeAspect="1"/>
          </p:cNvPicPr>
          <p:nvPr/>
        </p:nvPicPr>
        <p:blipFill>
          <a:blip r:embed="rId3"/>
          <a:stretch>
            <a:fillRect/>
          </a:stretch>
        </p:blipFill>
        <p:spPr>
          <a:xfrm>
            <a:off x="8801100" y="3342132"/>
            <a:ext cx="320040" cy="320040"/>
          </a:xfrm>
          <a:prstGeom prst="rect">
            <a:avLst/>
          </a:prstGeom>
        </p:spPr>
      </p:pic>
      <p:sp>
        <p:nvSpPr>
          <p:cNvPr id="14" name="t_344"/>
          <p:cNvSpPr txBox="1"/>
          <p:nvPr/>
        </p:nvSpPr>
        <p:spPr>
          <a:xfrm>
            <a:off x="9418320" y="3182112"/>
            <a:ext cx="2103120" cy="640080"/>
          </a:xfrm>
          <a:prstGeom prst="rect">
            <a:avLst/>
          </a:prstGeom>
          <a:noFill/>
          <a:ln/>
        </p:spPr>
        <p:txBody>
          <a:bodyPr wrap="square" lIns="0" tIns="0" rIns="0" bIns="0" rtlCol="0" anchor="ctr"/>
          <a:lstStyle/>
          <a:p>
            <a:pPr indent="0" marL="0">
              <a:buNone/>
            </a:pPr>
            <a:r>
              <a:rPr lang="en-US" sz="1700" b="1" dirty="0">
                <a:solidFill>
                  <a:schemeClr val="tx2"/>
                </a:solidFill>
              </a:rPr>
              <a:t>Métier</a:t>
            </a:r>
            <a:endParaRPr lang="en-US" sz="1700" dirty="0"/>
          </a:p>
        </p:txBody>
      </p:sp>
      <p:sp>
        <p:nvSpPr>
          <p:cNvPr id="15" name="t_345"/>
          <p:cNvSpPr txBox="1"/>
          <p:nvPr/>
        </p:nvSpPr>
        <p:spPr>
          <a:xfrm>
            <a:off x="8641080" y="3913632"/>
            <a:ext cx="2880360" cy="457200"/>
          </a:xfrm>
          <a:prstGeom prst="rect">
            <a:avLst/>
          </a:prstGeom>
          <a:noFill/>
          <a:ln/>
        </p:spPr>
        <p:txBody>
          <a:bodyPr wrap="square" lIns="0" tIns="0" rIns="0" bIns="0" rtlCol="0" anchor="t"/>
          <a:lstStyle/>
          <a:p>
            <a:pPr indent="0" marL="0">
              <a:buNone/>
            </a:pPr>
            <a:r>
              <a:rPr lang="en-US" sz="1300" dirty="0">
                <a:solidFill>
                  <a:srgbClr val="6B7585"/>
                </a:solidFill>
              </a:rPr>
              <a:t>API REST Laravel (MVC)</a:t>
            </a:r>
            <a:endParaRPr lang="en-US" sz="1300" dirty="0"/>
          </a:p>
        </p:txBody>
      </p:sp>
      <p:sp>
        <p:nvSpPr>
          <p:cNvPr id="16" name="card_346"/>
          <p:cNvSpPr/>
          <p:nvPr/>
        </p:nvSpPr>
        <p:spPr>
          <a:xfrm>
            <a:off x="8458200" y="4672584"/>
            <a:ext cx="3200400" cy="1554480"/>
          </a:xfrm>
          <a:prstGeom prst="roundRect">
            <a:avLst>
              <a:gd name="adj" fmla="val 7059"/>
            </a:avLst>
          </a:prstGeom>
          <a:solidFill>
            <a:schemeClr val="bg1"/>
          </a:solidFill>
          <a:ln/>
          <a:effectLst>
            <a:outerShdw sx="100000" sy="100000" kx="0" ky="0" algn="bl" rotWithShape="0" blurRad="76200" dist="19050" dir="5400000">
              <a:srgbClr val="1B2433">
                <a:alpha val="10000"/>
              </a:srgbClr>
            </a:outerShdw>
          </a:effectLst>
        </p:spPr>
      </p:sp>
      <p:sp>
        <p:nvSpPr>
          <p:cNvPr id="17" name="ic_bg_347"/>
          <p:cNvSpPr/>
          <p:nvPr/>
        </p:nvSpPr>
        <p:spPr>
          <a:xfrm>
            <a:off x="8641080" y="4901184"/>
            <a:ext cx="640080" cy="640080"/>
          </a:xfrm>
          <a:prstGeom prst="ellipse">
            <a:avLst/>
          </a:prstGeom>
          <a:solidFill>
            <a:srgbClr val="D7971D"/>
          </a:solidFill>
          <a:ln/>
        </p:spPr>
      </p:sp>
      <p:pic>
        <p:nvPicPr>
          <p:cNvPr id="18" name="ic_348" descr="FaDatabase">    </p:cNvPr>
          <p:cNvPicPr>
            <a:picLocks noChangeAspect="1"/>
          </p:cNvPicPr>
          <p:nvPr/>
        </p:nvPicPr>
        <p:blipFill>
          <a:blip r:embed="rId4"/>
          <a:stretch>
            <a:fillRect/>
          </a:stretch>
        </p:blipFill>
        <p:spPr>
          <a:xfrm>
            <a:off x="8801100" y="5061204"/>
            <a:ext cx="320040" cy="320040"/>
          </a:xfrm>
          <a:prstGeom prst="rect">
            <a:avLst/>
          </a:prstGeom>
        </p:spPr>
      </p:pic>
      <p:sp>
        <p:nvSpPr>
          <p:cNvPr id="19" name="t_349"/>
          <p:cNvSpPr txBox="1"/>
          <p:nvPr/>
        </p:nvSpPr>
        <p:spPr>
          <a:xfrm>
            <a:off x="9418320" y="4901184"/>
            <a:ext cx="2103120" cy="640080"/>
          </a:xfrm>
          <a:prstGeom prst="rect">
            <a:avLst/>
          </a:prstGeom>
          <a:noFill/>
          <a:ln/>
        </p:spPr>
        <p:txBody>
          <a:bodyPr wrap="square" lIns="0" tIns="0" rIns="0" bIns="0" rtlCol="0" anchor="ctr"/>
          <a:lstStyle/>
          <a:p>
            <a:pPr indent="0" marL="0">
              <a:buNone/>
            </a:pPr>
            <a:r>
              <a:rPr lang="en-US" sz="1700" b="1" dirty="0">
                <a:solidFill>
                  <a:schemeClr val="tx2"/>
                </a:solidFill>
              </a:rPr>
              <a:t>Données</a:t>
            </a:r>
            <a:endParaRPr lang="en-US" sz="1700" dirty="0"/>
          </a:p>
        </p:txBody>
      </p:sp>
      <p:sp>
        <p:nvSpPr>
          <p:cNvPr id="20" name="t_350"/>
          <p:cNvSpPr txBox="1"/>
          <p:nvPr/>
        </p:nvSpPr>
        <p:spPr>
          <a:xfrm>
            <a:off x="8641080" y="5632704"/>
            <a:ext cx="2880360" cy="457200"/>
          </a:xfrm>
          <a:prstGeom prst="rect">
            <a:avLst/>
          </a:prstGeom>
          <a:noFill/>
          <a:ln/>
        </p:spPr>
        <p:txBody>
          <a:bodyPr wrap="square" lIns="0" tIns="0" rIns="0" bIns="0" rtlCol="0" anchor="t"/>
          <a:lstStyle/>
          <a:p>
            <a:pPr indent="0" marL="0">
              <a:buNone/>
            </a:pPr>
            <a:r>
              <a:rPr lang="en-US" sz="1300" dirty="0">
                <a:solidFill>
                  <a:srgbClr val="6B7585"/>
                </a:solidFill>
              </a:rPr>
              <a:t>MySQL via l'ORM Eloquent</a:t>
            </a:r>
            <a:endParaRPr lang="en-US" sz="13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Solution informatique : arborescence</a:t>
            </a:r>
            <a:endParaRPr lang="en-US" sz="3000" dirty="0"/>
          </a:p>
        </p:txBody>
      </p:sp>
      <p:sp>
        <p:nvSpPr>
          <p:cNvPr id="3" name="card_351"/>
          <p:cNvSpPr/>
          <p:nvPr/>
        </p:nvSpPr>
        <p:spPr>
          <a:xfrm>
            <a:off x="548640" y="1234440"/>
            <a:ext cx="11109960" cy="5029200"/>
          </a:xfrm>
          <a:prstGeom prst="roundRect">
            <a:avLst>
              <a:gd name="adj" fmla="val 2182"/>
            </a:avLst>
          </a:prstGeom>
          <a:solidFill>
            <a:schemeClr val="bg1"/>
          </a:solidFill>
          <a:ln/>
          <a:effectLst>
            <a:outerShdw sx="100000" sy="100000" kx="0" ky="0" algn="bl" rotWithShape="0" blurRad="127000" dist="38100" dir="5400000">
              <a:srgbClr val="1B2433">
                <a:alpha val="14000"/>
              </a:srgbClr>
            </a:outerShdw>
          </a:effectLst>
        </p:spPr>
      </p:sp>
      <p:pic>
        <p:nvPicPr>
          <p:cNvPr id="4" name="fig_352" descr="Arborescence de la plateforme">    </p:cNvPr>
          <p:cNvPicPr>
            <a:picLocks noChangeAspect="1"/>
          </p:cNvPicPr>
          <p:nvPr/>
        </p:nvPicPr>
        <p:blipFill>
          <a:blip r:embed="rId1"/>
          <a:stretch>
            <a:fillRect/>
          </a:stretch>
        </p:blipFill>
        <p:spPr>
          <a:xfrm>
            <a:off x="2191578" y="1344168"/>
            <a:ext cx="7824083" cy="4498848"/>
          </a:xfrm>
          <a:prstGeom prst="rect">
            <a:avLst/>
          </a:prstGeom>
        </p:spPr>
      </p:pic>
      <p:sp>
        <p:nvSpPr>
          <p:cNvPr id="5" name="cap_353"/>
          <p:cNvSpPr txBox="1"/>
          <p:nvPr/>
        </p:nvSpPr>
        <p:spPr>
          <a:xfrm>
            <a:off x="658368" y="5897880"/>
            <a:ext cx="10890504" cy="310896"/>
          </a:xfrm>
          <a:prstGeom prst="rect">
            <a:avLst/>
          </a:prstGeom>
          <a:noFill/>
          <a:ln/>
        </p:spPr>
        <p:txBody>
          <a:bodyPr wrap="square" lIns="0" tIns="0" rIns="0" bIns="0" rtlCol="0" anchor="ctr"/>
          <a:lstStyle/>
          <a:p>
            <a:pPr algn="ctr" indent="0" marL="0">
              <a:buNone/>
            </a:pPr>
            <a:r>
              <a:rPr lang="en-US" sz="1100" i="1" dirty="0">
                <a:solidFill>
                  <a:schemeClr val="tx2"/>
                </a:solidFill>
              </a:rPr>
              <a:t>Arborescence de la plateforme</a:t>
            </a:r>
            <a:endParaRPr lang="en-US" sz="11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Langage de modélisation UML</a:t>
            </a:r>
            <a:endParaRPr lang="en-US" sz="3000" dirty="0"/>
          </a:p>
        </p:txBody>
      </p:sp>
      <p:sp>
        <p:nvSpPr>
          <p:cNvPr id="3" name="card_354"/>
          <p:cNvSpPr/>
          <p:nvPr/>
        </p:nvSpPr>
        <p:spPr>
          <a:xfrm>
            <a:off x="548640" y="1280160"/>
            <a:ext cx="11109960" cy="1188720"/>
          </a:xfrm>
          <a:prstGeom prst="roundRect">
            <a:avLst>
              <a:gd name="adj" fmla="val 9231"/>
            </a:avLst>
          </a:prstGeom>
          <a:solidFill>
            <a:schemeClr val="tx2"/>
          </a:solidFill>
          <a:ln/>
          <a:effectLst>
            <a:outerShdw sx="100000" sy="100000" kx="0" ky="0" algn="bl" rotWithShape="0" blurRad="127000" dist="38100" dir="5400000">
              <a:srgbClr val="1B2433">
                <a:alpha val="14000"/>
              </a:srgbClr>
            </a:outerShdw>
          </a:effectLst>
        </p:spPr>
      </p:sp>
      <p:sp>
        <p:nvSpPr>
          <p:cNvPr id="4" name="ic_bg_355"/>
          <p:cNvSpPr/>
          <p:nvPr/>
        </p:nvSpPr>
        <p:spPr>
          <a:xfrm>
            <a:off x="822960" y="1508760"/>
            <a:ext cx="731520" cy="731520"/>
          </a:xfrm>
          <a:prstGeom prst="ellipse">
            <a:avLst/>
          </a:prstGeom>
          <a:solidFill>
            <a:srgbClr val="D7971D"/>
          </a:solidFill>
          <a:ln/>
        </p:spPr>
      </p:sp>
      <p:pic>
        <p:nvPicPr>
          <p:cNvPr id="5" name="ic_356" descr="FaLayerGroup">    </p:cNvPr>
          <p:cNvPicPr>
            <a:picLocks noChangeAspect="1"/>
          </p:cNvPicPr>
          <p:nvPr/>
        </p:nvPicPr>
        <p:blipFill>
          <a:blip r:embed="rId1"/>
          <a:stretch>
            <a:fillRect/>
          </a:stretch>
        </p:blipFill>
        <p:spPr>
          <a:xfrm>
            <a:off x="1005840" y="1691640"/>
            <a:ext cx="365760" cy="365760"/>
          </a:xfrm>
          <a:prstGeom prst="rect">
            <a:avLst/>
          </a:prstGeom>
        </p:spPr>
      </p:pic>
      <p:sp>
        <p:nvSpPr>
          <p:cNvPr id="6" name="t_357"/>
          <p:cNvSpPr txBox="1"/>
          <p:nvPr/>
        </p:nvSpPr>
        <p:spPr>
          <a:xfrm>
            <a:off x="1828800" y="1280160"/>
            <a:ext cx="9601200" cy="1188720"/>
          </a:xfrm>
          <a:prstGeom prst="rect">
            <a:avLst/>
          </a:prstGeom>
          <a:noFill/>
          <a:ln/>
        </p:spPr>
        <p:txBody>
          <a:bodyPr wrap="square" lIns="0" tIns="0" rIns="0" bIns="0" rtlCol="0" anchor="ctr"/>
          <a:lstStyle/>
          <a:p>
            <a:pPr indent="0" marL="0">
              <a:buNone/>
            </a:pPr>
            <a:r>
              <a:rPr lang="en-US" sz="1700" b="1" dirty="0">
                <a:solidFill>
                  <a:srgbClr val="D7971D"/>
                </a:solidFill>
              </a:rPr>
              <a:t>UML (Unified Modeling Language) </a:t>
            </a:r>
            <a:pPr indent="0" marL="0">
              <a:buNone/>
            </a:pPr>
            <a:r>
              <a:rPr lang="en-US" sz="1700" dirty="0">
                <a:solidFill>
                  <a:srgbClr val="FFFFFF"/>
                </a:solidFill>
              </a:rPr>
              <a:t>est un langage de modélisation graphique normalisé qui représente la structure et le comportement d'un système.</a:t>
            </a:r>
            <a:endParaRPr lang="en-US" sz="1700" dirty="0"/>
          </a:p>
        </p:txBody>
      </p:sp>
      <p:sp>
        <p:nvSpPr>
          <p:cNvPr id="7" name="card_358"/>
          <p:cNvSpPr/>
          <p:nvPr/>
        </p:nvSpPr>
        <p:spPr>
          <a:xfrm>
            <a:off x="548640" y="2697480"/>
            <a:ext cx="2651760" cy="3611880"/>
          </a:xfrm>
          <a:prstGeom prst="roundRect">
            <a:avLst>
              <a:gd name="adj" fmla="val 4138"/>
            </a:avLst>
          </a:prstGeom>
          <a:solidFill>
            <a:schemeClr val="bg1"/>
          </a:solidFill>
          <a:ln/>
          <a:effectLst>
            <a:outerShdw sx="100000" sy="100000" kx="0" ky="0" algn="bl" rotWithShape="0" blurRad="127000" dist="38100" dir="5400000">
              <a:srgbClr val="1B2433">
                <a:alpha val="14000"/>
              </a:srgbClr>
            </a:outerShdw>
          </a:effectLst>
        </p:spPr>
      </p:sp>
      <p:pic>
        <p:nvPicPr>
          <p:cNvPr id="8" name="fig_359" descr="Cas d'utilisation">    </p:cNvPr>
          <p:cNvPicPr>
            <a:picLocks noChangeAspect="1"/>
          </p:cNvPicPr>
          <p:nvPr/>
        </p:nvPicPr>
        <p:blipFill>
          <a:blip r:embed="rId2"/>
          <a:stretch>
            <a:fillRect/>
          </a:stretch>
        </p:blipFill>
        <p:spPr>
          <a:xfrm>
            <a:off x="658368" y="3433426"/>
            <a:ext cx="2432304" cy="1829093"/>
          </a:xfrm>
          <a:prstGeom prst="rect">
            <a:avLst/>
          </a:prstGeom>
        </p:spPr>
      </p:pic>
      <p:sp>
        <p:nvSpPr>
          <p:cNvPr id="9" name="cap_360"/>
          <p:cNvSpPr txBox="1"/>
          <p:nvPr/>
        </p:nvSpPr>
        <p:spPr>
          <a:xfrm>
            <a:off x="658368" y="5943600"/>
            <a:ext cx="2432304" cy="310896"/>
          </a:xfrm>
          <a:prstGeom prst="rect">
            <a:avLst/>
          </a:prstGeom>
          <a:noFill/>
          <a:ln/>
        </p:spPr>
        <p:txBody>
          <a:bodyPr wrap="square" lIns="0" tIns="0" rIns="0" bIns="0" rtlCol="0" anchor="ctr"/>
          <a:lstStyle/>
          <a:p>
            <a:pPr algn="ctr" indent="0" marL="0">
              <a:buNone/>
            </a:pPr>
            <a:r>
              <a:rPr lang="en-US" sz="1100" i="1" dirty="0">
                <a:solidFill>
                  <a:schemeClr val="tx2"/>
                </a:solidFill>
              </a:rPr>
              <a:t>Cas d'utilisation</a:t>
            </a:r>
            <a:endParaRPr lang="en-US" sz="1100" dirty="0"/>
          </a:p>
        </p:txBody>
      </p:sp>
      <p:sp>
        <p:nvSpPr>
          <p:cNvPr id="10" name="card_361"/>
          <p:cNvSpPr/>
          <p:nvPr/>
        </p:nvSpPr>
        <p:spPr>
          <a:xfrm>
            <a:off x="3364992" y="2697480"/>
            <a:ext cx="2651760" cy="3611880"/>
          </a:xfrm>
          <a:prstGeom prst="roundRect">
            <a:avLst>
              <a:gd name="adj" fmla="val 4138"/>
            </a:avLst>
          </a:prstGeom>
          <a:solidFill>
            <a:schemeClr val="bg1"/>
          </a:solidFill>
          <a:ln/>
          <a:effectLst>
            <a:outerShdw sx="100000" sy="100000" kx="0" ky="0" algn="bl" rotWithShape="0" blurRad="127000" dist="38100" dir="5400000">
              <a:srgbClr val="1B2433">
                <a:alpha val="14000"/>
              </a:srgbClr>
            </a:outerShdw>
          </a:effectLst>
        </p:spPr>
      </p:sp>
      <p:pic>
        <p:nvPicPr>
          <p:cNvPr id="11" name="fig_362" descr="Activité">    </p:cNvPr>
          <p:cNvPicPr>
            <a:picLocks noChangeAspect="1"/>
          </p:cNvPicPr>
          <p:nvPr/>
        </p:nvPicPr>
        <p:blipFill>
          <a:blip r:embed="rId3"/>
          <a:stretch>
            <a:fillRect/>
          </a:stretch>
        </p:blipFill>
        <p:spPr>
          <a:xfrm>
            <a:off x="3474720" y="3140806"/>
            <a:ext cx="2432304" cy="2414331"/>
          </a:xfrm>
          <a:prstGeom prst="rect">
            <a:avLst/>
          </a:prstGeom>
        </p:spPr>
      </p:pic>
      <p:sp>
        <p:nvSpPr>
          <p:cNvPr id="12" name="cap_363"/>
          <p:cNvSpPr txBox="1"/>
          <p:nvPr/>
        </p:nvSpPr>
        <p:spPr>
          <a:xfrm>
            <a:off x="3474720" y="5943600"/>
            <a:ext cx="2432304" cy="310896"/>
          </a:xfrm>
          <a:prstGeom prst="rect">
            <a:avLst/>
          </a:prstGeom>
          <a:noFill/>
          <a:ln/>
        </p:spPr>
        <p:txBody>
          <a:bodyPr wrap="square" lIns="0" tIns="0" rIns="0" bIns="0" rtlCol="0" anchor="ctr"/>
          <a:lstStyle/>
          <a:p>
            <a:pPr algn="ctr" indent="0" marL="0">
              <a:buNone/>
            </a:pPr>
            <a:r>
              <a:rPr lang="en-US" sz="1100" i="1" dirty="0">
                <a:solidFill>
                  <a:schemeClr val="tx2"/>
                </a:solidFill>
              </a:rPr>
              <a:t>Activité</a:t>
            </a:r>
            <a:endParaRPr lang="en-US" sz="1100" dirty="0"/>
          </a:p>
        </p:txBody>
      </p:sp>
      <p:sp>
        <p:nvSpPr>
          <p:cNvPr id="13" name="card_364"/>
          <p:cNvSpPr/>
          <p:nvPr/>
        </p:nvSpPr>
        <p:spPr>
          <a:xfrm>
            <a:off x="6181344" y="2697480"/>
            <a:ext cx="2651760" cy="3611880"/>
          </a:xfrm>
          <a:prstGeom prst="roundRect">
            <a:avLst>
              <a:gd name="adj" fmla="val 4138"/>
            </a:avLst>
          </a:prstGeom>
          <a:solidFill>
            <a:schemeClr val="bg1"/>
          </a:solidFill>
          <a:ln/>
          <a:effectLst>
            <a:outerShdw sx="100000" sy="100000" kx="0" ky="0" algn="bl" rotWithShape="0" blurRad="127000" dist="38100" dir="5400000">
              <a:srgbClr val="1B2433">
                <a:alpha val="14000"/>
              </a:srgbClr>
            </a:outerShdw>
          </a:effectLst>
        </p:spPr>
      </p:sp>
      <p:pic>
        <p:nvPicPr>
          <p:cNvPr id="14" name="fig_365" descr="Séquence">    </p:cNvPr>
          <p:cNvPicPr>
            <a:picLocks noChangeAspect="1"/>
          </p:cNvPicPr>
          <p:nvPr/>
        </p:nvPicPr>
        <p:blipFill>
          <a:blip r:embed="rId4"/>
          <a:stretch>
            <a:fillRect/>
          </a:stretch>
        </p:blipFill>
        <p:spPr>
          <a:xfrm>
            <a:off x="6291072" y="2943639"/>
            <a:ext cx="2432304" cy="2808665"/>
          </a:xfrm>
          <a:prstGeom prst="rect">
            <a:avLst/>
          </a:prstGeom>
        </p:spPr>
      </p:pic>
      <p:sp>
        <p:nvSpPr>
          <p:cNvPr id="15" name="cap_366"/>
          <p:cNvSpPr txBox="1"/>
          <p:nvPr/>
        </p:nvSpPr>
        <p:spPr>
          <a:xfrm>
            <a:off x="6291072" y="5943600"/>
            <a:ext cx="2432304" cy="310896"/>
          </a:xfrm>
          <a:prstGeom prst="rect">
            <a:avLst/>
          </a:prstGeom>
          <a:noFill/>
          <a:ln/>
        </p:spPr>
        <p:txBody>
          <a:bodyPr wrap="square" lIns="0" tIns="0" rIns="0" bIns="0" rtlCol="0" anchor="ctr"/>
          <a:lstStyle/>
          <a:p>
            <a:pPr algn="ctr" indent="0" marL="0">
              <a:buNone/>
            </a:pPr>
            <a:r>
              <a:rPr lang="en-US" sz="1100" i="1" dirty="0">
                <a:solidFill>
                  <a:schemeClr val="tx2"/>
                </a:solidFill>
              </a:rPr>
              <a:t>Séquence</a:t>
            </a:r>
            <a:endParaRPr lang="en-US" sz="1100" dirty="0"/>
          </a:p>
        </p:txBody>
      </p:sp>
      <p:sp>
        <p:nvSpPr>
          <p:cNvPr id="16" name="card_367"/>
          <p:cNvSpPr/>
          <p:nvPr/>
        </p:nvSpPr>
        <p:spPr>
          <a:xfrm>
            <a:off x="8997696" y="2697480"/>
            <a:ext cx="2651760" cy="3611880"/>
          </a:xfrm>
          <a:prstGeom prst="roundRect">
            <a:avLst>
              <a:gd name="adj" fmla="val 4138"/>
            </a:avLst>
          </a:prstGeom>
          <a:solidFill>
            <a:schemeClr val="bg1"/>
          </a:solidFill>
          <a:ln/>
          <a:effectLst>
            <a:outerShdw sx="100000" sy="100000" kx="0" ky="0" algn="bl" rotWithShape="0" blurRad="127000" dist="38100" dir="5400000">
              <a:srgbClr val="1B2433">
                <a:alpha val="14000"/>
              </a:srgbClr>
            </a:outerShdw>
          </a:effectLst>
        </p:spPr>
      </p:sp>
      <p:pic>
        <p:nvPicPr>
          <p:cNvPr id="17" name="fig_368" descr="Classes">    </p:cNvPr>
          <p:cNvPicPr>
            <a:picLocks noChangeAspect="1"/>
          </p:cNvPicPr>
          <p:nvPr/>
        </p:nvPicPr>
        <p:blipFill>
          <a:blip r:embed="rId5"/>
          <a:stretch>
            <a:fillRect/>
          </a:stretch>
        </p:blipFill>
        <p:spPr>
          <a:xfrm>
            <a:off x="9107424" y="3437378"/>
            <a:ext cx="2432304" cy="1821188"/>
          </a:xfrm>
          <a:prstGeom prst="rect">
            <a:avLst/>
          </a:prstGeom>
        </p:spPr>
      </p:pic>
      <p:sp>
        <p:nvSpPr>
          <p:cNvPr id="18" name="cap_369"/>
          <p:cNvSpPr txBox="1"/>
          <p:nvPr/>
        </p:nvSpPr>
        <p:spPr>
          <a:xfrm>
            <a:off x="9107424" y="5943600"/>
            <a:ext cx="2432304" cy="310896"/>
          </a:xfrm>
          <a:prstGeom prst="rect">
            <a:avLst/>
          </a:prstGeom>
          <a:noFill/>
          <a:ln/>
        </p:spPr>
        <p:txBody>
          <a:bodyPr wrap="square" lIns="0" tIns="0" rIns="0" bIns="0" rtlCol="0" anchor="ctr"/>
          <a:lstStyle/>
          <a:p>
            <a:pPr algn="ctr" indent="0" marL="0">
              <a:buNone/>
            </a:pPr>
            <a:r>
              <a:rPr lang="en-US" sz="1100" i="1" dirty="0">
                <a:solidFill>
                  <a:schemeClr val="tx2"/>
                </a:solidFill>
              </a:rPr>
              <a:t>Classes</a:t>
            </a:r>
            <a:endParaRPr lang="en-US" sz="11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Diagramme de cas d'utilisation</a:t>
            </a:r>
            <a:endParaRPr lang="en-US" sz="3000" dirty="0"/>
          </a:p>
        </p:txBody>
      </p:sp>
      <p:sp>
        <p:nvSpPr>
          <p:cNvPr id="3" name="card_370"/>
          <p:cNvSpPr/>
          <p:nvPr/>
        </p:nvSpPr>
        <p:spPr>
          <a:xfrm>
            <a:off x="548640" y="1234440"/>
            <a:ext cx="7223760" cy="5029200"/>
          </a:xfrm>
          <a:prstGeom prst="roundRect">
            <a:avLst>
              <a:gd name="adj" fmla="val 2182"/>
            </a:avLst>
          </a:prstGeom>
          <a:solidFill>
            <a:schemeClr val="bg1"/>
          </a:solidFill>
          <a:ln/>
          <a:effectLst>
            <a:outerShdw sx="100000" sy="100000" kx="0" ky="0" algn="bl" rotWithShape="0" blurRad="127000" dist="38100" dir="5400000">
              <a:srgbClr val="1B2433">
                <a:alpha val="14000"/>
              </a:srgbClr>
            </a:outerShdw>
          </a:effectLst>
        </p:spPr>
      </p:sp>
      <p:pic>
        <p:nvPicPr>
          <p:cNvPr id="4" name="fig_371" descr="Diagramme global">    </p:cNvPr>
          <p:cNvPicPr>
            <a:picLocks noChangeAspect="1"/>
          </p:cNvPicPr>
          <p:nvPr/>
        </p:nvPicPr>
        <p:blipFill>
          <a:blip r:embed="rId1"/>
          <a:stretch>
            <a:fillRect/>
          </a:stretch>
        </p:blipFill>
        <p:spPr>
          <a:xfrm>
            <a:off x="1169265" y="1344168"/>
            <a:ext cx="5982511" cy="4498848"/>
          </a:xfrm>
          <a:prstGeom prst="rect">
            <a:avLst/>
          </a:prstGeom>
        </p:spPr>
      </p:pic>
      <p:sp>
        <p:nvSpPr>
          <p:cNvPr id="5" name="cap_372"/>
          <p:cNvSpPr txBox="1"/>
          <p:nvPr/>
        </p:nvSpPr>
        <p:spPr>
          <a:xfrm>
            <a:off x="658368" y="5897880"/>
            <a:ext cx="7004304" cy="310896"/>
          </a:xfrm>
          <a:prstGeom prst="rect">
            <a:avLst/>
          </a:prstGeom>
          <a:noFill/>
          <a:ln/>
        </p:spPr>
        <p:txBody>
          <a:bodyPr wrap="square" lIns="0" tIns="0" rIns="0" bIns="0" rtlCol="0" anchor="ctr"/>
          <a:lstStyle/>
          <a:p>
            <a:pPr algn="ctr" indent="0" marL="0">
              <a:buNone/>
            </a:pPr>
            <a:r>
              <a:rPr lang="en-US" sz="1100" i="1" dirty="0">
                <a:solidFill>
                  <a:schemeClr val="tx2"/>
                </a:solidFill>
              </a:rPr>
              <a:t>Diagramme global</a:t>
            </a:r>
            <a:endParaRPr lang="en-US" sz="1100" dirty="0"/>
          </a:p>
        </p:txBody>
      </p:sp>
      <p:sp>
        <p:nvSpPr>
          <p:cNvPr id="6" name="card_373"/>
          <p:cNvSpPr/>
          <p:nvPr/>
        </p:nvSpPr>
        <p:spPr>
          <a:xfrm>
            <a:off x="8001000" y="1234440"/>
            <a:ext cx="3657600" cy="5029200"/>
          </a:xfrm>
          <a:prstGeom prst="roundRect">
            <a:avLst>
              <a:gd name="adj" fmla="val 3000"/>
            </a:avLst>
          </a:prstGeom>
          <a:solidFill>
            <a:schemeClr val="tx2"/>
          </a:solidFill>
          <a:ln/>
          <a:effectLst>
            <a:outerShdw sx="100000" sy="100000" kx="0" ky="0" algn="bl" rotWithShape="0" blurRad="127000" dist="38100" dir="5400000">
              <a:srgbClr val="1B2433">
                <a:alpha val="14000"/>
              </a:srgbClr>
            </a:outerShdw>
          </a:effectLst>
        </p:spPr>
      </p:sp>
      <p:sp>
        <p:nvSpPr>
          <p:cNvPr id="7" name="t_374"/>
          <p:cNvSpPr txBox="1"/>
          <p:nvPr/>
        </p:nvSpPr>
        <p:spPr>
          <a:xfrm>
            <a:off x="8229600" y="1463040"/>
            <a:ext cx="3200400" cy="731520"/>
          </a:xfrm>
          <a:prstGeom prst="rect">
            <a:avLst/>
          </a:prstGeom>
          <a:noFill/>
          <a:ln/>
        </p:spPr>
        <p:txBody>
          <a:bodyPr wrap="square" lIns="0" tIns="0" rIns="0" bIns="0" rtlCol="0" anchor="t"/>
          <a:lstStyle/>
          <a:p>
            <a:pPr indent="0" marL="0">
              <a:buNone/>
            </a:pPr>
            <a:r>
              <a:rPr lang="en-US" sz="1700" b="1" dirty="0">
                <a:solidFill>
                  <a:srgbClr val="D7971D"/>
                </a:solidFill>
              </a:rPr>
              <a:t>Diagramme global</a:t>
            </a:r>
            <a:endParaRPr lang="en-US" sz="1700" dirty="0"/>
          </a:p>
        </p:txBody>
      </p:sp>
      <p:sp>
        <p:nvSpPr>
          <p:cNvPr id="8" name="stp_375"/>
          <p:cNvSpPr/>
          <p:nvPr/>
        </p:nvSpPr>
        <p:spPr>
          <a:xfrm>
            <a:off x="8229600" y="2377440"/>
            <a:ext cx="384048" cy="384048"/>
          </a:xfrm>
          <a:prstGeom prst="ellipse">
            <a:avLst/>
          </a:prstGeom>
          <a:solidFill>
            <a:srgbClr val="03909E"/>
          </a:solidFill>
          <a:ln/>
        </p:spPr>
      </p:sp>
      <p:sp>
        <p:nvSpPr>
          <p:cNvPr id="9" name="t_376"/>
          <p:cNvSpPr txBox="1"/>
          <p:nvPr/>
        </p:nvSpPr>
        <p:spPr>
          <a:xfrm>
            <a:off x="8229600" y="23774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0" name="t_377"/>
          <p:cNvSpPr txBox="1"/>
          <p:nvPr/>
        </p:nvSpPr>
        <p:spPr>
          <a:xfrm>
            <a:off x="8732520" y="2286000"/>
            <a:ext cx="2697480" cy="594360"/>
          </a:xfrm>
          <a:prstGeom prst="rect">
            <a:avLst/>
          </a:prstGeom>
          <a:noFill/>
          <a:ln/>
        </p:spPr>
        <p:txBody>
          <a:bodyPr wrap="square" lIns="0" tIns="0" rIns="0" bIns="0" rtlCol="0" anchor="ctr"/>
          <a:lstStyle/>
          <a:p>
            <a:pPr indent="0" marL="0">
              <a:buNone/>
            </a:pPr>
            <a:r>
              <a:rPr lang="en-US" sz="1300" dirty="0">
                <a:solidFill>
                  <a:srgbClr val="FFFFFF"/>
                </a:solidFill>
              </a:rPr>
              <a:t>Administration</a:t>
            </a:r>
            <a:endParaRPr lang="en-US" sz="1300" dirty="0"/>
          </a:p>
        </p:txBody>
      </p:sp>
      <p:sp>
        <p:nvSpPr>
          <p:cNvPr id="11" name="stp_378"/>
          <p:cNvSpPr/>
          <p:nvPr/>
        </p:nvSpPr>
        <p:spPr>
          <a:xfrm>
            <a:off x="8229600" y="3154680"/>
            <a:ext cx="384048" cy="384048"/>
          </a:xfrm>
          <a:prstGeom prst="ellipse">
            <a:avLst/>
          </a:prstGeom>
          <a:solidFill>
            <a:srgbClr val="03909E"/>
          </a:solidFill>
          <a:ln/>
        </p:spPr>
      </p:sp>
      <p:sp>
        <p:nvSpPr>
          <p:cNvPr id="12" name="t_379"/>
          <p:cNvSpPr txBox="1"/>
          <p:nvPr/>
        </p:nvSpPr>
        <p:spPr>
          <a:xfrm>
            <a:off x="8229600" y="31546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t_380"/>
          <p:cNvSpPr txBox="1"/>
          <p:nvPr/>
        </p:nvSpPr>
        <p:spPr>
          <a:xfrm>
            <a:off x="8732520" y="3063240"/>
            <a:ext cx="2697480" cy="594360"/>
          </a:xfrm>
          <a:prstGeom prst="rect">
            <a:avLst/>
          </a:prstGeom>
          <a:noFill/>
          <a:ln/>
        </p:spPr>
        <p:txBody>
          <a:bodyPr wrap="square" lIns="0" tIns="0" rIns="0" bIns="0" rtlCol="0" anchor="ctr"/>
          <a:lstStyle/>
          <a:p>
            <a:pPr indent="0" marL="0">
              <a:buNone/>
            </a:pPr>
            <a:r>
              <a:rPr lang="en-US" sz="1300" dirty="0">
                <a:solidFill>
                  <a:srgbClr val="FFFFFF"/>
                </a:solidFill>
              </a:rPr>
              <a:t>Enseignant</a:t>
            </a:r>
            <a:endParaRPr lang="en-US" sz="1300" dirty="0"/>
          </a:p>
        </p:txBody>
      </p:sp>
      <p:sp>
        <p:nvSpPr>
          <p:cNvPr id="14" name="stp_381"/>
          <p:cNvSpPr/>
          <p:nvPr/>
        </p:nvSpPr>
        <p:spPr>
          <a:xfrm>
            <a:off x="8229600" y="3931920"/>
            <a:ext cx="384048" cy="384048"/>
          </a:xfrm>
          <a:prstGeom prst="ellipse">
            <a:avLst/>
          </a:prstGeom>
          <a:solidFill>
            <a:srgbClr val="03909E"/>
          </a:solidFill>
          <a:ln/>
        </p:spPr>
      </p:sp>
      <p:sp>
        <p:nvSpPr>
          <p:cNvPr id="15" name="t_382"/>
          <p:cNvSpPr txBox="1"/>
          <p:nvPr/>
        </p:nvSpPr>
        <p:spPr>
          <a:xfrm>
            <a:off x="8229600" y="39319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6" name="t_383"/>
          <p:cNvSpPr txBox="1"/>
          <p:nvPr/>
        </p:nvSpPr>
        <p:spPr>
          <a:xfrm>
            <a:off x="8732520" y="3840480"/>
            <a:ext cx="2697480" cy="594360"/>
          </a:xfrm>
          <a:prstGeom prst="rect">
            <a:avLst/>
          </a:prstGeom>
          <a:noFill/>
          <a:ln/>
        </p:spPr>
        <p:txBody>
          <a:bodyPr wrap="square" lIns="0" tIns="0" rIns="0" bIns="0" rtlCol="0" anchor="ctr"/>
          <a:lstStyle/>
          <a:p>
            <a:pPr indent="0" marL="0">
              <a:buNone/>
            </a:pPr>
            <a:r>
              <a:rPr lang="en-US" sz="1300" dirty="0">
                <a:solidFill>
                  <a:srgbClr val="FFFFFF"/>
                </a:solidFill>
              </a:rPr>
              <a:t>Stagiaire</a:t>
            </a:r>
            <a:endParaRPr lang="en-US" sz="1300" dirty="0"/>
          </a:p>
        </p:txBody>
      </p:sp>
      <p:sp>
        <p:nvSpPr>
          <p:cNvPr id="17" name="stp_384"/>
          <p:cNvSpPr/>
          <p:nvPr/>
        </p:nvSpPr>
        <p:spPr>
          <a:xfrm>
            <a:off x="8229600" y="4709160"/>
            <a:ext cx="384048" cy="384048"/>
          </a:xfrm>
          <a:prstGeom prst="ellipse">
            <a:avLst/>
          </a:prstGeom>
          <a:solidFill>
            <a:srgbClr val="03909E"/>
          </a:solidFill>
          <a:ln/>
        </p:spPr>
      </p:sp>
      <p:sp>
        <p:nvSpPr>
          <p:cNvPr id="18" name="t_385"/>
          <p:cNvSpPr txBox="1"/>
          <p:nvPr/>
        </p:nvSpPr>
        <p:spPr>
          <a:xfrm>
            <a:off x="8229600" y="47091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9" name="t_386"/>
          <p:cNvSpPr txBox="1"/>
          <p:nvPr/>
        </p:nvSpPr>
        <p:spPr>
          <a:xfrm>
            <a:off x="8732520" y="4617720"/>
            <a:ext cx="2697480" cy="594360"/>
          </a:xfrm>
          <a:prstGeom prst="rect">
            <a:avLst/>
          </a:prstGeom>
          <a:noFill/>
          <a:ln/>
        </p:spPr>
        <p:txBody>
          <a:bodyPr wrap="square" lIns="0" tIns="0" rIns="0" bIns="0" rtlCol="0" anchor="ctr"/>
          <a:lstStyle/>
          <a:p>
            <a:pPr indent="0" marL="0">
              <a:buNone/>
            </a:pPr>
            <a:r>
              <a:rPr lang="en-US" sz="1300" dirty="0">
                <a:solidFill>
                  <a:srgbClr val="FFFFFF"/>
                </a:solidFill>
              </a:rPr>
              <a:t>Visiteur (futur stagiaire)</a:t>
            </a:r>
            <a:endParaRPr lang="en-US" sz="1300" dirty="0"/>
          </a:p>
        </p:txBody>
      </p:sp>
      <p:sp>
        <p:nvSpPr>
          <p:cNvPr id="20" name="stp_387"/>
          <p:cNvSpPr/>
          <p:nvPr/>
        </p:nvSpPr>
        <p:spPr>
          <a:xfrm>
            <a:off x="8229600" y="5486400"/>
            <a:ext cx="384048" cy="384048"/>
          </a:xfrm>
          <a:prstGeom prst="ellipse">
            <a:avLst/>
          </a:prstGeom>
          <a:solidFill>
            <a:srgbClr val="03909E"/>
          </a:solidFill>
          <a:ln/>
        </p:spPr>
      </p:sp>
      <p:sp>
        <p:nvSpPr>
          <p:cNvPr id="21" name="t_388"/>
          <p:cNvSpPr txBox="1"/>
          <p:nvPr/>
        </p:nvSpPr>
        <p:spPr>
          <a:xfrm>
            <a:off x="8229600" y="54864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2" name="t_389"/>
          <p:cNvSpPr txBox="1"/>
          <p:nvPr/>
        </p:nvSpPr>
        <p:spPr>
          <a:xfrm>
            <a:off x="8732520" y="5394960"/>
            <a:ext cx="2697480" cy="594360"/>
          </a:xfrm>
          <a:prstGeom prst="rect">
            <a:avLst/>
          </a:prstGeom>
          <a:noFill/>
          <a:ln/>
        </p:spPr>
        <p:txBody>
          <a:bodyPr wrap="square" lIns="0" tIns="0" rIns="0" bIns="0" rtlCol="0" anchor="ctr"/>
          <a:lstStyle/>
          <a:p>
            <a:pPr indent="0" marL="0">
              <a:buNone/>
            </a:pPr>
            <a:r>
              <a:rPr lang="en-US" sz="1300" dirty="0">
                <a:solidFill>
                  <a:srgbClr val="FFFFFF"/>
                </a:solidFill>
              </a:rPr>
              <a:t>API Gemini (système externe)</a:t>
            </a:r>
            <a:endParaRPr lang="en-US" sz="13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Diagrammes de cas d'utilisation par espace</a:t>
            </a:r>
            <a:endParaRPr lang="en-US" sz="3000" dirty="0"/>
          </a:p>
        </p:txBody>
      </p:sp>
      <p:sp>
        <p:nvSpPr>
          <p:cNvPr id="3" name="card_390"/>
          <p:cNvSpPr/>
          <p:nvPr/>
        </p:nvSpPr>
        <p:spPr>
          <a:xfrm>
            <a:off x="548640" y="1234440"/>
            <a:ext cx="6309360" cy="5029200"/>
          </a:xfrm>
          <a:prstGeom prst="roundRect">
            <a:avLst>
              <a:gd name="adj" fmla="val 2182"/>
            </a:avLst>
          </a:prstGeom>
          <a:solidFill>
            <a:schemeClr val="bg1"/>
          </a:solidFill>
          <a:ln/>
          <a:effectLst>
            <a:outerShdw sx="100000" sy="100000" kx="0" ky="0" algn="bl" rotWithShape="0" blurRad="127000" dist="38100" dir="5400000">
              <a:srgbClr val="1B2433">
                <a:alpha val="14000"/>
              </a:srgbClr>
            </a:outerShdw>
          </a:effectLst>
        </p:spPr>
      </p:sp>
      <p:pic>
        <p:nvPicPr>
          <p:cNvPr id="4" name="fig_391" descr="Administration">    </p:cNvPr>
          <p:cNvPicPr>
            <a:picLocks noChangeAspect="1"/>
          </p:cNvPicPr>
          <p:nvPr/>
        </p:nvPicPr>
        <p:blipFill>
          <a:blip r:embed="rId1"/>
          <a:stretch>
            <a:fillRect/>
          </a:stretch>
        </p:blipFill>
        <p:spPr>
          <a:xfrm>
            <a:off x="778191" y="1344168"/>
            <a:ext cx="5850257" cy="4498848"/>
          </a:xfrm>
          <a:prstGeom prst="rect">
            <a:avLst/>
          </a:prstGeom>
        </p:spPr>
      </p:pic>
      <p:sp>
        <p:nvSpPr>
          <p:cNvPr id="5" name="cap_392"/>
          <p:cNvSpPr txBox="1"/>
          <p:nvPr/>
        </p:nvSpPr>
        <p:spPr>
          <a:xfrm>
            <a:off x="658368" y="5897880"/>
            <a:ext cx="6089904" cy="310896"/>
          </a:xfrm>
          <a:prstGeom prst="rect">
            <a:avLst/>
          </a:prstGeom>
          <a:noFill/>
          <a:ln/>
        </p:spPr>
        <p:txBody>
          <a:bodyPr wrap="square" lIns="0" tIns="0" rIns="0" bIns="0" rtlCol="0" anchor="ctr"/>
          <a:lstStyle/>
          <a:p>
            <a:pPr algn="ctr" indent="0" marL="0">
              <a:buNone/>
            </a:pPr>
            <a:r>
              <a:rPr lang="en-US" sz="1100" i="1" dirty="0">
                <a:solidFill>
                  <a:schemeClr val="tx2"/>
                </a:solidFill>
              </a:rPr>
              <a:t>Administration</a:t>
            </a:r>
            <a:endParaRPr lang="en-US" sz="1100" dirty="0"/>
          </a:p>
        </p:txBody>
      </p:sp>
      <p:sp>
        <p:nvSpPr>
          <p:cNvPr id="6" name="card_393"/>
          <p:cNvSpPr/>
          <p:nvPr/>
        </p:nvSpPr>
        <p:spPr>
          <a:xfrm>
            <a:off x="7040880" y="1234440"/>
            <a:ext cx="4617720" cy="2423160"/>
          </a:xfrm>
          <a:prstGeom prst="roundRect">
            <a:avLst>
              <a:gd name="adj" fmla="val 4528"/>
            </a:avLst>
          </a:prstGeom>
          <a:solidFill>
            <a:schemeClr val="bg1"/>
          </a:solidFill>
          <a:ln/>
          <a:effectLst>
            <a:outerShdw sx="100000" sy="100000" kx="0" ky="0" algn="bl" rotWithShape="0" blurRad="127000" dist="38100" dir="5400000">
              <a:srgbClr val="1B2433">
                <a:alpha val="14000"/>
              </a:srgbClr>
            </a:outerShdw>
          </a:effectLst>
        </p:spPr>
      </p:sp>
      <p:pic>
        <p:nvPicPr>
          <p:cNvPr id="7" name="fig_394" descr="Enseignant">    </p:cNvPr>
          <p:cNvPicPr>
            <a:picLocks noChangeAspect="1"/>
          </p:cNvPicPr>
          <p:nvPr/>
        </p:nvPicPr>
        <p:blipFill>
          <a:blip r:embed="rId2"/>
          <a:stretch>
            <a:fillRect/>
          </a:stretch>
        </p:blipFill>
        <p:spPr>
          <a:xfrm>
            <a:off x="7772400" y="1344168"/>
            <a:ext cx="3154680" cy="1892808"/>
          </a:xfrm>
          <a:prstGeom prst="rect">
            <a:avLst/>
          </a:prstGeom>
        </p:spPr>
      </p:pic>
      <p:sp>
        <p:nvSpPr>
          <p:cNvPr id="8" name="cap_395"/>
          <p:cNvSpPr txBox="1"/>
          <p:nvPr/>
        </p:nvSpPr>
        <p:spPr>
          <a:xfrm>
            <a:off x="7150608" y="3291840"/>
            <a:ext cx="4398264" cy="310896"/>
          </a:xfrm>
          <a:prstGeom prst="rect">
            <a:avLst/>
          </a:prstGeom>
          <a:noFill/>
          <a:ln/>
        </p:spPr>
        <p:txBody>
          <a:bodyPr wrap="square" lIns="0" tIns="0" rIns="0" bIns="0" rtlCol="0" anchor="ctr"/>
          <a:lstStyle/>
          <a:p>
            <a:pPr algn="ctr" indent="0" marL="0">
              <a:buNone/>
            </a:pPr>
            <a:r>
              <a:rPr lang="en-US" sz="1100" i="1" dirty="0">
                <a:solidFill>
                  <a:schemeClr val="tx2"/>
                </a:solidFill>
              </a:rPr>
              <a:t>Enseignant</a:t>
            </a:r>
            <a:endParaRPr lang="en-US" sz="1100" dirty="0"/>
          </a:p>
        </p:txBody>
      </p:sp>
      <p:sp>
        <p:nvSpPr>
          <p:cNvPr id="9" name="card_396"/>
          <p:cNvSpPr/>
          <p:nvPr/>
        </p:nvSpPr>
        <p:spPr>
          <a:xfrm>
            <a:off x="7040880" y="3840480"/>
            <a:ext cx="4617720" cy="2423160"/>
          </a:xfrm>
          <a:prstGeom prst="roundRect">
            <a:avLst>
              <a:gd name="adj" fmla="val 4528"/>
            </a:avLst>
          </a:prstGeom>
          <a:solidFill>
            <a:schemeClr val="bg1"/>
          </a:solidFill>
          <a:ln/>
          <a:effectLst>
            <a:outerShdw sx="100000" sy="100000" kx="0" ky="0" algn="bl" rotWithShape="0" blurRad="127000" dist="38100" dir="5400000">
              <a:srgbClr val="1B2433">
                <a:alpha val="14000"/>
              </a:srgbClr>
            </a:outerShdw>
          </a:effectLst>
        </p:spPr>
      </p:sp>
      <p:pic>
        <p:nvPicPr>
          <p:cNvPr id="10" name="fig_397" descr="Stagiaire">    </p:cNvPr>
          <p:cNvPicPr>
            <a:picLocks noChangeAspect="1"/>
          </p:cNvPicPr>
          <p:nvPr/>
        </p:nvPicPr>
        <p:blipFill>
          <a:blip r:embed="rId3"/>
          <a:stretch>
            <a:fillRect/>
          </a:stretch>
        </p:blipFill>
        <p:spPr>
          <a:xfrm>
            <a:off x="7855811" y="3950208"/>
            <a:ext cx="2987858" cy="1892808"/>
          </a:xfrm>
          <a:prstGeom prst="rect">
            <a:avLst/>
          </a:prstGeom>
        </p:spPr>
      </p:pic>
      <p:sp>
        <p:nvSpPr>
          <p:cNvPr id="11" name="cap_398"/>
          <p:cNvSpPr txBox="1"/>
          <p:nvPr/>
        </p:nvSpPr>
        <p:spPr>
          <a:xfrm>
            <a:off x="7150608" y="5897880"/>
            <a:ext cx="4398264" cy="310896"/>
          </a:xfrm>
          <a:prstGeom prst="rect">
            <a:avLst/>
          </a:prstGeom>
          <a:noFill/>
          <a:ln/>
        </p:spPr>
        <p:txBody>
          <a:bodyPr wrap="square" lIns="0" tIns="0" rIns="0" bIns="0" rtlCol="0" anchor="ctr"/>
          <a:lstStyle/>
          <a:p>
            <a:pPr algn="ctr" indent="0" marL="0">
              <a:buNone/>
            </a:pPr>
            <a:r>
              <a:rPr lang="en-US" sz="1100" i="1" dirty="0">
                <a:solidFill>
                  <a:schemeClr val="tx2"/>
                </a:solidFill>
              </a:rPr>
              <a:t>Stagiaire</a:t>
            </a:r>
            <a:endParaRPr lang="en-US" sz="11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Diagramme d'activité</a:t>
            </a:r>
            <a:endParaRPr lang="en-US" sz="3000" dirty="0"/>
          </a:p>
        </p:txBody>
      </p:sp>
      <p:sp>
        <p:nvSpPr>
          <p:cNvPr id="3" name="card_399"/>
          <p:cNvSpPr/>
          <p:nvPr/>
        </p:nvSpPr>
        <p:spPr>
          <a:xfrm>
            <a:off x="548640" y="1234440"/>
            <a:ext cx="7223760" cy="5029200"/>
          </a:xfrm>
          <a:prstGeom prst="roundRect">
            <a:avLst>
              <a:gd name="adj" fmla="val 2182"/>
            </a:avLst>
          </a:prstGeom>
          <a:solidFill>
            <a:schemeClr val="bg1"/>
          </a:solidFill>
          <a:ln/>
          <a:effectLst>
            <a:outerShdw sx="100000" sy="100000" kx="0" ky="0" algn="bl" rotWithShape="0" blurRad="127000" dist="38100" dir="5400000">
              <a:srgbClr val="1B2433">
                <a:alpha val="14000"/>
              </a:srgbClr>
            </a:outerShdw>
          </a:effectLst>
        </p:spPr>
      </p:sp>
      <p:pic>
        <p:nvPicPr>
          <p:cNvPr id="4" name="fig_400" descr="Gestion de la présence">    </p:cNvPr>
          <p:cNvPicPr>
            <a:picLocks noChangeAspect="1"/>
          </p:cNvPicPr>
          <p:nvPr/>
        </p:nvPicPr>
        <p:blipFill>
          <a:blip r:embed="rId1"/>
          <a:stretch>
            <a:fillRect/>
          </a:stretch>
        </p:blipFill>
        <p:spPr>
          <a:xfrm>
            <a:off x="1894351" y="1344168"/>
            <a:ext cx="4532338" cy="4498848"/>
          </a:xfrm>
          <a:prstGeom prst="rect">
            <a:avLst/>
          </a:prstGeom>
        </p:spPr>
      </p:pic>
      <p:sp>
        <p:nvSpPr>
          <p:cNvPr id="5" name="cap_401"/>
          <p:cNvSpPr txBox="1"/>
          <p:nvPr/>
        </p:nvSpPr>
        <p:spPr>
          <a:xfrm>
            <a:off x="658368" y="5897880"/>
            <a:ext cx="7004304" cy="310896"/>
          </a:xfrm>
          <a:prstGeom prst="rect">
            <a:avLst/>
          </a:prstGeom>
          <a:noFill/>
          <a:ln/>
        </p:spPr>
        <p:txBody>
          <a:bodyPr wrap="square" lIns="0" tIns="0" rIns="0" bIns="0" rtlCol="0" anchor="ctr"/>
          <a:lstStyle/>
          <a:p>
            <a:pPr algn="ctr" indent="0" marL="0">
              <a:buNone/>
            </a:pPr>
            <a:r>
              <a:rPr lang="en-US" sz="1100" i="1" dirty="0">
                <a:solidFill>
                  <a:schemeClr val="tx2"/>
                </a:solidFill>
              </a:rPr>
              <a:t>Gestion de la présence</a:t>
            </a:r>
            <a:endParaRPr lang="en-US" sz="1100" dirty="0"/>
          </a:p>
        </p:txBody>
      </p:sp>
      <p:sp>
        <p:nvSpPr>
          <p:cNvPr id="6" name="card_402"/>
          <p:cNvSpPr/>
          <p:nvPr/>
        </p:nvSpPr>
        <p:spPr>
          <a:xfrm>
            <a:off x="8001000" y="1234440"/>
            <a:ext cx="3657600" cy="5029200"/>
          </a:xfrm>
          <a:prstGeom prst="roundRect">
            <a:avLst>
              <a:gd name="adj" fmla="val 3000"/>
            </a:avLst>
          </a:prstGeom>
          <a:solidFill>
            <a:schemeClr val="tx2"/>
          </a:solidFill>
          <a:ln/>
          <a:effectLst>
            <a:outerShdw sx="100000" sy="100000" kx="0" ky="0" algn="bl" rotWithShape="0" blurRad="127000" dist="38100" dir="5400000">
              <a:srgbClr val="1B2433">
                <a:alpha val="14000"/>
              </a:srgbClr>
            </a:outerShdw>
          </a:effectLst>
        </p:spPr>
      </p:sp>
      <p:sp>
        <p:nvSpPr>
          <p:cNvPr id="7" name="t_403"/>
          <p:cNvSpPr txBox="1"/>
          <p:nvPr/>
        </p:nvSpPr>
        <p:spPr>
          <a:xfrm>
            <a:off x="8229600" y="1463040"/>
            <a:ext cx="3200400" cy="731520"/>
          </a:xfrm>
          <a:prstGeom prst="rect">
            <a:avLst/>
          </a:prstGeom>
          <a:noFill/>
          <a:ln/>
        </p:spPr>
        <p:txBody>
          <a:bodyPr wrap="square" lIns="0" tIns="0" rIns="0" bIns="0" rtlCol="0" anchor="t"/>
          <a:lstStyle/>
          <a:p>
            <a:pPr indent="0" marL="0">
              <a:buNone/>
            </a:pPr>
            <a:r>
              <a:rPr lang="en-US" sz="1700" b="1" dirty="0">
                <a:solidFill>
                  <a:srgbClr val="D7971D"/>
                </a:solidFill>
              </a:rPr>
              <a:t>Gestion de la présence</a:t>
            </a:r>
            <a:endParaRPr lang="en-US" sz="1700" dirty="0"/>
          </a:p>
        </p:txBody>
      </p:sp>
      <p:sp>
        <p:nvSpPr>
          <p:cNvPr id="8" name="stp_404"/>
          <p:cNvSpPr/>
          <p:nvPr/>
        </p:nvSpPr>
        <p:spPr>
          <a:xfrm>
            <a:off x="8229600" y="2377440"/>
            <a:ext cx="384048" cy="384048"/>
          </a:xfrm>
          <a:prstGeom prst="ellipse">
            <a:avLst/>
          </a:prstGeom>
          <a:solidFill>
            <a:srgbClr val="03909E"/>
          </a:solidFill>
          <a:ln/>
        </p:spPr>
      </p:sp>
      <p:sp>
        <p:nvSpPr>
          <p:cNvPr id="9" name="t_405"/>
          <p:cNvSpPr txBox="1"/>
          <p:nvPr/>
        </p:nvSpPr>
        <p:spPr>
          <a:xfrm>
            <a:off x="8229600" y="23774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0" name="t_406"/>
          <p:cNvSpPr txBox="1"/>
          <p:nvPr/>
        </p:nvSpPr>
        <p:spPr>
          <a:xfrm>
            <a:off x="8732520" y="2286000"/>
            <a:ext cx="2697480" cy="594360"/>
          </a:xfrm>
          <a:prstGeom prst="rect">
            <a:avLst/>
          </a:prstGeom>
          <a:noFill/>
          <a:ln/>
        </p:spPr>
        <p:txBody>
          <a:bodyPr wrap="square" lIns="0" tIns="0" rIns="0" bIns="0" rtlCol="0" anchor="ctr"/>
          <a:lstStyle/>
          <a:p>
            <a:pPr indent="0" marL="0">
              <a:buNone/>
            </a:pPr>
            <a:r>
              <a:rPr lang="en-US" sz="1300" dirty="0">
                <a:solidFill>
                  <a:srgbClr val="FFFFFF"/>
                </a:solidFill>
              </a:rPr>
              <a:t>L'enseignant choisit une séance et une date</a:t>
            </a:r>
            <a:endParaRPr lang="en-US" sz="1300" dirty="0"/>
          </a:p>
        </p:txBody>
      </p:sp>
      <p:sp>
        <p:nvSpPr>
          <p:cNvPr id="11" name="stp_407"/>
          <p:cNvSpPr/>
          <p:nvPr/>
        </p:nvSpPr>
        <p:spPr>
          <a:xfrm>
            <a:off x="8229600" y="3154680"/>
            <a:ext cx="384048" cy="384048"/>
          </a:xfrm>
          <a:prstGeom prst="ellipse">
            <a:avLst/>
          </a:prstGeom>
          <a:solidFill>
            <a:srgbClr val="03909E"/>
          </a:solidFill>
          <a:ln/>
        </p:spPr>
      </p:sp>
      <p:sp>
        <p:nvSpPr>
          <p:cNvPr id="12" name="t_408"/>
          <p:cNvSpPr txBox="1"/>
          <p:nvPr/>
        </p:nvSpPr>
        <p:spPr>
          <a:xfrm>
            <a:off x="8229600" y="31546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t_409"/>
          <p:cNvSpPr txBox="1"/>
          <p:nvPr/>
        </p:nvSpPr>
        <p:spPr>
          <a:xfrm>
            <a:off x="8732520" y="3063240"/>
            <a:ext cx="2697480" cy="594360"/>
          </a:xfrm>
          <a:prstGeom prst="rect">
            <a:avLst/>
          </a:prstGeom>
          <a:noFill/>
          <a:ln/>
        </p:spPr>
        <p:txBody>
          <a:bodyPr wrap="square" lIns="0" tIns="0" rIns="0" bIns="0" rtlCol="0" anchor="ctr"/>
          <a:lstStyle/>
          <a:p>
            <a:pPr indent="0" marL="0">
              <a:buNone/>
            </a:pPr>
            <a:r>
              <a:rPr lang="en-US" sz="1300" dirty="0">
                <a:solidFill>
                  <a:srgbClr val="FFFFFF"/>
                </a:solidFill>
              </a:rPr>
              <a:t>Enseignant non affecté : accès refusé</a:t>
            </a:r>
            <a:endParaRPr lang="en-US" sz="1300" dirty="0"/>
          </a:p>
        </p:txBody>
      </p:sp>
      <p:sp>
        <p:nvSpPr>
          <p:cNvPr id="14" name="stp_410"/>
          <p:cNvSpPr/>
          <p:nvPr/>
        </p:nvSpPr>
        <p:spPr>
          <a:xfrm>
            <a:off x="8229600" y="3931920"/>
            <a:ext cx="384048" cy="384048"/>
          </a:xfrm>
          <a:prstGeom prst="ellipse">
            <a:avLst/>
          </a:prstGeom>
          <a:solidFill>
            <a:srgbClr val="03909E"/>
          </a:solidFill>
          <a:ln/>
        </p:spPr>
      </p:sp>
      <p:sp>
        <p:nvSpPr>
          <p:cNvPr id="15" name="t_411"/>
          <p:cNvSpPr txBox="1"/>
          <p:nvPr/>
        </p:nvSpPr>
        <p:spPr>
          <a:xfrm>
            <a:off x="8229600" y="39319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6" name="t_412"/>
          <p:cNvSpPr txBox="1"/>
          <p:nvPr/>
        </p:nvSpPr>
        <p:spPr>
          <a:xfrm>
            <a:off x="8732520" y="3840480"/>
            <a:ext cx="2697480" cy="594360"/>
          </a:xfrm>
          <a:prstGeom prst="rect">
            <a:avLst/>
          </a:prstGeom>
          <a:noFill/>
          <a:ln/>
        </p:spPr>
        <p:txBody>
          <a:bodyPr wrap="square" lIns="0" tIns="0" rIns="0" bIns="0" rtlCol="0" anchor="ctr"/>
          <a:lstStyle/>
          <a:p>
            <a:pPr indent="0" marL="0">
              <a:buNone/>
            </a:pPr>
            <a:r>
              <a:rPr lang="en-US" sz="1300" dirty="0">
                <a:solidFill>
                  <a:srgbClr val="FFFFFF"/>
                </a:solidFill>
              </a:rPr>
              <a:t>Affichage des stagiaires du module</a:t>
            </a:r>
            <a:endParaRPr lang="en-US" sz="1300" dirty="0"/>
          </a:p>
        </p:txBody>
      </p:sp>
      <p:sp>
        <p:nvSpPr>
          <p:cNvPr id="17" name="stp_413"/>
          <p:cNvSpPr/>
          <p:nvPr/>
        </p:nvSpPr>
        <p:spPr>
          <a:xfrm>
            <a:off x="8229600" y="4709160"/>
            <a:ext cx="384048" cy="384048"/>
          </a:xfrm>
          <a:prstGeom prst="ellipse">
            <a:avLst/>
          </a:prstGeom>
          <a:solidFill>
            <a:srgbClr val="03909E"/>
          </a:solidFill>
          <a:ln/>
        </p:spPr>
      </p:sp>
      <p:sp>
        <p:nvSpPr>
          <p:cNvPr id="18" name="t_414"/>
          <p:cNvSpPr txBox="1"/>
          <p:nvPr/>
        </p:nvSpPr>
        <p:spPr>
          <a:xfrm>
            <a:off x="8229600" y="47091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9" name="t_415"/>
          <p:cNvSpPr txBox="1"/>
          <p:nvPr/>
        </p:nvSpPr>
        <p:spPr>
          <a:xfrm>
            <a:off x="8732520" y="4617720"/>
            <a:ext cx="2697480" cy="594360"/>
          </a:xfrm>
          <a:prstGeom prst="rect">
            <a:avLst/>
          </a:prstGeom>
          <a:noFill/>
          <a:ln/>
        </p:spPr>
        <p:txBody>
          <a:bodyPr wrap="square" lIns="0" tIns="0" rIns="0" bIns="0" rtlCol="0" anchor="ctr"/>
          <a:lstStyle/>
          <a:p>
            <a:pPr indent="0" marL="0">
              <a:buNone/>
            </a:pPr>
            <a:r>
              <a:rPr lang="en-US" sz="1300" dirty="0">
                <a:solidFill>
                  <a:srgbClr val="FFFFFF"/>
                </a:solidFill>
              </a:rPr>
              <a:t>Marquer : présent, absent, en retard ou excusé</a:t>
            </a:r>
            <a:endParaRPr lang="en-US" sz="1300" dirty="0"/>
          </a:p>
        </p:txBody>
      </p:sp>
      <p:sp>
        <p:nvSpPr>
          <p:cNvPr id="20" name="stp_416"/>
          <p:cNvSpPr/>
          <p:nvPr/>
        </p:nvSpPr>
        <p:spPr>
          <a:xfrm>
            <a:off x="8229600" y="5486400"/>
            <a:ext cx="384048" cy="384048"/>
          </a:xfrm>
          <a:prstGeom prst="ellipse">
            <a:avLst/>
          </a:prstGeom>
          <a:solidFill>
            <a:srgbClr val="03909E"/>
          </a:solidFill>
          <a:ln/>
        </p:spPr>
      </p:sp>
      <p:sp>
        <p:nvSpPr>
          <p:cNvPr id="21" name="t_417"/>
          <p:cNvSpPr txBox="1"/>
          <p:nvPr/>
        </p:nvSpPr>
        <p:spPr>
          <a:xfrm>
            <a:off x="8229600" y="54864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2" name="t_418"/>
          <p:cNvSpPr txBox="1"/>
          <p:nvPr/>
        </p:nvSpPr>
        <p:spPr>
          <a:xfrm>
            <a:off x="8732520" y="5394960"/>
            <a:ext cx="2697480" cy="594360"/>
          </a:xfrm>
          <a:prstGeom prst="rect">
            <a:avLst/>
          </a:prstGeom>
          <a:noFill/>
          <a:ln/>
        </p:spPr>
        <p:txBody>
          <a:bodyPr wrap="square" lIns="0" tIns="0" rIns="0" bIns="0" rtlCol="0" anchor="ctr"/>
          <a:lstStyle/>
          <a:p>
            <a:pPr indent="0" marL="0">
              <a:buNone/>
            </a:pPr>
            <a:r>
              <a:rPr lang="en-US" sz="1300" dirty="0">
                <a:solidFill>
                  <a:srgbClr val="FFFFFF"/>
                </a:solidFill>
              </a:rPr>
              <a:t>Validation : présences enregistrées</a:t>
            </a:r>
            <a:endParaRPr lang="en-US" sz="13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Diagramme de séquence</a:t>
            </a:r>
            <a:endParaRPr lang="en-US" sz="3000" dirty="0"/>
          </a:p>
        </p:txBody>
      </p:sp>
      <p:sp>
        <p:nvSpPr>
          <p:cNvPr id="3" name="card_419"/>
          <p:cNvSpPr/>
          <p:nvPr/>
        </p:nvSpPr>
        <p:spPr>
          <a:xfrm>
            <a:off x="548640" y="1234440"/>
            <a:ext cx="7223760" cy="5029200"/>
          </a:xfrm>
          <a:prstGeom prst="roundRect">
            <a:avLst>
              <a:gd name="adj" fmla="val 2182"/>
            </a:avLst>
          </a:prstGeom>
          <a:solidFill>
            <a:schemeClr val="bg1"/>
          </a:solidFill>
          <a:ln/>
          <a:effectLst>
            <a:outerShdw sx="100000" sy="100000" kx="0" ky="0" algn="bl" rotWithShape="0" blurRad="127000" dist="38100" dir="5400000">
              <a:srgbClr val="1B2433">
                <a:alpha val="14000"/>
              </a:srgbClr>
            </a:outerShdw>
          </a:effectLst>
        </p:spPr>
      </p:sp>
      <p:pic>
        <p:nvPicPr>
          <p:cNvPr id="4" name="fig_420" descr="Authentification">    </p:cNvPr>
          <p:cNvPicPr>
            <a:picLocks noChangeAspect="1"/>
          </p:cNvPicPr>
          <p:nvPr/>
        </p:nvPicPr>
        <p:blipFill>
          <a:blip r:embed="rId1"/>
          <a:stretch>
            <a:fillRect/>
          </a:stretch>
        </p:blipFill>
        <p:spPr>
          <a:xfrm>
            <a:off x="2212519" y="1344168"/>
            <a:ext cx="3896002" cy="4498848"/>
          </a:xfrm>
          <a:prstGeom prst="rect">
            <a:avLst/>
          </a:prstGeom>
        </p:spPr>
      </p:pic>
      <p:sp>
        <p:nvSpPr>
          <p:cNvPr id="5" name="cap_421"/>
          <p:cNvSpPr txBox="1"/>
          <p:nvPr/>
        </p:nvSpPr>
        <p:spPr>
          <a:xfrm>
            <a:off x="658368" y="5897880"/>
            <a:ext cx="7004304" cy="310896"/>
          </a:xfrm>
          <a:prstGeom prst="rect">
            <a:avLst/>
          </a:prstGeom>
          <a:noFill/>
          <a:ln/>
        </p:spPr>
        <p:txBody>
          <a:bodyPr wrap="square" lIns="0" tIns="0" rIns="0" bIns="0" rtlCol="0" anchor="ctr"/>
          <a:lstStyle/>
          <a:p>
            <a:pPr algn="ctr" indent="0" marL="0">
              <a:buNone/>
            </a:pPr>
            <a:r>
              <a:rPr lang="en-US" sz="1100" i="1" dirty="0">
                <a:solidFill>
                  <a:schemeClr val="tx2"/>
                </a:solidFill>
              </a:rPr>
              <a:t>Authentification</a:t>
            </a:r>
            <a:endParaRPr lang="en-US" sz="1100" dirty="0"/>
          </a:p>
        </p:txBody>
      </p:sp>
      <p:sp>
        <p:nvSpPr>
          <p:cNvPr id="6" name="card_422"/>
          <p:cNvSpPr/>
          <p:nvPr/>
        </p:nvSpPr>
        <p:spPr>
          <a:xfrm>
            <a:off x="8001000" y="1234440"/>
            <a:ext cx="3657600" cy="5029200"/>
          </a:xfrm>
          <a:prstGeom prst="roundRect">
            <a:avLst>
              <a:gd name="adj" fmla="val 3000"/>
            </a:avLst>
          </a:prstGeom>
          <a:solidFill>
            <a:schemeClr val="tx2"/>
          </a:solidFill>
          <a:ln/>
          <a:effectLst>
            <a:outerShdw sx="100000" sy="100000" kx="0" ky="0" algn="bl" rotWithShape="0" blurRad="127000" dist="38100" dir="5400000">
              <a:srgbClr val="1B2433">
                <a:alpha val="14000"/>
              </a:srgbClr>
            </a:outerShdw>
          </a:effectLst>
        </p:spPr>
      </p:sp>
      <p:sp>
        <p:nvSpPr>
          <p:cNvPr id="7" name="t_423"/>
          <p:cNvSpPr txBox="1"/>
          <p:nvPr/>
        </p:nvSpPr>
        <p:spPr>
          <a:xfrm>
            <a:off x="8229600" y="1463040"/>
            <a:ext cx="3200400" cy="731520"/>
          </a:xfrm>
          <a:prstGeom prst="rect">
            <a:avLst/>
          </a:prstGeom>
          <a:noFill/>
          <a:ln/>
        </p:spPr>
        <p:txBody>
          <a:bodyPr wrap="square" lIns="0" tIns="0" rIns="0" bIns="0" rtlCol="0" anchor="t"/>
          <a:lstStyle/>
          <a:p>
            <a:pPr indent="0" marL="0">
              <a:buNone/>
            </a:pPr>
            <a:r>
              <a:rPr lang="en-US" sz="1700" b="1" dirty="0">
                <a:solidFill>
                  <a:srgbClr val="D7971D"/>
                </a:solidFill>
              </a:rPr>
              <a:t>Authentification</a:t>
            </a:r>
            <a:endParaRPr lang="en-US" sz="1700" dirty="0"/>
          </a:p>
        </p:txBody>
      </p:sp>
      <p:sp>
        <p:nvSpPr>
          <p:cNvPr id="8" name="stp_424"/>
          <p:cNvSpPr/>
          <p:nvPr/>
        </p:nvSpPr>
        <p:spPr>
          <a:xfrm>
            <a:off x="8229600" y="2377440"/>
            <a:ext cx="384048" cy="384048"/>
          </a:xfrm>
          <a:prstGeom prst="ellipse">
            <a:avLst/>
          </a:prstGeom>
          <a:solidFill>
            <a:srgbClr val="03909E"/>
          </a:solidFill>
          <a:ln/>
        </p:spPr>
      </p:sp>
      <p:sp>
        <p:nvSpPr>
          <p:cNvPr id="9" name="t_425"/>
          <p:cNvSpPr txBox="1"/>
          <p:nvPr/>
        </p:nvSpPr>
        <p:spPr>
          <a:xfrm>
            <a:off x="8229600" y="23774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0" name="t_426"/>
          <p:cNvSpPr txBox="1"/>
          <p:nvPr/>
        </p:nvSpPr>
        <p:spPr>
          <a:xfrm>
            <a:off x="8732520" y="2286000"/>
            <a:ext cx="2697480" cy="594360"/>
          </a:xfrm>
          <a:prstGeom prst="rect">
            <a:avLst/>
          </a:prstGeom>
          <a:noFill/>
          <a:ln/>
        </p:spPr>
        <p:txBody>
          <a:bodyPr wrap="square" lIns="0" tIns="0" rIns="0" bIns="0" rtlCol="0" anchor="ctr"/>
          <a:lstStyle/>
          <a:p>
            <a:pPr indent="0" marL="0">
              <a:buNone/>
            </a:pPr>
            <a:r>
              <a:rPr lang="en-US" sz="1300" dirty="0">
                <a:solidFill>
                  <a:srgbClr val="FFFFFF"/>
                </a:solidFill>
              </a:rPr>
              <a:t>L'utilisateur saisit son identifiant et son mot de passe</a:t>
            </a:r>
            <a:endParaRPr lang="en-US" sz="1300" dirty="0"/>
          </a:p>
        </p:txBody>
      </p:sp>
      <p:sp>
        <p:nvSpPr>
          <p:cNvPr id="11" name="stp_427"/>
          <p:cNvSpPr/>
          <p:nvPr/>
        </p:nvSpPr>
        <p:spPr>
          <a:xfrm>
            <a:off x="8229600" y="3154680"/>
            <a:ext cx="384048" cy="384048"/>
          </a:xfrm>
          <a:prstGeom prst="ellipse">
            <a:avLst/>
          </a:prstGeom>
          <a:solidFill>
            <a:srgbClr val="03909E"/>
          </a:solidFill>
          <a:ln/>
        </p:spPr>
      </p:sp>
      <p:sp>
        <p:nvSpPr>
          <p:cNvPr id="12" name="t_428"/>
          <p:cNvSpPr txBox="1"/>
          <p:nvPr/>
        </p:nvSpPr>
        <p:spPr>
          <a:xfrm>
            <a:off x="8229600" y="31546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t_429"/>
          <p:cNvSpPr txBox="1"/>
          <p:nvPr/>
        </p:nvSpPr>
        <p:spPr>
          <a:xfrm>
            <a:off x="8732520" y="3063240"/>
            <a:ext cx="2697480" cy="594360"/>
          </a:xfrm>
          <a:prstGeom prst="rect">
            <a:avLst/>
          </a:prstGeom>
          <a:noFill/>
          <a:ln/>
        </p:spPr>
        <p:txBody>
          <a:bodyPr wrap="square" lIns="0" tIns="0" rIns="0" bIns="0" rtlCol="0" anchor="ctr"/>
          <a:lstStyle/>
          <a:p>
            <a:pPr indent="0" marL="0">
              <a:buNone/>
            </a:pPr>
            <a:r>
              <a:rPr lang="en-US" sz="1300" dirty="0">
                <a:solidFill>
                  <a:srgbClr val="FFFFFF"/>
                </a:solidFill>
              </a:rPr>
              <a:t>L'API Laravel vérifie les identifiants</a:t>
            </a:r>
            <a:endParaRPr lang="en-US" sz="1300" dirty="0"/>
          </a:p>
        </p:txBody>
      </p:sp>
      <p:sp>
        <p:nvSpPr>
          <p:cNvPr id="14" name="stp_430"/>
          <p:cNvSpPr/>
          <p:nvPr/>
        </p:nvSpPr>
        <p:spPr>
          <a:xfrm>
            <a:off x="8229600" y="3931920"/>
            <a:ext cx="384048" cy="384048"/>
          </a:xfrm>
          <a:prstGeom prst="ellipse">
            <a:avLst/>
          </a:prstGeom>
          <a:solidFill>
            <a:srgbClr val="03909E"/>
          </a:solidFill>
          <a:ln/>
        </p:spPr>
      </p:sp>
      <p:sp>
        <p:nvSpPr>
          <p:cNvPr id="15" name="t_431"/>
          <p:cNvSpPr txBox="1"/>
          <p:nvPr/>
        </p:nvSpPr>
        <p:spPr>
          <a:xfrm>
            <a:off x="8229600" y="39319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6" name="t_432"/>
          <p:cNvSpPr txBox="1"/>
          <p:nvPr/>
        </p:nvSpPr>
        <p:spPr>
          <a:xfrm>
            <a:off x="8732520" y="3840480"/>
            <a:ext cx="2697480" cy="594360"/>
          </a:xfrm>
          <a:prstGeom prst="rect">
            <a:avLst/>
          </a:prstGeom>
          <a:noFill/>
          <a:ln/>
        </p:spPr>
        <p:txBody>
          <a:bodyPr wrap="square" lIns="0" tIns="0" rIns="0" bIns="0" rtlCol="0" anchor="ctr"/>
          <a:lstStyle/>
          <a:p>
            <a:pPr indent="0" marL="0">
              <a:buNone/>
            </a:pPr>
            <a:r>
              <a:rPr lang="en-US" sz="1300" dirty="0">
                <a:solidFill>
                  <a:srgbClr val="FFFFFF"/>
                </a:solidFill>
              </a:rPr>
              <a:t>Vérification du rôle et de l'approbation du compte</a:t>
            </a:r>
            <a:endParaRPr lang="en-US" sz="1300" dirty="0"/>
          </a:p>
        </p:txBody>
      </p:sp>
      <p:sp>
        <p:nvSpPr>
          <p:cNvPr id="17" name="stp_433"/>
          <p:cNvSpPr/>
          <p:nvPr/>
        </p:nvSpPr>
        <p:spPr>
          <a:xfrm>
            <a:off x="8229600" y="4709160"/>
            <a:ext cx="384048" cy="384048"/>
          </a:xfrm>
          <a:prstGeom prst="ellipse">
            <a:avLst/>
          </a:prstGeom>
          <a:solidFill>
            <a:srgbClr val="03909E"/>
          </a:solidFill>
          <a:ln/>
        </p:spPr>
      </p:sp>
      <p:sp>
        <p:nvSpPr>
          <p:cNvPr id="18" name="t_434"/>
          <p:cNvSpPr txBox="1"/>
          <p:nvPr/>
        </p:nvSpPr>
        <p:spPr>
          <a:xfrm>
            <a:off x="8229600" y="47091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9" name="t_435"/>
          <p:cNvSpPr txBox="1"/>
          <p:nvPr/>
        </p:nvSpPr>
        <p:spPr>
          <a:xfrm>
            <a:off x="8732520" y="4617720"/>
            <a:ext cx="2697480" cy="594360"/>
          </a:xfrm>
          <a:prstGeom prst="rect">
            <a:avLst/>
          </a:prstGeom>
          <a:noFill/>
          <a:ln/>
        </p:spPr>
        <p:txBody>
          <a:bodyPr wrap="square" lIns="0" tIns="0" rIns="0" bIns="0" rtlCol="0" anchor="ctr"/>
          <a:lstStyle/>
          <a:p>
            <a:pPr indent="0" marL="0">
              <a:buNone/>
            </a:pPr>
            <a:r>
              <a:rPr lang="en-US" sz="1300" dirty="0">
                <a:solidFill>
                  <a:srgbClr val="FFFFFF"/>
                </a:solidFill>
              </a:rPr>
              <a:t>Ouverture d'une session sécurisée</a:t>
            </a:r>
            <a:endParaRPr lang="en-US" sz="13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Diagramme de classes et modèle relationnel</a:t>
            </a:r>
            <a:endParaRPr lang="en-US" sz="3000" dirty="0"/>
          </a:p>
        </p:txBody>
      </p:sp>
      <p:sp>
        <p:nvSpPr>
          <p:cNvPr id="3" name="card_436"/>
          <p:cNvSpPr/>
          <p:nvPr/>
        </p:nvSpPr>
        <p:spPr>
          <a:xfrm>
            <a:off x="548640" y="1234440"/>
            <a:ext cx="6949440" cy="5029200"/>
          </a:xfrm>
          <a:prstGeom prst="roundRect">
            <a:avLst>
              <a:gd name="adj" fmla="val 2182"/>
            </a:avLst>
          </a:prstGeom>
          <a:solidFill>
            <a:schemeClr val="bg1"/>
          </a:solidFill>
          <a:ln/>
          <a:effectLst>
            <a:outerShdw sx="100000" sy="100000" kx="0" ky="0" algn="bl" rotWithShape="0" blurRad="127000" dist="38100" dir="5400000">
              <a:srgbClr val="1B2433">
                <a:alpha val="14000"/>
              </a:srgbClr>
            </a:outerShdw>
          </a:effectLst>
        </p:spPr>
      </p:sp>
      <p:pic>
        <p:nvPicPr>
          <p:cNvPr id="4" name="fig_437" descr="Diagramme de classes de la plateforme">    </p:cNvPr>
          <p:cNvPicPr>
            <a:picLocks noChangeAspect="1"/>
          </p:cNvPicPr>
          <p:nvPr/>
        </p:nvPicPr>
        <p:blipFill>
          <a:blip r:embed="rId1"/>
          <a:stretch>
            <a:fillRect/>
          </a:stretch>
        </p:blipFill>
        <p:spPr>
          <a:xfrm>
            <a:off x="1019121" y="1344168"/>
            <a:ext cx="6008478" cy="4498848"/>
          </a:xfrm>
          <a:prstGeom prst="rect">
            <a:avLst/>
          </a:prstGeom>
        </p:spPr>
      </p:pic>
      <p:sp>
        <p:nvSpPr>
          <p:cNvPr id="5" name="cap_438"/>
          <p:cNvSpPr txBox="1"/>
          <p:nvPr/>
        </p:nvSpPr>
        <p:spPr>
          <a:xfrm>
            <a:off x="658368" y="5897880"/>
            <a:ext cx="6729984" cy="310896"/>
          </a:xfrm>
          <a:prstGeom prst="rect">
            <a:avLst/>
          </a:prstGeom>
          <a:noFill/>
          <a:ln/>
        </p:spPr>
        <p:txBody>
          <a:bodyPr wrap="square" lIns="0" tIns="0" rIns="0" bIns="0" rtlCol="0" anchor="ctr"/>
          <a:lstStyle/>
          <a:p>
            <a:pPr algn="ctr" indent="0" marL="0">
              <a:buNone/>
            </a:pPr>
            <a:r>
              <a:rPr lang="en-US" sz="1100" i="1" dirty="0">
                <a:solidFill>
                  <a:schemeClr val="tx2"/>
                </a:solidFill>
              </a:rPr>
              <a:t>Diagramme de classes de la plateforme</a:t>
            </a:r>
            <a:endParaRPr lang="en-US" sz="1100" dirty="0"/>
          </a:p>
        </p:txBody>
      </p:sp>
      <p:sp>
        <p:nvSpPr>
          <p:cNvPr id="6" name="card_439"/>
          <p:cNvSpPr/>
          <p:nvPr/>
        </p:nvSpPr>
        <p:spPr>
          <a:xfrm>
            <a:off x="7726680" y="1234440"/>
            <a:ext cx="3931920" cy="3291840"/>
          </a:xfrm>
          <a:prstGeom prst="roundRect">
            <a:avLst>
              <a:gd name="adj" fmla="val 3333"/>
            </a:avLst>
          </a:prstGeom>
          <a:solidFill>
            <a:schemeClr val="bg1"/>
          </a:solidFill>
          <a:ln/>
          <a:effectLst>
            <a:outerShdw sx="100000" sy="100000" kx="0" ky="0" algn="bl" rotWithShape="0" blurRad="127000" dist="38100" dir="5400000">
              <a:srgbClr val="1B2433">
                <a:alpha val="14000"/>
              </a:srgbClr>
            </a:outerShdw>
          </a:effectLst>
        </p:spPr>
      </p:sp>
      <p:pic>
        <p:nvPicPr>
          <p:cNvPr id="7" name="fig_440" descr="Types énumérés">    </p:cNvPr>
          <p:cNvPicPr>
            <a:picLocks noChangeAspect="1"/>
          </p:cNvPicPr>
          <p:nvPr/>
        </p:nvPicPr>
        <p:blipFill>
          <a:blip r:embed="rId2"/>
          <a:stretch>
            <a:fillRect/>
          </a:stretch>
        </p:blipFill>
        <p:spPr>
          <a:xfrm>
            <a:off x="7928111" y="1344168"/>
            <a:ext cx="3529058" cy="2761488"/>
          </a:xfrm>
          <a:prstGeom prst="rect">
            <a:avLst/>
          </a:prstGeom>
        </p:spPr>
      </p:pic>
      <p:sp>
        <p:nvSpPr>
          <p:cNvPr id="8" name="cap_441"/>
          <p:cNvSpPr txBox="1"/>
          <p:nvPr/>
        </p:nvSpPr>
        <p:spPr>
          <a:xfrm>
            <a:off x="7836408" y="4160520"/>
            <a:ext cx="3712464" cy="310896"/>
          </a:xfrm>
          <a:prstGeom prst="rect">
            <a:avLst/>
          </a:prstGeom>
          <a:noFill/>
          <a:ln/>
        </p:spPr>
        <p:txBody>
          <a:bodyPr wrap="square" lIns="0" tIns="0" rIns="0" bIns="0" rtlCol="0" anchor="ctr"/>
          <a:lstStyle/>
          <a:p>
            <a:pPr algn="ctr" indent="0" marL="0">
              <a:buNone/>
            </a:pPr>
            <a:r>
              <a:rPr lang="en-US" sz="1100" i="1" dirty="0">
                <a:solidFill>
                  <a:schemeClr val="tx2"/>
                </a:solidFill>
              </a:rPr>
              <a:t>Types énumérés</a:t>
            </a:r>
            <a:endParaRPr lang="en-US" sz="1100" dirty="0"/>
          </a:p>
        </p:txBody>
      </p:sp>
      <p:sp>
        <p:nvSpPr>
          <p:cNvPr id="9" name="card_442"/>
          <p:cNvSpPr/>
          <p:nvPr/>
        </p:nvSpPr>
        <p:spPr>
          <a:xfrm>
            <a:off x="7726680" y="4709160"/>
            <a:ext cx="3931920" cy="1554480"/>
          </a:xfrm>
          <a:prstGeom prst="roundRect">
            <a:avLst>
              <a:gd name="adj" fmla="val 7059"/>
            </a:avLst>
          </a:prstGeom>
          <a:solidFill>
            <a:schemeClr val="tx2"/>
          </a:solidFill>
          <a:ln/>
          <a:effectLst>
            <a:outerShdw sx="100000" sy="100000" kx="0" ky="0" algn="bl" rotWithShape="0" blurRad="127000" dist="38100" dir="5400000">
              <a:srgbClr val="1B2433">
                <a:alpha val="14000"/>
              </a:srgbClr>
            </a:outerShdw>
          </a:effectLst>
        </p:spPr>
      </p:sp>
      <p:sp>
        <p:nvSpPr>
          <p:cNvPr id="10" name="t_443"/>
          <p:cNvSpPr txBox="1"/>
          <p:nvPr/>
        </p:nvSpPr>
        <p:spPr>
          <a:xfrm>
            <a:off x="7955280" y="4800600"/>
            <a:ext cx="3520440" cy="1371600"/>
          </a:xfrm>
          <a:prstGeom prst="rect">
            <a:avLst/>
          </a:prstGeom>
          <a:noFill/>
          <a:ln/>
        </p:spPr>
        <p:txBody>
          <a:bodyPr wrap="square" lIns="0" tIns="0" rIns="0" bIns="0" rtlCol="0" anchor="ctr"/>
          <a:lstStyle/>
          <a:p>
            <a:pPr indent="0" marL="0">
              <a:buNone/>
            </a:pPr>
            <a:r>
              <a:rPr lang="en-US" sz="1300" dirty="0">
                <a:solidFill>
                  <a:srgbClr val="FFFFFF"/>
                </a:solidFill>
              </a:rPr>
              <a:t>Modèle relationnel : chaque classe devient une table ; les associations deviennent des clés étrangères ou des tables de jointure.</a:t>
            </a:r>
            <a:endParaRPr lang="en-US" sz="13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Diagramme de classes : utilisateurs</a:t>
            </a:r>
            <a:endParaRPr lang="en-US" sz="3000" dirty="0"/>
          </a:p>
        </p:txBody>
      </p:sp>
      <p:sp>
        <p:nvSpPr>
          <p:cNvPr id="3" name="card_444"/>
          <p:cNvSpPr/>
          <p:nvPr/>
        </p:nvSpPr>
        <p:spPr>
          <a:xfrm>
            <a:off x="548640" y="1234440"/>
            <a:ext cx="7863840" cy="5029200"/>
          </a:xfrm>
          <a:prstGeom prst="roundRect">
            <a:avLst>
              <a:gd name="adj" fmla="val 2182"/>
            </a:avLst>
          </a:prstGeom>
          <a:solidFill>
            <a:schemeClr val="bg1"/>
          </a:solidFill>
          <a:ln/>
          <a:effectLst>
            <a:outerShdw sx="100000" sy="100000" kx="0" ky="0" algn="bl" rotWithShape="0" blurRad="127000" dist="38100" dir="5400000">
              <a:srgbClr val="1B2433">
                <a:alpha val="14000"/>
              </a:srgbClr>
            </a:outerShdw>
          </a:effectLst>
        </p:spPr>
      </p:sp>
      <p:pic>
        <p:nvPicPr>
          <p:cNvPr id="4" name="fig_445" descr="figure">    </p:cNvPr>
          <p:cNvPicPr>
            <a:picLocks noChangeAspect="1"/>
          </p:cNvPicPr>
          <p:nvPr/>
        </p:nvPicPr>
        <p:blipFill>
          <a:blip r:embed="rId1"/>
          <a:stretch>
            <a:fillRect/>
          </a:stretch>
        </p:blipFill>
        <p:spPr>
          <a:xfrm>
            <a:off x="2550755" y="1344168"/>
            <a:ext cx="3859610" cy="4809744"/>
          </a:xfrm>
          <a:prstGeom prst="rect">
            <a:avLst/>
          </a:prstGeom>
        </p:spPr>
      </p:pic>
      <p:sp>
        <p:nvSpPr>
          <p:cNvPr id="5" name="card_446"/>
          <p:cNvSpPr/>
          <p:nvPr/>
        </p:nvSpPr>
        <p:spPr>
          <a:xfrm>
            <a:off x="8641080" y="1234440"/>
            <a:ext cx="3017520" cy="5029200"/>
          </a:xfrm>
          <a:prstGeom prst="roundRect">
            <a:avLst>
              <a:gd name="adj" fmla="val 3636"/>
            </a:avLst>
          </a:prstGeom>
          <a:solidFill>
            <a:schemeClr val="tx2"/>
          </a:solidFill>
          <a:ln/>
          <a:effectLst>
            <a:outerShdw sx="100000" sy="100000" kx="0" ky="0" algn="bl" rotWithShape="0" blurRad="127000" dist="38100" dir="5400000">
              <a:srgbClr val="1B2433">
                <a:alpha val="14000"/>
              </a:srgbClr>
            </a:outerShdw>
          </a:effectLst>
        </p:spPr>
      </p:sp>
      <p:sp>
        <p:nvSpPr>
          <p:cNvPr id="6" name="t_447"/>
          <p:cNvSpPr txBox="1"/>
          <p:nvPr/>
        </p:nvSpPr>
        <p:spPr>
          <a:xfrm>
            <a:off x="8869680" y="1417320"/>
            <a:ext cx="2560320" cy="320040"/>
          </a:xfrm>
          <a:prstGeom prst="rect">
            <a:avLst/>
          </a:prstGeom>
          <a:noFill/>
          <a:ln/>
        </p:spPr>
        <p:txBody>
          <a:bodyPr wrap="square" lIns="0" tIns="0" rIns="0" bIns="0" rtlCol="0" anchor="t"/>
          <a:lstStyle/>
          <a:p>
            <a:pPr indent="0" marL="0">
              <a:buNone/>
            </a:pPr>
            <a:r>
              <a:rPr lang="en-US" sz="1300" b="1" dirty="0">
                <a:solidFill>
                  <a:srgbClr val="D7971D"/>
                </a:solidFill>
              </a:rPr>
              <a:t>Partie 1 / 5</a:t>
            </a:r>
            <a:endParaRPr lang="en-US" sz="1300" dirty="0"/>
          </a:p>
        </p:txBody>
      </p:sp>
      <p:sp>
        <p:nvSpPr>
          <p:cNvPr id="7" name="t_448"/>
          <p:cNvSpPr txBox="1"/>
          <p:nvPr/>
        </p:nvSpPr>
        <p:spPr>
          <a:xfrm>
            <a:off x="8869680" y="1737360"/>
            <a:ext cx="2560320" cy="731520"/>
          </a:xfrm>
          <a:prstGeom prst="rect">
            <a:avLst/>
          </a:prstGeom>
          <a:noFill/>
          <a:ln/>
        </p:spPr>
        <p:txBody>
          <a:bodyPr wrap="square" lIns="0" tIns="0" rIns="0" bIns="0" rtlCol="0" anchor="t"/>
          <a:lstStyle/>
          <a:p>
            <a:pPr indent="0" marL="0">
              <a:buNone/>
            </a:pPr>
            <a:r>
              <a:rPr lang="en-US" sz="1900" b="1" dirty="0">
                <a:solidFill>
                  <a:srgbClr val="FFFFFF"/>
                </a:solidFill>
              </a:rPr>
              <a:t>Utilisateurs</a:t>
            </a:r>
            <a:endParaRPr lang="en-US" sz="1900" dirty="0"/>
          </a:p>
        </p:txBody>
      </p:sp>
      <p:sp>
        <p:nvSpPr>
          <p:cNvPr id="8" name="clchip_449"/>
          <p:cNvSpPr/>
          <p:nvPr/>
        </p:nvSpPr>
        <p:spPr>
          <a:xfrm>
            <a:off x="8869680" y="2606040"/>
            <a:ext cx="2560320" cy="347472"/>
          </a:xfrm>
          <a:prstGeom prst="roundRect">
            <a:avLst>
              <a:gd name="adj" fmla="val 21053"/>
            </a:avLst>
          </a:prstGeom>
          <a:solidFill>
            <a:srgbClr val="FFFFFF">
              <a:alpha val="12000"/>
            </a:srgbClr>
          </a:solidFill>
          <a:ln/>
        </p:spPr>
      </p:sp>
      <p:sp>
        <p:nvSpPr>
          <p:cNvPr id="9" name="t_450"/>
          <p:cNvSpPr txBox="1"/>
          <p:nvPr/>
        </p:nvSpPr>
        <p:spPr>
          <a:xfrm>
            <a:off x="9006840" y="2606040"/>
            <a:ext cx="2377440" cy="347472"/>
          </a:xfrm>
          <a:prstGeom prst="rect">
            <a:avLst/>
          </a:prstGeom>
          <a:noFill/>
          <a:ln/>
        </p:spPr>
        <p:txBody>
          <a:bodyPr wrap="square" lIns="0" tIns="0" rIns="0" bIns="0" rtlCol="0" anchor="ctr"/>
          <a:lstStyle/>
          <a:p>
            <a:pPr indent="0" marL="0">
              <a:buNone/>
            </a:pPr>
            <a:r>
              <a:rPr lang="en-US" sz="1300" dirty="0">
                <a:solidFill>
                  <a:srgbClr val="FFFFFF"/>
                </a:solidFill>
              </a:rPr>
              <a:t>Utilisateur</a:t>
            </a:r>
            <a:endParaRPr lang="en-US" sz="1300" dirty="0"/>
          </a:p>
        </p:txBody>
      </p:sp>
      <p:sp>
        <p:nvSpPr>
          <p:cNvPr id="10" name="clchip_451"/>
          <p:cNvSpPr/>
          <p:nvPr/>
        </p:nvSpPr>
        <p:spPr>
          <a:xfrm>
            <a:off x="8869680" y="3035808"/>
            <a:ext cx="2560320" cy="347472"/>
          </a:xfrm>
          <a:prstGeom prst="roundRect">
            <a:avLst>
              <a:gd name="adj" fmla="val 21053"/>
            </a:avLst>
          </a:prstGeom>
          <a:solidFill>
            <a:srgbClr val="FFFFFF">
              <a:alpha val="12000"/>
            </a:srgbClr>
          </a:solidFill>
          <a:ln/>
        </p:spPr>
      </p:sp>
      <p:sp>
        <p:nvSpPr>
          <p:cNvPr id="11" name="t_452"/>
          <p:cNvSpPr txBox="1"/>
          <p:nvPr/>
        </p:nvSpPr>
        <p:spPr>
          <a:xfrm>
            <a:off x="9006840" y="3035808"/>
            <a:ext cx="2377440" cy="347472"/>
          </a:xfrm>
          <a:prstGeom prst="rect">
            <a:avLst/>
          </a:prstGeom>
          <a:noFill/>
          <a:ln/>
        </p:spPr>
        <p:txBody>
          <a:bodyPr wrap="square" lIns="0" tIns="0" rIns="0" bIns="0" rtlCol="0" anchor="ctr"/>
          <a:lstStyle/>
          <a:p>
            <a:pPr indent="0" marL="0">
              <a:buNone/>
            </a:pPr>
            <a:r>
              <a:rPr lang="en-US" sz="1300" dirty="0">
                <a:solidFill>
                  <a:srgbClr val="FFFFFF"/>
                </a:solidFill>
              </a:rPr>
              <a:t>Administration</a:t>
            </a:r>
            <a:endParaRPr lang="en-US" sz="1300" dirty="0"/>
          </a:p>
        </p:txBody>
      </p:sp>
      <p:sp>
        <p:nvSpPr>
          <p:cNvPr id="12" name="clchip_453"/>
          <p:cNvSpPr/>
          <p:nvPr/>
        </p:nvSpPr>
        <p:spPr>
          <a:xfrm>
            <a:off x="8869680" y="3465576"/>
            <a:ext cx="2560320" cy="347472"/>
          </a:xfrm>
          <a:prstGeom prst="roundRect">
            <a:avLst>
              <a:gd name="adj" fmla="val 21053"/>
            </a:avLst>
          </a:prstGeom>
          <a:solidFill>
            <a:srgbClr val="FFFFFF">
              <a:alpha val="12000"/>
            </a:srgbClr>
          </a:solidFill>
          <a:ln/>
        </p:spPr>
      </p:sp>
      <p:sp>
        <p:nvSpPr>
          <p:cNvPr id="13" name="t_454"/>
          <p:cNvSpPr txBox="1"/>
          <p:nvPr/>
        </p:nvSpPr>
        <p:spPr>
          <a:xfrm>
            <a:off x="9006840" y="3465576"/>
            <a:ext cx="2377440" cy="347472"/>
          </a:xfrm>
          <a:prstGeom prst="rect">
            <a:avLst/>
          </a:prstGeom>
          <a:noFill/>
          <a:ln/>
        </p:spPr>
        <p:txBody>
          <a:bodyPr wrap="square" lIns="0" tIns="0" rIns="0" bIns="0" rtlCol="0" anchor="ctr"/>
          <a:lstStyle/>
          <a:p>
            <a:pPr indent="0" marL="0">
              <a:buNone/>
            </a:pPr>
            <a:r>
              <a:rPr lang="en-US" sz="1300" dirty="0">
                <a:solidFill>
                  <a:srgbClr val="FFFFFF"/>
                </a:solidFill>
              </a:rPr>
              <a:t>Enseignant</a:t>
            </a:r>
            <a:endParaRPr lang="en-US" sz="1300" dirty="0"/>
          </a:p>
        </p:txBody>
      </p:sp>
      <p:sp>
        <p:nvSpPr>
          <p:cNvPr id="14" name="clchip_455"/>
          <p:cNvSpPr/>
          <p:nvPr/>
        </p:nvSpPr>
        <p:spPr>
          <a:xfrm>
            <a:off x="8869680" y="3895344"/>
            <a:ext cx="2560320" cy="347472"/>
          </a:xfrm>
          <a:prstGeom prst="roundRect">
            <a:avLst>
              <a:gd name="adj" fmla="val 21053"/>
            </a:avLst>
          </a:prstGeom>
          <a:solidFill>
            <a:srgbClr val="FFFFFF">
              <a:alpha val="12000"/>
            </a:srgbClr>
          </a:solidFill>
          <a:ln/>
        </p:spPr>
      </p:sp>
      <p:sp>
        <p:nvSpPr>
          <p:cNvPr id="15" name="t_456"/>
          <p:cNvSpPr txBox="1"/>
          <p:nvPr/>
        </p:nvSpPr>
        <p:spPr>
          <a:xfrm>
            <a:off x="9006840" y="3895344"/>
            <a:ext cx="2377440" cy="347472"/>
          </a:xfrm>
          <a:prstGeom prst="rect">
            <a:avLst/>
          </a:prstGeom>
          <a:noFill/>
          <a:ln/>
        </p:spPr>
        <p:txBody>
          <a:bodyPr wrap="square" lIns="0" tIns="0" rIns="0" bIns="0" rtlCol="0" anchor="ctr"/>
          <a:lstStyle/>
          <a:p>
            <a:pPr indent="0" marL="0">
              <a:buNone/>
            </a:pPr>
            <a:r>
              <a:rPr lang="en-US" sz="1300" dirty="0">
                <a:solidFill>
                  <a:srgbClr val="FFFFFF"/>
                </a:solidFill>
              </a:rPr>
              <a:t>Stagiaire</a:t>
            </a:r>
            <a:endParaRPr lang="en-US" sz="13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Diagramme de classes : structure pédagogique</a:t>
            </a:r>
            <a:endParaRPr lang="en-US" sz="3000" dirty="0"/>
          </a:p>
        </p:txBody>
      </p:sp>
      <p:sp>
        <p:nvSpPr>
          <p:cNvPr id="3" name="card_457"/>
          <p:cNvSpPr/>
          <p:nvPr/>
        </p:nvSpPr>
        <p:spPr>
          <a:xfrm>
            <a:off x="548640" y="1234440"/>
            <a:ext cx="7863840" cy="5029200"/>
          </a:xfrm>
          <a:prstGeom prst="roundRect">
            <a:avLst>
              <a:gd name="adj" fmla="val 2182"/>
            </a:avLst>
          </a:prstGeom>
          <a:solidFill>
            <a:schemeClr val="bg1"/>
          </a:solidFill>
          <a:ln/>
          <a:effectLst>
            <a:outerShdw sx="100000" sy="100000" kx="0" ky="0" algn="bl" rotWithShape="0" blurRad="127000" dist="38100" dir="5400000">
              <a:srgbClr val="1B2433">
                <a:alpha val="14000"/>
              </a:srgbClr>
            </a:outerShdw>
          </a:effectLst>
        </p:spPr>
      </p:sp>
      <p:pic>
        <p:nvPicPr>
          <p:cNvPr id="4" name="fig_458" descr="figure">    </p:cNvPr>
          <p:cNvPicPr>
            <a:picLocks noChangeAspect="1"/>
          </p:cNvPicPr>
          <p:nvPr/>
        </p:nvPicPr>
        <p:blipFill>
          <a:blip r:embed="rId1"/>
          <a:stretch>
            <a:fillRect/>
          </a:stretch>
        </p:blipFill>
        <p:spPr>
          <a:xfrm>
            <a:off x="1854627" y="1344168"/>
            <a:ext cx="5251865" cy="4809744"/>
          </a:xfrm>
          <a:prstGeom prst="rect">
            <a:avLst/>
          </a:prstGeom>
        </p:spPr>
      </p:pic>
      <p:sp>
        <p:nvSpPr>
          <p:cNvPr id="5" name="card_459"/>
          <p:cNvSpPr/>
          <p:nvPr/>
        </p:nvSpPr>
        <p:spPr>
          <a:xfrm>
            <a:off x="8641080" y="1234440"/>
            <a:ext cx="3017520" cy="5029200"/>
          </a:xfrm>
          <a:prstGeom prst="roundRect">
            <a:avLst>
              <a:gd name="adj" fmla="val 3636"/>
            </a:avLst>
          </a:prstGeom>
          <a:solidFill>
            <a:schemeClr val="tx2"/>
          </a:solidFill>
          <a:ln/>
          <a:effectLst>
            <a:outerShdw sx="100000" sy="100000" kx="0" ky="0" algn="bl" rotWithShape="0" blurRad="127000" dist="38100" dir="5400000">
              <a:srgbClr val="1B2433">
                <a:alpha val="14000"/>
              </a:srgbClr>
            </a:outerShdw>
          </a:effectLst>
        </p:spPr>
      </p:sp>
      <p:sp>
        <p:nvSpPr>
          <p:cNvPr id="6" name="t_460"/>
          <p:cNvSpPr txBox="1"/>
          <p:nvPr/>
        </p:nvSpPr>
        <p:spPr>
          <a:xfrm>
            <a:off x="8869680" y="1417320"/>
            <a:ext cx="2560320" cy="320040"/>
          </a:xfrm>
          <a:prstGeom prst="rect">
            <a:avLst/>
          </a:prstGeom>
          <a:noFill/>
          <a:ln/>
        </p:spPr>
        <p:txBody>
          <a:bodyPr wrap="square" lIns="0" tIns="0" rIns="0" bIns="0" rtlCol="0" anchor="t"/>
          <a:lstStyle/>
          <a:p>
            <a:pPr indent="0" marL="0">
              <a:buNone/>
            </a:pPr>
            <a:r>
              <a:rPr lang="en-US" sz="1300" b="1" dirty="0">
                <a:solidFill>
                  <a:srgbClr val="D7971D"/>
                </a:solidFill>
              </a:rPr>
              <a:t>Partie 2 / 5</a:t>
            </a:r>
            <a:endParaRPr lang="en-US" sz="1300" dirty="0"/>
          </a:p>
        </p:txBody>
      </p:sp>
      <p:sp>
        <p:nvSpPr>
          <p:cNvPr id="7" name="t_461"/>
          <p:cNvSpPr txBox="1"/>
          <p:nvPr/>
        </p:nvSpPr>
        <p:spPr>
          <a:xfrm>
            <a:off x="8869680" y="1737360"/>
            <a:ext cx="2560320" cy="731520"/>
          </a:xfrm>
          <a:prstGeom prst="rect">
            <a:avLst/>
          </a:prstGeom>
          <a:noFill/>
          <a:ln/>
        </p:spPr>
        <p:txBody>
          <a:bodyPr wrap="square" lIns="0" tIns="0" rIns="0" bIns="0" rtlCol="0" anchor="t"/>
          <a:lstStyle/>
          <a:p>
            <a:pPr indent="0" marL="0">
              <a:buNone/>
            </a:pPr>
            <a:r>
              <a:rPr lang="en-US" sz="1900" b="1" dirty="0">
                <a:solidFill>
                  <a:srgbClr val="FFFFFF"/>
                </a:solidFill>
              </a:rPr>
              <a:t>Structure pédagogique</a:t>
            </a:r>
            <a:endParaRPr lang="en-US" sz="1900" dirty="0"/>
          </a:p>
        </p:txBody>
      </p:sp>
      <p:sp>
        <p:nvSpPr>
          <p:cNvPr id="8" name="clchip_462"/>
          <p:cNvSpPr/>
          <p:nvPr/>
        </p:nvSpPr>
        <p:spPr>
          <a:xfrm>
            <a:off x="8869680" y="2606040"/>
            <a:ext cx="2560320" cy="347472"/>
          </a:xfrm>
          <a:prstGeom prst="roundRect">
            <a:avLst>
              <a:gd name="adj" fmla="val 21053"/>
            </a:avLst>
          </a:prstGeom>
          <a:solidFill>
            <a:srgbClr val="FFFFFF">
              <a:alpha val="12000"/>
            </a:srgbClr>
          </a:solidFill>
          <a:ln/>
        </p:spPr>
      </p:sp>
      <p:sp>
        <p:nvSpPr>
          <p:cNvPr id="9" name="t_463"/>
          <p:cNvSpPr txBox="1"/>
          <p:nvPr/>
        </p:nvSpPr>
        <p:spPr>
          <a:xfrm>
            <a:off x="9006840" y="2606040"/>
            <a:ext cx="2377440" cy="347472"/>
          </a:xfrm>
          <a:prstGeom prst="rect">
            <a:avLst/>
          </a:prstGeom>
          <a:noFill/>
          <a:ln/>
        </p:spPr>
        <p:txBody>
          <a:bodyPr wrap="square" lIns="0" tIns="0" rIns="0" bIns="0" rtlCol="0" anchor="ctr"/>
          <a:lstStyle/>
          <a:p>
            <a:pPr indent="0" marL="0">
              <a:buNone/>
            </a:pPr>
            <a:r>
              <a:rPr lang="en-US" sz="1300" dirty="0">
                <a:solidFill>
                  <a:srgbClr val="FFFFFF"/>
                </a:solidFill>
              </a:rPr>
              <a:t>Filiere</a:t>
            </a:r>
            <a:endParaRPr lang="en-US" sz="1300" dirty="0"/>
          </a:p>
        </p:txBody>
      </p:sp>
      <p:sp>
        <p:nvSpPr>
          <p:cNvPr id="10" name="clchip_464"/>
          <p:cNvSpPr/>
          <p:nvPr/>
        </p:nvSpPr>
        <p:spPr>
          <a:xfrm>
            <a:off x="8869680" y="3035808"/>
            <a:ext cx="2560320" cy="347472"/>
          </a:xfrm>
          <a:prstGeom prst="roundRect">
            <a:avLst>
              <a:gd name="adj" fmla="val 21053"/>
            </a:avLst>
          </a:prstGeom>
          <a:solidFill>
            <a:srgbClr val="FFFFFF">
              <a:alpha val="12000"/>
            </a:srgbClr>
          </a:solidFill>
          <a:ln/>
        </p:spPr>
      </p:sp>
      <p:sp>
        <p:nvSpPr>
          <p:cNvPr id="11" name="t_465"/>
          <p:cNvSpPr txBox="1"/>
          <p:nvPr/>
        </p:nvSpPr>
        <p:spPr>
          <a:xfrm>
            <a:off x="9006840" y="3035808"/>
            <a:ext cx="2377440" cy="347472"/>
          </a:xfrm>
          <a:prstGeom prst="rect">
            <a:avLst/>
          </a:prstGeom>
          <a:noFill/>
          <a:ln/>
        </p:spPr>
        <p:txBody>
          <a:bodyPr wrap="square" lIns="0" tIns="0" rIns="0" bIns="0" rtlCol="0" anchor="ctr"/>
          <a:lstStyle/>
          <a:p>
            <a:pPr indent="0" marL="0">
              <a:buNone/>
            </a:pPr>
            <a:r>
              <a:rPr lang="en-US" sz="1300" dirty="0">
                <a:solidFill>
                  <a:srgbClr val="FFFFFF"/>
                </a:solidFill>
              </a:rPr>
              <a:t>Specialite</a:t>
            </a:r>
            <a:endParaRPr lang="en-US" sz="1300" dirty="0"/>
          </a:p>
        </p:txBody>
      </p:sp>
      <p:sp>
        <p:nvSpPr>
          <p:cNvPr id="12" name="clchip_466"/>
          <p:cNvSpPr/>
          <p:nvPr/>
        </p:nvSpPr>
        <p:spPr>
          <a:xfrm>
            <a:off x="8869680" y="3465576"/>
            <a:ext cx="2560320" cy="347472"/>
          </a:xfrm>
          <a:prstGeom prst="roundRect">
            <a:avLst>
              <a:gd name="adj" fmla="val 21053"/>
            </a:avLst>
          </a:prstGeom>
          <a:solidFill>
            <a:srgbClr val="FFFFFF">
              <a:alpha val="12000"/>
            </a:srgbClr>
          </a:solidFill>
          <a:ln/>
        </p:spPr>
      </p:sp>
      <p:sp>
        <p:nvSpPr>
          <p:cNvPr id="13" name="t_467"/>
          <p:cNvSpPr txBox="1"/>
          <p:nvPr/>
        </p:nvSpPr>
        <p:spPr>
          <a:xfrm>
            <a:off x="9006840" y="3465576"/>
            <a:ext cx="2377440" cy="347472"/>
          </a:xfrm>
          <a:prstGeom prst="rect">
            <a:avLst/>
          </a:prstGeom>
          <a:noFill/>
          <a:ln/>
        </p:spPr>
        <p:txBody>
          <a:bodyPr wrap="square" lIns="0" tIns="0" rIns="0" bIns="0" rtlCol="0" anchor="ctr"/>
          <a:lstStyle/>
          <a:p>
            <a:pPr indent="0" marL="0">
              <a:buNone/>
            </a:pPr>
            <a:r>
              <a:rPr lang="en-US" sz="1300" dirty="0">
                <a:solidFill>
                  <a:srgbClr val="FFFFFF"/>
                </a:solidFill>
              </a:rPr>
              <a:t>Module</a:t>
            </a:r>
            <a:endParaRPr lang="en-US" sz="1300" dirty="0"/>
          </a:p>
        </p:txBody>
      </p:sp>
      <p:sp>
        <p:nvSpPr>
          <p:cNvPr id="14" name="clchip_468"/>
          <p:cNvSpPr/>
          <p:nvPr/>
        </p:nvSpPr>
        <p:spPr>
          <a:xfrm>
            <a:off x="8869680" y="3895344"/>
            <a:ext cx="2560320" cy="347472"/>
          </a:xfrm>
          <a:prstGeom prst="roundRect">
            <a:avLst>
              <a:gd name="adj" fmla="val 21053"/>
            </a:avLst>
          </a:prstGeom>
          <a:solidFill>
            <a:srgbClr val="FFFFFF">
              <a:alpha val="12000"/>
            </a:srgbClr>
          </a:solidFill>
          <a:ln/>
        </p:spPr>
      </p:sp>
      <p:sp>
        <p:nvSpPr>
          <p:cNvPr id="15" name="t_469"/>
          <p:cNvSpPr txBox="1"/>
          <p:nvPr/>
        </p:nvSpPr>
        <p:spPr>
          <a:xfrm>
            <a:off x="9006840" y="3895344"/>
            <a:ext cx="2377440" cy="347472"/>
          </a:xfrm>
          <a:prstGeom prst="rect">
            <a:avLst/>
          </a:prstGeom>
          <a:noFill/>
          <a:ln/>
        </p:spPr>
        <p:txBody>
          <a:bodyPr wrap="square" lIns="0" tIns="0" rIns="0" bIns="0" rtlCol="0" anchor="ctr"/>
          <a:lstStyle/>
          <a:p>
            <a:pPr indent="0" marL="0">
              <a:buNone/>
            </a:pPr>
            <a:r>
              <a:rPr lang="en-US" sz="1300" dirty="0">
                <a:solidFill>
                  <a:srgbClr val="FFFFFF"/>
                </a:solidFill>
              </a:rPr>
              <a:t>Session</a:t>
            </a:r>
            <a:endParaRPr lang="en-US" sz="1300" dirty="0"/>
          </a:p>
        </p:txBody>
      </p:sp>
      <p:sp>
        <p:nvSpPr>
          <p:cNvPr id="16" name="clchip_470"/>
          <p:cNvSpPr/>
          <p:nvPr/>
        </p:nvSpPr>
        <p:spPr>
          <a:xfrm>
            <a:off x="8869680" y="4325112"/>
            <a:ext cx="2560320" cy="347472"/>
          </a:xfrm>
          <a:prstGeom prst="roundRect">
            <a:avLst>
              <a:gd name="adj" fmla="val 21053"/>
            </a:avLst>
          </a:prstGeom>
          <a:solidFill>
            <a:srgbClr val="FFFFFF">
              <a:alpha val="12000"/>
            </a:srgbClr>
          </a:solidFill>
          <a:ln/>
        </p:spPr>
      </p:sp>
      <p:sp>
        <p:nvSpPr>
          <p:cNvPr id="17" name="t_471"/>
          <p:cNvSpPr txBox="1"/>
          <p:nvPr/>
        </p:nvSpPr>
        <p:spPr>
          <a:xfrm>
            <a:off x="9006840" y="4325112"/>
            <a:ext cx="2377440" cy="347472"/>
          </a:xfrm>
          <a:prstGeom prst="rect">
            <a:avLst/>
          </a:prstGeom>
          <a:noFill/>
          <a:ln/>
        </p:spPr>
        <p:txBody>
          <a:bodyPr wrap="square" lIns="0" tIns="0" rIns="0" bIns="0" rtlCol="0" anchor="ctr"/>
          <a:lstStyle/>
          <a:p>
            <a:pPr indent="0" marL="0">
              <a:buNone/>
            </a:pPr>
            <a:r>
              <a:rPr lang="en-US" sz="1300" dirty="0">
                <a:solidFill>
                  <a:srgbClr val="FFFFFF"/>
                </a:solidFill>
              </a:rPr>
              <a:t>SemestreSession</a:t>
            </a:r>
            <a:endParaRPr lang="en-US" sz="1300" dirty="0"/>
          </a:p>
        </p:txBody>
      </p:sp>
      <p:sp>
        <p:nvSpPr>
          <p:cNvPr id="18" name="clchip_472"/>
          <p:cNvSpPr/>
          <p:nvPr/>
        </p:nvSpPr>
        <p:spPr>
          <a:xfrm>
            <a:off x="8869680" y="4754880"/>
            <a:ext cx="2560320" cy="347472"/>
          </a:xfrm>
          <a:prstGeom prst="roundRect">
            <a:avLst>
              <a:gd name="adj" fmla="val 21053"/>
            </a:avLst>
          </a:prstGeom>
          <a:solidFill>
            <a:srgbClr val="FFFFFF">
              <a:alpha val="12000"/>
            </a:srgbClr>
          </a:solidFill>
          <a:ln/>
        </p:spPr>
      </p:sp>
      <p:sp>
        <p:nvSpPr>
          <p:cNvPr id="19" name="t_473"/>
          <p:cNvSpPr txBox="1"/>
          <p:nvPr/>
        </p:nvSpPr>
        <p:spPr>
          <a:xfrm>
            <a:off x="9006840" y="4754880"/>
            <a:ext cx="2377440" cy="347472"/>
          </a:xfrm>
          <a:prstGeom prst="rect">
            <a:avLst/>
          </a:prstGeom>
          <a:noFill/>
          <a:ln/>
        </p:spPr>
        <p:txBody>
          <a:bodyPr wrap="square" lIns="0" tIns="0" rIns="0" bIns="0" rtlCol="0" anchor="ctr"/>
          <a:lstStyle/>
          <a:p>
            <a:pPr indent="0" marL="0">
              <a:buNone/>
            </a:pPr>
            <a:r>
              <a:rPr lang="en-US" sz="1300" dirty="0">
                <a:solidFill>
                  <a:srgbClr val="FFFFFF"/>
                </a:solidFill>
              </a:rPr>
              <a:t>OffreFormation</a:t>
            </a:r>
            <a:endParaRPr lang="en-US" sz="1300" dirty="0"/>
          </a:p>
        </p:txBody>
      </p:sp>
      <p:sp>
        <p:nvSpPr>
          <p:cNvPr id="20" name="clchip_474"/>
          <p:cNvSpPr/>
          <p:nvPr/>
        </p:nvSpPr>
        <p:spPr>
          <a:xfrm>
            <a:off x="8869680" y="5184648"/>
            <a:ext cx="2560320" cy="347472"/>
          </a:xfrm>
          <a:prstGeom prst="roundRect">
            <a:avLst>
              <a:gd name="adj" fmla="val 21053"/>
            </a:avLst>
          </a:prstGeom>
          <a:solidFill>
            <a:srgbClr val="FFFFFF">
              <a:alpha val="12000"/>
            </a:srgbClr>
          </a:solidFill>
          <a:ln/>
        </p:spPr>
      </p:sp>
      <p:sp>
        <p:nvSpPr>
          <p:cNvPr id="21" name="t_475"/>
          <p:cNvSpPr txBox="1"/>
          <p:nvPr/>
        </p:nvSpPr>
        <p:spPr>
          <a:xfrm>
            <a:off x="9006840" y="5184648"/>
            <a:ext cx="2377440" cy="347472"/>
          </a:xfrm>
          <a:prstGeom prst="rect">
            <a:avLst/>
          </a:prstGeom>
          <a:noFill/>
          <a:ln/>
        </p:spPr>
        <p:txBody>
          <a:bodyPr wrap="square" lIns="0" tIns="0" rIns="0" bIns="0" rtlCol="0" anchor="ctr"/>
          <a:lstStyle/>
          <a:p>
            <a:pPr indent="0" marL="0">
              <a:buNone/>
            </a:pPr>
            <a:r>
              <a:rPr lang="en-US" sz="1300" dirty="0">
                <a:solidFill>
                  <a:srgbClr val="FFFFFF"/>
                </a:solidFill>
              </a:rPr>
              <a:t>NumeroInscription</a:t>
            </a:r>
            <a:endParaRPr lang="en-US" sz="1300" dirty="0"/>
          </a:p>
        </p:txBody>
      </p:sp>
      <p:sp>
        <p:nvSpPr>
          <p:cNvPr id="22" name="clchip_476"/>
          <p:cNvSpPr/>
          <p:nvPr/>
        </p:nvSpPr>
        <p:spPr>
          <a:xfrm>
            <a:off x="8869680" y="5614416"/>
            <a:ext cx="2560320" cy="347472"/>
          </a:xfrm>
          <a:prstGeom prst="roundRect">
            <a:avLst>
              <a:gd name="adj" fmla="val 21053"/>
            </a:avLst>
          </a:prstGeom>
          <a:solidFill>
            <a:srgbClr val="FFFFFF">
              <a:alpha val="12000"/>
            </a:srgbClr>
          </a:solidFill>
          <a:ln/>
        </p:spPr>
      </p:sp>
      <p:sp>
        <p:nvSpPr>
          <p:cNvPr id="23" name="t_477"/>
          <p:cNvSpPr txBox="1"/>
          <p:nvPr/>
        </p:nvSpPr>
        <p:spPr>
          <a:xfrm>
            <a:off x="9006840" y="5614416"/>
            <a:ext cx="2377440" cy="347472"/>
          </a:xfrm>
          <a:prstGeom prst="rect">
            <a:avLst/>
          </a:prstGeom>
          <a:noFill/>
          <a:ln/>
        </p:spPr>
        <p:txBody>
          <a:bodyPr wrap="square" lIns="0" tIns="0" rIns="0" bIns="0" rtlCol="0" anchor="ctr"/>
          <a:lstStyle/>
          <a:p>
            <a:pPr indent="0" marL="0">
              <a:buNone/>
            </a:pPr>
            <a:r>
              <a:rPr lang="en-US" sz="1300" dirty="0">
                <a:solidFill>
                  <a:srgbClr val="FFFFFF"/>
                </a:solidFill>
              </a:rPr>
              <a:t>Affectation</a:t>
            </a:r>
            <a:endParaRPr lang="en-US" sz="13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Diagramme de classes : organisation des cours</a:t>
            </a:r>
            <a:endParaRPr lang="en-US" sz="3000" dirty="0"/>
          </a:p>
        </p:txBody>
      </p:sp>
      <p:sp>
        <p:nvSpPr>
          <p:cNvPr id="3" name="card_478"/>
          <p:cNvSpPr/>
          <p:nvPr/>
        </p:nvSpPr>
        <p:spPr>
          <a:xfrm>
            <a:off x="548640" y="1234440"/>
            <a:ext cx="7863840" cy="5029200"/>
          </a:xfrm>
          <a:prstGeom prst="roundRect">
            <a:avLst>
              <a:gd name="adj" fmla="val 2182"/>
            </a:avLst>
          </a:prstGeom>
          <a:solidFill>
            <a:schemeClr val="bg1"/>
          </a:solidFill>
          <a:ln/>
          <a:effectLst>
            <a:outerShdw sx="100000" sy="100000" kx="0" ky="0" algn="bl" rotWithShape="0" blurRad="127000" dist="38100" dir="5400000">
              <a:srgbClr val="1B2433">
                <a:alpha val="14000"/>
              </a:srgbClr>
            </a:outerShdw>
          </a:effectLst>
        </p:spPr>
      </p:sp>
      <p:pic>
        <p:nvPicPr>
          <p:cNvPr id="4" name="fig_479" descr="figure">    </p:cNvPr>
          <p:cNvPicPr>
            <a:picLocks noChangeAspect="1"/>
          </p:cNvPicPr>
          <p:nvPr/>
        </p:nvPicPr>
        <p:blipFill>
          <a:blip r:embed="rId1"/>
          <a:stretch>
            <a:fillRect/>
          </a:stretch>
        </p:blipFill>
        <p:spPr>
          <a:xfrm>
            <a:off x="962986" y="1344168"/>
            <a:ext cx="7035148" cy="4809744"/>
          </a:xfrm>
          <a:prstGeom prst="rect">
            <a:avLst/>
          </a:prstGeom>
        </p:spPr>
      </p:pic>
      <p:sp>
        <p:nvSpPr>
          <p:cNvPr id="5" name="card_480"/>
          <p:cNvSpPr/>
          <p:nvPr/>
        </p:nvSpPr>
        <p:spPr>
          <a:xfrm>
            <a:off x="8641080" y="1234440"/>
            <a:ext cx="3017520" cy="5029200"/>
          </a:xfrm>
          <a:prstGeom prst="roundRect">
            <a:avLst>
              <a:gd name="adj" fmla="val 3636"/>
            </a:avLst>
          </a:prstGeom>
          <a:solidFill>
            <a:schemeClr val="tx2"/>
          </a:solidFill>
          <a:ln/>
          <a:effectLst>
            <a:outerShdw sx="100000" sy="100000" kx="0" ky="0" algn="bl" rotWithShape="0" blurRad="127000" dist="38100" dir="5400000">
              <a:srgbClr val="1B2433">
                <a:alpha val="14000"/>
              </a:srgbClr>
            </a:outerShdw>
          </a:effectLst>
        </p:spPr>
      </p:sp>
      <p:sp>
        <p:nvSpPr>
          <p:cNvPr id="6" name="t_481"/>
          <p:cNvSpPr txBox="1"/>
          <p:nvPr/>
        </p:nvSpPr>
        <p:spPr>
          <a:xfrm>
            <a:off x="8869680" y="1417320"/>
            <a:ext cx="2560320" cy="320040"/>
          </a:xfrm>
          <a:prstGeom prst="rect">
            <a:avLst/>
          </a:prstGeom>
          <a:noFill/>
          <a:ln/>
        </p:spPr>
        <p:txBody>
          <a:bodyPr wrap="square" lIns="0" tIns="0" rIns="0" bIns="0" rtlCol="0" anchor="t"/>
          <a:lstStyle/>
          <a:p>
            <a:pPr indent="0" marL="0">
              <a:buNone/>
            </a:pPr>
            <a:r>
              <a:rPr lang="en-US" sz="1300" b="1" dirty="0">
                <a:solidFill>
                  <a:srgbClr val="D7971D"/>
                </a:solidFill>
              </a:rPr>
              <a:t>Partie 3 / 5</a:t>
            </a:r>
            <a:endParaRPr lang="en-US" sz="1300" dirty="0"/>
          </a:p>
        </p:txBody>
      </p:sp>
      <p:sp>
        <p:nvSpPr>
          <p:cNvPr id="7" name="t_482"/>
          <p:cNvSpPr txBox="1"/>
          <p:nvPr/>
        </p:nvSpPr>
        <p:spPr>
          <a:xfrm>
            <a:off x="8869680" y="1737360"/>
            <a:ext cx="2560320" cy="731520"/>
          </a:xfrm>
          <a:prstGeom prst="rect">
            <a:avLst/>
          </a:prstGeom>
          <a:noFill/>
          <a:ln/>
        </p:spPr>
        <p:txBody>
          <a:bodyPr wrap="square" lIns="0" tIns="0" rIns="0" bIns="0" rtlCol="0" anchor="t"/>
          <a:lstStyle/>
          <a:p>
            <a:pPr indent="0" marL="0">
              <a:buNone/>
            </a:pPr>
            <a:r>
              <a:rPr lang="en-US" sz="1900" b="1" dirty="0">
                <a:solidFill>
                  <a:srgbClr val="FFFFFF"/>
                </a:solidFill>
              </a:rPr>
              <a:t>Organisation des cours</a:t>
            </a:r>
            <a:endParaRPr lang="en-US" sz="1900" dirty="0"/>
          </a:p>
        </p:txBody>
      </p:sp>
      <p:sp>
        <p:nvSpPr>
          <p:cNvPr id="8" name="clchip_483"/>
          <p:cNvSpPr/>
          <p:nvPr/>
        </p:nvSpPr>
        <p:spPr>
          <a:xfrm>
            <a:off x="8869680" y="2606040"/>
            <a:ext cx="2560320" cy="347472"/>
          </a:xfrm>
          <a:prstGeom prst="roundRect">
            <a:avLst>
              <a:gd name="adj" fmla="val 21053"/>
            </a:avLst>
          </a:prstGeom>
          <a:solidFill>
            <a:srgbClr val="FFFFFF">
              <a:alpha val="12000"/>
            </a:srgbClr>
          </a:solidFill>
          <a:ln/>
        </p:spPr>
      </p:sp>
      <p:sp>
        <p:nvSpPr>
          <p:cNvPr id="9" name="t_484"/>
          <p:cNvSpPr txBox="1"/>
          <p:nvPr/>
        </p:nvSpPr>
        <p:spPr>
          <a:xfrm>
            <a:off x="9006840" y="2606040"/>
            <a:ext cx="2377440" cy="347472"/>
          </a:xfrm>
          <a:prstGeom prst="rect">
            <a:avLst/>
          </a:prstGeom>
          <a:noFill/>
          <a:ln/>
        </p:spPr>
        <p:txBody>
          <a:bodyPr wrap="square" lIns="0" tIns="0" rIns="0" bIns="0" rtlCol="0" anchor="ctr"/>
          <a:lstStyle/>
          <a:p>
            <a:pPr indent="0" marL="0">
              <a:buNone/>
            </a:pPr>
            <a:r>
              <a:rPr lang="en-US" sz="1300" dirty="0">
                <a:solidFill>
                  <a:srgbClr val="FFFFFF"/>
                </a:solidFill>
              </a:rPr>
              <a:t>Seance</a:t>
            </a:r>
            <a:endParaRPr lang="en-US" sz="1300" dirty="0"/>
          </a:p>
        </p:txBody>
      </p:sp>
      <p:sp>
        <p:nvSpPr>
          <p:cNvPr id="10" name="clchip_485"/>
          <p:cNvSpPr/>
          <p:nvPr/>
        </p:nvSpPr>
        <p:spPr>
          <a:xfrm>
            <a:off x="8869680" y="3035808"/>
            <a:ext cx="2560320" cy="347472"/>
          </a:xfrm>
          <a:prstGeom prst="roundRect">
            <a:avLst>
              <a:gd name="adj" fmla="val 21053"/>
            </a:avLst>
          </a:prstGeom>
          <a:solidFill>
            <a:srgbClr val="FFFFFF">
              <a:alpha val="12000"/>
            </a:srgbClr>
          </a:solidFill>
          <a:ln/>
        </p:spPr>
      </p:sp>
      <p:sp>
        <p:nvSpPr>
          <p:cNvPr id="11" name="t_486"/>
          <p:cNvSpPr txBox="1"/>
          <p:nvPr/>
        </p:nvSpPr>
        <p:spPr>
          <a:xfrm>
            <a:off x="9006840" y="3035808"/>
            <a:ext cx="2377440" cy="347472"/>
          </a:xfrm>
          <a:prstGeom prst="rect">
            <a:avLst/>
          </a:prstGeom>
          <a:noFill/>
          <a:ln/>
        </p:spPr>
        <p:txBody>
          <a:bodyPr wrap="square" lIns="0" tIns="0" rIns="0" bIns="0" rtlCol="0" anchor="ctr"/>
          <a:lstStyle/>
          <a:p>
            <a:pPr indent="0" marL="0">
              <a:buNone/>
            </a:pPr>
            <a:r>
              <a:rPr lang="en-US" sz="1300" dirty="0">
                <a:solidFill>
                  <a:srgbClr val="FFFFFF"/>
                </a:solidFill>
              </a:rPr>
              <a:t>PublicationEDT</a:t>
            </a:r>
            <a:endParaRPr lang="en-US" sz="1300" dirty="0"/>
          </a:p>
        </p:txBody>
      </p:sp>
      <p:sp>
        <p:nvSpPr>
          <p:cNvPr id="12" name="clchip_487"/>
          <p:cNvSpPr/>
          <p:nvPr/>
        </p:nvSpPr>
        <p:spPr>
          <a:xfrm>
            <a:off x="8869680" y="3465576"/>
            <a:ext cx="2560320" cy="347472"/>
          </a:xfrm>
          <a:prstGeom prst="roundRect">
            <a:avLst>
              <a:gd name="adj" fmla="val 21053"/>
            </a:avLst>
          </a:prstGeom>
          <a:solidFill>
            <a:srgbClr val="FFFFFF">
              <a:alpha val="12000"/>
            </a:srgbClr>
          </a:solidFill>
          <a:ln/>
        </p:spPr>
      </p:sp>
      <p:sp>
        <p:nvSpPr>
          <p:cNvPr id="13" name="t_488"/>
          <p:cNvSpPr txBox="1"/>
          <p:nvPr/>
        </p:nvSpPr>
        <p:spPr>
          <a:xfrm>
            <a:off x="9006840" y="3465576"/>
            <a:ext cx="2377440" cy="347472"/>
          </a:xfrm>
          <a:prstGeom prst="rect">
            <a:avLst/>
          </a:prstGeom>
          <a:noFill/>
          <a:ln/>
        </p:spPr>
        <p:txBody>
          <a:bodyPr wrap="square" lIns="0" tIns="0" rIns="0" bIns="0" rtlCol="0" anchor="ctr"/>
          <a:lstStyle/>
          <a:p>
            <a:pPr indent="0" marL="0">
              <a:buNone/>
            </a:pPr>
            <a:r>
              <a:rPr lang="en-US" sz="1300" dirty="0">
                <a:solidFill>
                  <a:srgbClr val="FFFFFF"/>
                </a:solidFill>
              </a:rPr>
              <a:t>Presence</a:t>
            </a:r>
            <a:endParaRPr lang="en-US" sz="1300" dirty="0"/>
          </a:p>
        </p:txBody>
      </p:sp>
      <p:sp>
        <p:nvSpPr>
          <p:cNvPr id="14" name="clchip_489"/>
          <p:cNvSpPr/>
          <p:nvPr/>
        </p:nvSpPr>
        <p:spPr>
          <a:xfrm>
            <a:off x="8869680" y="3895344"/>
            <a:ext cx="2560320" cy="347472"/>
          </a:xfrm>
          <a:prstGeom prst="roundRect">
            <a:avLst>
              <a:gd name="adj" fmla="val 21053"/>
            </a:avLst>
          </a:prstGeom>
          <a:solidFill>
            <a:srgbClr val="FFFFFF">
              <a:alpha val="12000"/>
            </a:srgbClr>
          </a:solidFill>
          <a:ln/>
        </p:spPr>
      </p:sp>
      <p:sp>
        <p:nvSpPr>
          <p:cNvPr id="15" name="t_490"/>
          <p:cNvSpPr txBox="1"/>
          <p:nvPr/>
        </p:nvSpPr>
        <p:spPr>
          <a:xfrm>
            <a:off x="9006840" y="3895344"/>
            <a:ext cx="2377440" cy="347472"/>
          </a:xfrm>
          <a:prstGeom prst="rect">
            <a:avLst/>
          </a:prstGeom>
          <a:noFill/>
          <a:ln/>
        </p:spPr>
        <p:txBody>
          <a:bodyPr wrap="square" lIns="0" tIns="0" rIns="0" bIns="0" rtlCol="0" anchor="ctr"/>
          <a:lstStyle/>
          <a:p>
            <a:pPr indent="0" marL="0">
              <a:buNone/>
            </a:pPr>
            <a:r>
              <a:rPr lang="en-US" sz="1300" dirty="0">
                <a:solidFill>
                  <a:srgbClr val="FFFFFF"/>
                </a:solidFill>
              </a:rPr>
              <a:t>Cours</a:t>
            </a:r>
            <a:endParaRPr lang="en-US" sz="1300" dirty="0"/>
          </a:p>
        </p:txBody>
      </p:sp>
      <p:sp>
        <p:nvSpPr>
          <p:cNvPr id="16" name="clchip_491"/>
          <p:cNvSpPr/>
          <p:nvPr/>
        </p:nvSpPr>
        <p:spPr>
          <a:xfrm>
            <a:off x="8869680" y="4325112"/>
            <a:ext cx="2560320" cy="347472"/>
          </a:xfrm>
          <a:prstGeom prst="roundRect">
            <a:avLst>
              <a:gd name="adj" fmla="val 21053"/>
            </a:avLst>
          </a:prstGeom>
          <a:solidFill>
            <a:srgbClr val="FFFFFF">
              <a:alpha val="12000"/>
            </a:srgbClr>
          </a:solidFill>
          <a:ln/>
        </p:spPr>
      </p:sp>
      <p:sp>
        <p:nvSpPr>
          <p:cNvPr id="17" name="t_492"/>
          <p:cNvSpPr txBox="1"/>
          <p:nvPr/>
        </p:nvSpPr>
        <p:spPr>
          <a:xfrm>
            <a:off x="9006840" y="4325112"/>
            <a:ext cx="2377440" cy="347472"/>
          </a:xfrm>
          <a:prstGeom prst="rect">
            <a:avLst/>
          </a:prstGeom>
          <a:noFill/>
          <a:ln/>
        </p:spPr>
        <p:txBody>
          <a:bodyPr wrap="square" lIns="0" tIns="0" rIns="0" bIns="0" rtlCol="0" anchor="ctr"/>
          <a:lstStyle/>
          <a:p>
            <a:pPr indent="0" marL="0">
              <a:buNone/>
            </a:pPr>
            <a:r>
              <a:rPr lang="en-US" sz="1300" dirty="0">
                <a:solidFill>
                  <a:srgbClr val="FFFFFF"/>
                </a:solidFill>
              </a:rPr>
              <a:t>Devoir</a:t>
            </a:r>
            <a:endParaRPr lang="en-US" sz="1300" dirty="0"/>
          </a:p>
        </p:txBody>
      </p:sp>
      <p:sp>
        <p:nvSpPr>
          <p:cNvPr id="18" name="clchip_493"/>
          <p:cNvSpPr/>
          <p:nvPr/>
        </p:nvSpPr>
        <p:spPr>
          <a:xfrm>
            <a:off x="8869680" y="4754880"/>
            <a:ext cx="2560320" cy="347472"/>
          </a:xfrm>
          <a:prstGeom prst="roundRect">
            <a:avLst>
              <a:gd name="adj" fmla="val 21053"/>
            </a:avLst>
          </a:prstGeom>
          <a:solidFill>
            <a:srgbClr val="FFFFFF">
              <a:alpha val="12000"/>
            </a:srgbClr>
          </a:solidFill>
          <a:ln/>
        </p:spPr>
      </p:sp>
      <p:sp>
        <p:nvSpPr>
          <p:cNvPr id="19" name="t_494"/>
          <p:cNvSpPr txBox="1"/>
          <p:nvPr/>
        </p:nvSpPr>
        <p:spPr>
          <a:xfrm>
            <a:off x="9006840" y="4754880"/>
            <a:ext cx="2377440" cy="347472"/>
          </a:xfrm>
          <a:prstGeom prst="rect">
            <a:avLst/>
          </a:prstGeom>
          <a:noFill/>
          <a:ln/>
        </p:spPr>
        <p:txBody>
          <a:bodyPr wrap="square" lIns="0" tIns="0" rIns="0" bIns="0" rtlCol="0" anchor="ctr"/>
          <a:lstStyle/>
          <a:p>
            <a:pPr indent="0" marL="0">
              <a:buNone/>
            </a:pPr>
            <a:r>
              <a:rPr lang="en-US" sz="1300" dirty="0">
                <a:solidFill>
                  <a:srgbClr val="FFFFFF"/>
                </a:solidFill>
              </a:rPr>
              <a:t>RemiseDevoir</a:t>
            </a:r>
            <a:endParaRPr lang="en-US" sz="13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Diagramme de classes : évaluation et délibération</a:t>
            </a:r>
            <a:endParaRPr lang="en-US" sz="3000" dirty="0"/>
          </a:p>
        </p:txBody>
      </p:sp>
      <p:sp>
        <p:nvSpPr>
          <p:cNvPr id="3" name="card_495"/>
          <p:cNvSpPr/>
          <p:nvPr/>
        </p:nvSpPr>
        <p:spPr>
          <a:xfrm>
            <a:off x="548640" y="1234440"/>
            <a:ext cx="7863840" cy="5029200"/>
          </a:xfrm>
          <a:prstGeom prst="roundRect">
            <a:avLst>
              <a:gd name="adj" fmla="val 2182"/>
            </a:avLst>
          </a:prstGeom>
          <a:solidFill>
            <a:schemeClr val="bg1"/>
          </a:solidFill>
          <a:ln/>
          <a:effectLst>
            <a:outerShdw sx="100000" sy="100000" kx="0" ky="0" algn="bl" rotWithShape="0" blurRad="127000" dist="38100" dir="5400000">
              <a:srgbClr val="1B2433">
                <a:alpha val="14000"/>
              </a:srgbClr>
            </a:outerShdw>
          </a:effectLst>
        </p:spPr>
      </p:sp>
      <p:pic>
        <p:nvPicPr>
          <p:cNvPr id="4" name="fig_496" descr="figure">    </p:cNvPr>
          <p:cNvPicPr>
            <a:picLocks noChangeAspect="1"/>
          </p:cNvPicPr>
          <p:nvPr/>
        </p:nvPicPr>
        <p:blipFill>
          <a:blip r:embed="rId1"/>
          <a:stretch>
            <a:fillRect/>
          </a:stretch>
        </p:blipFill>
        <p:spPr>
          <a:xfrm>
            <a:off x="1379541" y="1344168"/>
            <a:ext cx="6202038" cy="4809744"/>
          </a:xfrm>
          <a:prstGeom prst="rect">
            <a:avLst/>
          </a:prstGeom>
        </p:spPr>
      </p:pic>
      <p:sp>
        <p:nvSpPr>
          <p:cNvPr id="5" name="card_497"/>
          <p:cNvSpPr/>
          <p:nvPr/>
        </p:nvSpPr>
        <p:spPr>
          <a:xfrm>
            <a:off x="8641080" y="1234440"/>
            <a:ext cx="3017520" cy="5029200"/>
          </a:xfrm>
          <a:prstGeom prst="roundRect">
            <a:avLst>
              <a:gd name="adj" fmla="val 3636"/>
            </a:avLst>
          </a:prstGeom>
          <a:solidFill>
            <a:schemeClr val="tx2"/>
          </a:solidFill>
          <a:ln/>
          <a:effectLst>
            <a:outerShdw sx="100000" sy="100000" kx="0" ky="0" algn="bl" rotWithShape="0" blurRad="127000" dist="38100" dir="5400000">
              <a:srgbClr val="1B2433">
                <a:alpha val="14000"/>
              </a:srgbClr>
            </a:outerShdw>
          </a:effectLst>
        </p:spPr>
      </p:sp>
      <p:sp>
        <p:nvSpPr>
          <p:cNvPr id="6" name="t_498"/>
          <p:cNvSpPr txBox="1"/>
          <p:nvPr/>
        </p:nvSpPr>
        <p:spPr>
          <a:xfrm>
            <a:off x="8869680" y="1417320"/>
            <a:ext cx="2560320" cy="320040"/>
          </a:xfrm>
          <a:prstGeom prst="rect">
            <a:avLst/>
          </a:prstGeom>
          <a:noFill/>
          <a:ln/>
        </p:spPr>
        <p:txBody>
          <a:bodyPr wrap="square" lIns="0" tIns="0" rIns="0" bIns="0" rtlCol="0" anchor="t"/>
          <a:lstStyle/>
          <a:p>
            <a:pPr indent="0" marL="0">
              <a:buNone/>
            </a:pPr>
            <a:r>
              <a:rPr lang="en-US" sz="1300" b="1" dirty="0">
                <a:solidFill>
                  <a:srgbClr val="D7971D"/>
                </a:solidFill>
              </a:rPr>
              <a:t>Partie 4 / 5</a:t>
            </a:r>
            <a:endParaRPr lang="en-US" sz="1300" dirty="0"/>
          </a:p>
        </p:txBody>
      </p:sp>
      <p:sp>
        <p:nvSpPr>
          <p:cNvPr id="7" name="t_499"/>
          <p:cNvSpPr txBox="1"/>
          <p:nvPr/>
        </p:nvSpPr>
        <p:spPr>
          <a:xfrm>
            <a:off x="8869680" y="1737360"/>
            <a:ext cx="2560320" cy="731520"/>
          </a:xfrm>
          <a:prstGeom prst="rect">
            <a:avLst/>
          </a:prstGeom>
          <a:noFill/>
          <a:ln/>
        </p:spPr>
        <p:txBody>
          <a:bodyPr wrap="square" lIns="0" tIns="0" rIns="0" bIns="0" rtlCol="0" anchor="t"/>
          <a:lstStyle/>
          <a:p>
            <a:pPr indent="0" marL="0">
              <a:buNone/>
            </a:pPr>
            <a:r>
              <a:rPr lang="en-US" sz="1900" b="1" dirty="0">
                <a:solidFill>
                  <a:srgbClr val="FFFFFF"/>
                </a:solidFill>
              </a:rPr>
              <a:t>Évaluation et délibération</a:t>
            </a:r>
            <a:endParaRPr lang="en-US" sz="1900" dirty="0"/>
          </a:p>
        </p:txBody>
      </p:sp>
      <p:sp>
        <p:nvSpPr>
          <p:cNvPr id="8" name="clchip_500"/>
          <p:cNvSpPr/>
          <p:nvPr/>
        </p:nvSpPr>
        <p:spPr>
          <a:xfrm>
            <a:off x="8869680" y="2606040"/>
            <a:ext cx="2560320" cy="347472"/>
          </a:xfrm>
          <a:prstGeom prst="roundRect">
            <a:avLst>
              <a:gd name="adj" fmla="val 21053"/>
            </a:avLst>
          </a:prstGeom>
          <a:solidFill>
            <a:srgbClr val="FFFFFF">
              <a:alpha val="12000"/>
            </a:srgbClr>
          </a:solidFill>
          <a:ln/>
        </p:spPr>
      </p:sp>
      <p:sp>
        <p:nvSpPr>
          <p:cNvPr id="9" name="t_501"/>
          <p:cNvSpPr txBox="1"/>
          <p:nvPr/>
        </p:nvSpPr>
        <p:spPr>
          <a:xfrm>
            <a:off x="9006840" y="2606040"/>
            <a:ext cx="2377440" cy="347472"/>
          </a:xfrm>
          <a:prstGeom prst="rect">
            <a:avLst/>
          </a:prstGeom>
          <a:noFill/>
          <a:ln/>
        </p:spPr>
        <p:txBody>
          <a:bodyPr wrap="square" lIns="0" tIns="0" rIns="0" bIns="0" rtlCol="0" anchor="ctr"/>
          <a:lstStyle/>
          <a:p>
            <a:pPr indent="0" marL="0">
              <a:buNone/>
            </a:pPr>
            <a:r>
              <a:rPr lang="en-US" sz="1300" dirty="0">
                <a:solidFill>
                  <a:srgbClr val="FFFFFF"/>
                </a:solidFill>
              </a:rPr>
              <a:t>Examen</a:t>
            </a:r>
            <a:endParaRPr lang="en-US" sz="1300" dirty="0"/>
          </a:p>
        </p:txBody>
      </p:sp>
      <p:sp>
        <p:nvSpPr>
          <p:cNvPr id="10" name="clchip_502"/>
          <p:cNvSpPr/>
          <p:nvPr/>
        </p:nvSpPr>
        <p:spPr>
          <a:xfrm>
            <a:off x="8869680" y="3035808"/>
            <a:ext cx="2560320" cy="347472"/>
          </a:xfrm>
          <a:prstGeom prst="roundRect">
            <a:avLst>
              <a:gd name="adj" fmla="val 21053"/>
            </a:avLst>
          </a:prstGeom>
          <a:solidFill>
            <a:srgbClr val="FFFFFF">
              <a:alpha val="12000"/>
            </a:srgbClr>
          </a:solidFill>
          <a:ln/>
        </p:spPr>
      </p:sp>
      <p:sp>
        <p:nvSpPr>
          <p:cNvPr id="11" name="t_503"/>
          <p:cNvSpPr txBox="1"/>
          <p:nvPr/>
        </p:nvSpPr>
        <p:spPr>
          <a:xfrm>
            <a:off x="9006840" y="3035808"/>
            <a:ext cx="2377440" cy="347472"/>
          </a:xfrm>
          <a:prstGeom prst="rect">
            <a:avLst/>
          </a:prstGeom>
          <a:noFill/>
          <a:ln/>
        </p:spPr>
        <p:txBody>
          <a:bodyPr wrap="square" lIns="0" tIns="0" rIns="0" bIns="0" rtlCol="0" anchor="ctr"/>
          <a:lstStyle/>
          <a:p>
            <a:pPr indent="0" marL="0">
              <a:buNone/>
            </a:pPr>
            <a:r>
              <a:rPr lang="en-US" sz="1300" dirty="0">
                <a:solidFill>
                  <a:srgbClr val="FFFFFF"/>
                </a:solidFill>
              </a:rPr>
              <a:t>Note</a:t>
            </a:r>
            <a:endParaRPr lang="en-US" sz="1300" dirty="0"/>
          </a:p>
        </p:txBody>
      </p:sp>
      <p:sp>
        <p:nvSpPr>
          <p:cNvPr id="12" name="clchip_504"/>
          <p:cNvSpPr/>
          <p:nvPr/>
        </p:nvSpPr>
        <p:spPr>
          <a:xfrm>
            <a:off x="8869680" y="3465576"/>
            <a:ext cx="2560320" cy="347472"/>
          </a:xfrm>
          <a:prstGeom prst="roundRect">
            <a:avLst>
              <a:gd name="adj" fmla="val 21053"/>
            </a:avLst>
          </a:prstGeom>
          <a:solidFill>
            <a:srgbClr val="FFFFFF">
              <a:alpha val="12000"/>
            </a:srgbClr>
          </a:solidFill>
          <a:ln/>
        </p:spPr>
      </p:sp>
      <p:sp>
        <p:nvSpPr>
          <p:cNvPr id="13" name="t_505"/>
          <p:cNvSpPr txBox="1"/>
          <p:nvPr/>
        </p:nvSpPr>
        <p:spPr>
          <a:xfrm>
            <a:off x="9006840" y="3465576"/>
            <a:ext cx="2377440" cy="347472"/>
          </a:xfrm>
          <a:prstGeom prst="rect">
            <a:avLst/>
          </a:prstGeom>
          <a:noFill/>
          <a:ln/>
        </p:spPr>
        <p:txBody>
          <a:bodyPr wrap="square" lIns="0" tIns="0" rIns="0" bIns="0" rtlCol="0" anchor="ctr"/>
          <a:lstStyle/>
          <a:p>
            <a:pPr indent="0" marL="0">
              <a:buNone/>
            </a:pPr>
            <a:r>
              <a:rPr lang="en-US" sz="1300" dirty="0">
                <a:solidFill>
                  <a:srgbClr val="FFFFFF"/>
                </a:solidFill>
              </a:rPr>
              <a:t>NoteRattrapage</a:t>
            </a:r>
            <a:endParaRPr lang="en-US" sz="1300" dirty="0"/>
          </a:p>
        </p:txBody>
      </p:sp>
      <p:sp>
        <p:nvSpPr>
          <p:cNvPr id="14" name="clchip_506"/>
          <p:cNvSpPr/>
          <p:nvPr/>
        </p:nvSpPr>
        <p:spPr>
          <a:xfrm>
            <a:off x="8869680" y="3895344"/>
            <a:ext cx="2560320" cy="347472"/>
          </a:xfrm>
          <a:prstGeom prst="roundRect">
            <a:avLst>
              <a:gd name="adj" fmla="val 21053"/>
            </a:avLst>
          </a:prstGeom>
          <a:solidFill>
            <a:srgbClr val="FFFFFF">
              <a:alpha val="12000"/>
            </a:srgbClr>
          </a:solidFill>
          <a:ln/>
        </p:spPr>
      </p:sp>
      <p:sp>
        <p:nvSpPr>
          <p:cNvPr id="15" name="t_507"/>
          <p:cNvSpPr txBox="1"/>
          <p:nvPr/>
        </p:nvSpPr>
        <p:spPr>
          <a:xfrm>
            <a:off x="9006840" y="3895344"/>
            <a:ext cx="2377440" cy="347472"/>
          </a:xfrm>
          <a:prstGeom prst="rect">
            <a:avLst/>
          </a:prstGeom>
          <a:noFill/>
          <a:ln/>
        </p:spPr>
        <p:txBody>
          <a:bodyPr wrap="square" lIns="0" tIns="0" rIns="0" bIns="0" rtlCol="0" anchor="ctr"/>
          <a:lstStyle/>
          <a:p>
            <a:pPr indent="0" marL="0">
              <a:buNone/>
            </a:pPr>
            <a:r>
              <a:rPr lang="en-US" sz="1300" dirty="0">
                <a:solidFill>
                  <a:srgbClr val="FFFFFF"/>
                </a:solidFill>
              </a:rPr>
              <a:t>Deliberation</a:t>
            </a:r>
            <a:endParaRPr lang="en-US" sz="1300" dirty="0"/>
          </a:p>
        </p:txBody>
      </p:sp>
      <p:sp>
        <p:nvSpPr>
          <p:cNvPr id="16" name="clchip_508"/>
          <p:cNvSpPr/>
          <p:nvPr/>
        </p:nvSpPr>
        <p:spPr>
          <a:xfrm>
            <a:off x="8869680" y="4325112"/>
            <a:ext cx="2560320" cy="347472"/>
          </a:xfrm>
          <a:prstGeom prst="roundRect">
            <a:avLst>
              <a:gd name="adj" fmla="val 21053"/>
            </a:avLst>
          </a:prstGeom>
          <a:solidFill>
            <a:srgbClr val="FFFFFF">
              <a:alpha val="12000"/>
            </a:srgbClr>
          </a:solidFill>
          <a:ln/>
        </p:spPr>
      </p:sp>
      <p:sp>
        <p:nvSpPr>
          <p:cNvPr id="17" name="t_509"/>
          <p:cNvSpPr txBox="1"/>
          <p:nvPr/>
        </p:nvSpPr>
        <p:spPr>
          <a:xfrm>
            <a:off x="9006840" y="4325112"/>
            <a:ext cx="2377440" cy="347472"/>
          </a:xfrm>
          <a:prstGeom prst="rect">
            <a:avLst/>
          </a:prstGeom>
          <a:noFill/>
          <a:ln/>
        </p:spPr>
        <p:txBody>
          <a:bodyPr wrap="square" lIns="0" tIns="0" rIns="0" bIns="0" rtlCol="0" anchor="ctr"/>
          <a:lstStyle/>
          <a:p>
            <a:pPr indent="0" marL="0">
              <a:buNone/>
            </a:pPr>
            <a:r>
              <a:rPr lang="en-US" sz="1300" dirty="0">
                <a:solidFill>
                  <a:srgbClr val="FFFFFF"/>
                </a:solidFill>
              </a:rPr>
              <a:t>RevisionPassage</a:t>
            </a:r>
            <a:endParaRPr lang="en-US" sz="1300" dirty="0"/>
          </a:p>
        </p:txBody>
      </p:sp>
      <p:sp>
        <p:nvSpPr>
          <p:cNvPr id="18" name="clchip_510"/>
          <p:cNvSpPr/>
          <p:nvPr/>
        </p:nvSpPr>
        <p:spPr>
          <a:xfrm>
            <a:off x="8869680" y="4754880"/>
            <a:ext cx="2560320" cy="347472"/>
          </a:xfrm>
          <a:prstGeom prst="roundRect">
            <a:avLst>
              <a:gd name="adj" fmla="val 21053"/>
            </a:avLst>
          </a:prstGeom>
          <a:solidFill>
            <a:srgbClr val="FFFFFF">
              <a:alpha val="12000"/>
            </a:srgbClr>
          </a:solidFill>
          <a:ln/>
        </p:spPr>
      </p:sp>
      <p:sp>
        <p:nvSpPr>
          <p:cNvPr id="19" name="t_511"/>
          <p:cNvSpPr txBox="1"/>
          <p:nvPr/>
        </p:nvSpPr>
        <p:spPr>
          <a:xfrm>
            <a:off x="9006840" y="4754880"/>
            <a:ext cx="2377440" cy="347472"/>
          </a:xfrm>
          <a:prstGeom prst="rect">
            <a:avLst/>
          </a:prstGeom>
          <a:noFill/>
          <a:ln/>
        </p:spPr>
        <p:txBody>
          <a:bodyPr wrap="square" lIns="0" tIns="0" rIns="0" bIns="0" rtlCol="0" anchor="ctr"/>
          <a:lstStyle/>
          <a:p>
            <a:pPr indent="0" marL="0">
              <a:buNone/>
            </a:pPr>
            <a:r>
              <a:rPr lang="en-US" sz="1300" dirty="0">
                <a:solidFill>
                  <a:srgbClr val="FFFFFF"/>
                </a:solidFill>
              </a:rPr>
              <a:t>ServicePassage</a:t>
            </a:r>
            <a:endParaRPr lang="en-US" sz="13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Diagramme de classes : communication et autres</a:t>
            </a:r>
            <a:endParaRPr lang="en-US" sz="3000" dirty="0"/>
          </a:p>
        </p:txBody>
      </p:sp>
      <p:sp>
        <p:nvSpPr>
          <p:cNvPr id="3" name="card_512"/>
          <p:cNvSpPr/>
          <p:nvPr/>
        </p:nvSpPr>
        <p:spPr>
          <a:xfrm>
            <a:off x="548640" y="1234440"/>
            <a:ext cx="7863840" cy="5029200"/>
          </a:xfrm>
          <a:prstGeom prst="roundRect">
            <a:avLst>
              <a:gd name="adj" fmla="val 2182"/>
            </a:avLst>
          </a:prstGeom>
          <a:solidFill>
            <a:schemeClr val="bg1"/>
          </a:solidFill>
          <a:ln/>
          <a:effectLst>
            <a:outerShdw sx="100000" sy="100000" kx="0" ky="0" algn="bl" rotWithShape="0" blurRad="127000" dist="38100" dir="5400000">
              <a:srgbClr val="1B2433">
                <a:alpha val="14000"/>
              </a:srgbClr>
            </a:outerShdw>
          </a:effectLst>
        </p:spPr>
      </p:sp>
      <p:pic>
        <p:nvPicPr>
          <p:cNvPr id="4" name="fig_513" descr="figure">    </p:cNvPr>
          <p:cNvPicPr>
            <a:picLocks noChangeAspect="1"/>
          </p:cNvPicPr>
          <p:nvPr/>
        </p:nvPicPr>
        <p:blipFill>
          <a:blip r:embed="rId1"/>
          <a:stretch>
            <a:fillRect/>
          </a:stretch>
        </p:blipFill>
        <p:spPr>
          <a:xfrm>
            <a:off x="1046280" y="1344168"/>
            <a:ext cx="6868560" cy="4809744"/>
          </a:xfrm>
          <a:prstGeom prst="rect">
            <a:avLst/>
          </a:prstGeom>
        </p:spPr>
      </p:pic>
      <p:sp>
        <p:nvSpPr>
          <p:cNvPr id="5" name="card_514"/>
          <p:cNvSpPr/>
          <p:nvPr/>
        </p:nvSpPr>
        <p:spPr>
          <a:xfrm>
            <a:off x="8641080" y="1234440"/>
            <a:ext cx="3017520" cy="5029200"/>
          </a:xfrm>
          <a:prstGeom prst="roundRect">
            <a:avLst>
              <a:gd name="adj" fmla="val 3636"/>
            </a:avLst>
          </a:prstGeom>
          <a:solidFill>
            <a:schemeClr val="tx2"/>
          </a:solidFill>
          <a:ln/>
          <a:effectLst>
            <a:outerShdw sx="100000" sy="100000" kx="0" ky="0" algn="bl" rotWithShape="0" blurRad="127000" dist="38100" dir="5400000">
              <a:srgbClr val="1B2433">
                <a:alpha val="14000"/>
              </a:srgbClr>
            </a:outerShdw>
          </a:effectLst>
        </p:spPr>
      </p:sp>
      <p:sp>
        <p:nvSpPr>
          <p:cNvPr id="6" name="t_515"/>
          <p:cNvSpPr txBox="1"/>
          <p:nvPr/>
        </p:nvSpPr>
        <p:spPr>
          <a:xfrm>
            <a:off x="8869680" y="1417320"/>
            <a:ext cx="2560320" cy="320040"/>
          </a:xfrm>
          <a:prstGeom prst="rect">
            <a:avLst/>
          </a:prstGeom>
          <a:noFill/>
          <a:ln/>
        </p:spPr>
        <p:txBody>
          <a:bodyPr wrap="square" lIns="0" tIns="0" rIns="0" bIns="0" rtlCol="0" anchor="t"/>
          <a:lstStyle/>
          <a:p>
            <a:pPr indent="0" marL="0">
              <a:buNone/>
            </a:pPr>
            <a:r>
              <a:rPr lang="en-US" sz="1300" b="1" dirty="0">
                <a:solidFill>
                  <a:srgbClr val="D7971D"/>
                </a:solidFill>
              </a:rPr>
              <a:t>Partie 5 / 5</a:t>
            </a:r>
            <a:endParaRPr lang="en-US" sz="1300" dirty="0"/>
          </a:p>
        </p:txBody>
      </p:sp>
      <p:sp>
        <p:nvSpPr>
          <p:cNvPr id="7" name="t_516"/>
          <p:cNvSpPr txBox="1"/>
          <p:nvPr/>
        </p:nvSpPr>
        <p:spPr>
          <a:xfrm>
            <a:off x="8869680" y="1737360"/>
            <a:ext cx="2560320" cy="731520"/>
          </a:xfrm>
          <a:prstGeom prst="rect">
            <a:avLst/>
          </a:prstGeom>
          <a:noFill/>
          <a:ln/>
        </p:spPr>
        <p:txBody>
          <a:bodyPr wrap="square" lIns="0" tIns="0" rIns="0" bIns="0" rtlCol="0" anchor="t"/>
          <a:lstStyle/>
          <a:p>
            <a:pPr indent="0" marL="0">
              <a:buNone/>
            </a:pPr>
            <a:r>
              <a:rPr lang="en-US" sz="1900" b="1" dirty="0">
                <a:solidFill>
                  <a:srgbClr val="FFFFFF"/>
                </a:solidFill>
              </a:rPr>
              <a:t>Communication et autres</a:t>
            </a:r>
            <a:endParaRPr lang="en-US" sz="1900" dirty="0"/>
          </a:p>
        </p:txBody>
      </p:sp>
      <p:sp>
        <p:nvSpPr>
          <p:cNvPr id="8" name="clchip_517"/>
          <p:cNvSpPr/>
          <p:nvPr/>
        </p:nvSpPr>
        <p:spPr>
          <a:xfrm>
            <a:off x="8869680" y="2606040"/>
            <a:ext cx="2560320" cy="347472"/>
          </a:xfrm>
          <a:prstGeom prst="roundRect">
            <a:avLst>
              <a:gd name="adj" fmla="val 21053"/>
            </a:avLst>
          </a:prstGeom>
          <a:solidFill>
            <a:srgbClr val="FFFFFF">
              <a:alpha val="12000"/>
            </a:srgbClr>
          </a:solidFill>
          <a:ln/>
        </p:spPr>
      </p:sp>
      <p:sp>
        <p:nvSpPr>
          <p:cNvPr id="9" name="t_518"/>
          <p:cNvSpPr txBox="1"/>
          <p:nvPr/>
        </p:nvSpPr>
        <p:spPr>
          <a:xfrm>
            <a:off x="9006840" y="2606040"/>
            <a:ext cx="2377440" cy="347472"/>
          </a:xfrm>
          <a:prstGeom prst="rect">
            <a:avLst/>
          </a:prstGeom>
          <a:noFill/>
          <a:ln/>
        </p:spPr>
        <p:txBody>
          <a:bodyPr wrap="square" lIns="0" tIns="0" rIns="0" bIns="0" rtlCol="0" anchor="ctr"/>
          <a:lstStyle/>
          <a:p>
            <a:pPr indent="0" marL="0">
              <a:buNone/>
            </a:pPr>
            <a:r>
              <a:rPr lang="en-US" sz="1300" dirty="0">
                <a:solidFill>
                  <a:srgbClr val="FFFFFF"/>
                </a:solidFill>
              </a:rPr>
              <a:t>Message</a:t>
            </a:r>
            <a:endParaRPr lang="en-US" sz="1300" dirty="0"/>
          </a:p>
        </p:txBody>
      </p:sp>
      <p:sp>
        <p:nvSpPr>
          <p:cNvPr id="10" name="clchip_519"/>
          <p:cNvSpPr/>
          <p:nvPr/>
        </p:nvSpPr>
        <p:spPr>
          <a:xfrm>
            <a:off x="8869680" y="3035808"/>
            <a:ext cx="2560320" cy="347472"/>
          </a:xfrm>
          <a:prstGeom prst="roundRect">
            <a:avLst>
              <a:gd name="adj" fmla="val 21053"/>
            </a:avLst>
          </a:prstGeom>
          <a:solidFill>
            <a:srgbClr val="FFFFFF">
              <a:alpha val="12000"/>
            </a:srgbClr>
          </a:solidFill>
          <a:ln/>
        </p:spPr>
      </p:sp>
      <p:sp>
        <p:nvSpPr>
          <p:cNvPr id="11" name="t_520"/>
          <p:cNvSpPr txBox="1"/>
          <p:nvPr/>
        </p:nvSpPr>
        <p:spPr>
          <a:xfrm>
            <a:off x="9006840" y="3035808"/>
            <a:ext cx="2377440" cy="347472"/>
          </a:xfrm>
          <a:prstGeom prst="rect">
            <a:avLst/>
          </a:prstGeom>
          <a:noFill/>
          <a:ln/>
        </p:spPr>
        <p:txBody>
          <a:bodyPr wrap="square" lIns="0" tIns="0" rIns="0" bIns="0" rtlCol="0" anchor="ctr"/>
          <a:lstStyle/>
          <a:p>
            <a:pPr indent="0" marL="0">
              <a:buNone/>
            </a:pPr>
            <a:r>
              <a:rPr lang="en-US" sz="1300" dirty="0">
                <a:solidFill>
                  <a:srgbClr val="FFFFFF"/>
                </a:solidFill>
              </a:rPr>
              <a:t>LectureMessage</a:t>
            </a:r>
            <a:endParaRPr lang="en-US" sz="1300" dirty="0"/>
          </a:p>
        </p:txBody>
      </p:sp>
      <p:sp>
        <p:nvSpPr>
          <p:cNvPr id="12" name="clchip_521"/>
          <p:cNvSpPr/>
          <p:nvPr/>
        </p:nvSpPr>
        <p:spPr>
          <a:xfrm>
            <a:off x="8869680" y="3465576"/>
            <a:ext cx="2560320" cy="347472"/>
          </a:xfrm>
          <a:prstGeom prst="roundRect">
            <a:avLst>
              <a:gd name="adj" fmla="val 21053"/>
            </a:avLst>
          </a:prstGeom>
          <a:solidFill>
            <a:srgbClr val="FFFFFF">
              <a:alpha val="12000"/>
            </a:srgbClr>
          </a:solidFill>
          <a:ln/>
        </p:spPr>
      </p:sp>
      <p:sp>
        <p:nvSpPr>
          <p:cNvPr id="13" name="t_522"/>
          <p:cNvSpPr txBox="1"/>
          <p:nvPr/>
        </p:nvSpPr>
        <p:spPr>
          <a:xfrm>
            <a:off x="9006840" y="3465576"/>
            <a:ext cx="2377440" cy="347472"/>
          </a:xfrm>
          <a:prstGeom prst="rect">
            <a:avLst/>
          </a:prstGeom>
          <a:noFill/>
          <a:ln/>
        </p:spPr>
        <p:txBody>
          <a:bodyPr wrap="square" lIns="0" tIns="0" rIns="0" bIns="0" rtlCol="0" anchor="ctr"/>
          <a:lstStyle/>
          <a:p>
            <a:pPr indent="0" marL="0">
              <a:buNone/>
            </a:pPr>
            <a:r>
              <a:rPr lang="en-US" sz="1300" dirty="0">
                <a:solidFill>
                  <a:srgbClr val="FFFFFF"/>
                </a:solidFill>
              </a:rPr>
              <a:t>Notification</a:t>
            </a:r>
            <a:endParaRPr lang="en-US" sz="1300" dirty="0"/>
          </a:p>
        </p:txBody>
      </p:sp>
      <p:sp>
        <p:nvSpPr>
          <p:cNvPr id="14" name="clchip_523"/>
          <p:cNvSpPr/>
          <p:nvPr/>
        </p:nvSpPr>
        <p:spPr>
          <a:xfrm>
            <a:off x="8869680" y="3895344"/>
            <a:ext cx="2560320" cy="347472"/>
          </a:xfrm>
          <a:prstGeom prst="roundRect">
            <a:avLst>
              <a:gd name="adj" fmla="val 21053"/>
            </a:avLst>
          </a:prstGeom>
          <a:solidFill>
            <a:srgbClr val="FFFFFF">
              <a:alpha val="12000"/>
            </a:srgbClr>
          </a:solidFill>
          <a:ln/>
        </p:spPr>
      </p:sp>
      <p:sp>
        <p:nvSpPr>
          <p:cNvPr id="15" name="t_524"/>
          <p:cNvSpPr txBox="1"/>
          <p:nvPr/>
        </p:nvSpPr>
        <p:spPr>
          <a:xfrm>
            <a:off x="9006840" y="3895344"/>
            <a:ext cx="2377440" cy="347472"/>
          </a:xfrm>
          <a:prstGeom prst="rect">
            <a:avLst/>
          </a:prstGeom>
          <a:noFill/>
          <a:ln/>
        </p:spPr>
        <p:txBody>
          <a:bodyPr wrap="square" lIns="0" tIns="0" rIns="0" bIns="0" rtlCol="0" anchor="ctr"/>
          <a:lstStyle/>
          <a:p>
            <a:pPr indent="0" marL="0">
              <a:buNone/>
            </a:pPr>
            <a:r>
              <a:rPr lang="en-US" sz="1300" dirty="0">
                <a:solidFill>
                  <a:srgbClr val="FFFFFF"/>
                </a:solidFill>
              </a:rPr>
              <a:t>Document</a:t>
            </a:r>
            <a:endParaRPr lang="en-US" sz="1300" dirty="0"/>
          </a:p>
        </p:txBody>
      </p:sp>
      <p:sp>
        <p:nvSpPr>
          <p:cNvPr id="16" name="clchip_525"/>
          <p:cNvSpPr/>
          <p:nvPr/>
        </p:nvSpPr>
        <p:spPr>
          <a:xfrm>
            <a:off x="8869680" y="4325112"/>
            <a:ext cx="2560320" cy="347472"/>
          </a:xfrm>
          <a:prstGeom prst="roundRect">
            <a:avLst>
              <a:gd name="adj" fmla="val 21053"/>
            </a:avLst>
          </a:prstGeom>
          <a:solidFill>
            <a:srgbClr val="FFFFFF">
              <a:alpha val="12000"/>
            </a:srgbClr>
          </a:solidFill>
          <a:ln/>
        </p:spPr>
      </p:sp>
      <p:sp>
        <p:nvSpPr>
          <p:cNvPr id="17" name="t_526"/>
          <p:cNvSpPr txBox="1"/>
          <p:nvPr/>
        </p:nvSpPr>
        <p:spPr>
          <a:xfrm>
            <a:off x="9006840" y="4325112"/>
            <a:ext cx="2377440" cy="347472"/>
          </a:xfrm>
          <a:prstGeom prst="rect">
            <a:avLst/>
          </a:prstGeom>
          <a:noFill/>
          <a:ln/>
        </p:spPr>
        <p:txBody>
          <a:bodyPr wrap="square" lIns="0" tIns="0" rIns="0" bIns="0" rtlCol="0" anchor="ctr"/>
          <a:lstStyle/>
          <a:p>
            <a:pPr indent="0" marL="0">
              <a:buNone/>
            </a:pPr>
            <a:r>
              <a:rPr lang="en-US" sz="1300" dirty="0">
                <a:solidFill>
                  <a:srgbClr val="FFFFFF"/>
                </a:solidFill>
              </a:rPr>
              <a:t>Assistant</a:t>
            </a:r>
            <a:endParaRPr lang="en-US" sz="1300" dirty="0"/>
          </a:p>
        </p:txBody>
      </p:sp>
      <p:sp>
        <p:nvSpPr>
          <p:cNvPr id="18" name="clchip_527"/>
          <p:cNvSpPr/>
          <p:nvPr/>
        </p:nvSpPr>
        <p:spPr>
          <a:xfrm>
            <a:off x="8869680" y="4754880"/>
            <a:ext cx="2560320" cy="347472"/>
          </a:xfrm>
          <a:prstGeom prst="roundRect">
            <a:avLst>
              <a:gd name="adj" fmla="val 21053"/>
            </a:avLst>
          </a:prstGeom>
          <a:solidFill>
            <a:srgbClr val="FFFFFF">
              <a:alpha val="12000"/>
            </a:srgbClr>
          </a:solidFill>
          <a:ln/>
        </p:spPr>
      </p:sp>
      <p:sp>
        <p:nvSpPr>
          <p:cNvPr id="19" name="t_528"/>
          <p:cNvSpPr txBox="1"/>
          <p:nvPr/>
        </p:nvSpPr>
        <p:spPr>
          <a:xfrm>
            <a:off x="9006840" y="4754880"/>
            <a:ext cx="2377440" cy="347472"/>
          </a:xfrm>
          <a:prstGeom prst="rect">
            <a:avLst/>
          </a:prstGeom>
          <a:noFill/>
          <a:ln/>
        </p:spPr>
        <p:txBody>
          <a:bodyPr wrap="square" lIns="0" tIns="0" rIns="0" bIns="0" rtlCol="0" anchor="ctr"/>
          <a:lstStyle/>
          <a:p>
            <a:pPr indent="0" marL="0">
              <a:buNone/>
            </a:pPr>
            <a:r>
              <a:rPr lang="en-US" sz="1300" dirty="0">
                <a:solidFill>
                  <a:srgbClr val="FFFFFF"/>
                </a:solidFill>
              </a:rPr>
              <a:t>GroupeEncadrement</a:t>
            </a:r>
            <a:endParaRPr lang="en-US" sz="1300" dirty="0"/>
          </a:p>
        </p:txBody>
      </p:sp>
      <p:sp>
        <p:nvSpPr>
          <p:cNvPr id="20" name="clchip_529"/>
          <p:cNvSpPr/>
          <p:nvPr/>
        </p:nvSpPr>
        <p:spPr>
          <a:xfrm>
            <a:off x="8869680" y="5184648"/>
            <a:ext cx="2560320" cy="347472"/>
          </a:xfrm>
          <a:prstGeom prst="roundRect">
            <a:avLst>
              <a:gd name="adj" fmla="val 21053"/>
            </a:avLst>
          </a:prstGeom>
          <a:solidFill>
            <a:srgbClr val="FFFFFF">
              <a:alpha val="12000"/>
            </a:srgbClr>
          </a:solidFill>
          <a:ln/>
        </p:spPr>
      </p:sp>
      <p:sp>
        <p:nvSpPr>
          <p:cNvPr id="21" name="t_530"/>
          <p:cNvSpPr txBox="1"/>
          <p:nvPr/>
        </p:nvSpPr>
        <p:spPr>
          <a:xfrm>
            <a:off x="9006840" y="5184648"/>
            <a:ext cx="2377440" cy="347472"/>
          </a:xfrm>
          <a:prstGeom prst="rect">
            <a:avLst/>
          </a:prstGeom>
          <a:noFill/>
          <a:ln/>
        </p:spPr>
        <p:txBody>
          <a:bodyPr wrap="square" lIns="0" tIns="0" rIns="0" bIns="0" rtlCol="0" anchor="ctr"/>
          <a:lstStyle/>
          <a:p>
            <a:pPr indent="0" marL="0">
              <a:buNone/>
            </a:pPr>
            <a:r>
              <a:rPr lang="en-US" sz="1300" dirty="0">
                <a:solidFill>
                  <a:srgbClr val="FFFFFF"/>
                </a:solidFill>
              </a:rPr>
              <a:t>RendezVous</a:t>
            </a:r>
            <a:endParaRPr lang="en-US" sz="1300" dirty="0"/>
          </a:p>
        </p:txBody>
      </p:sp>
      <p:sp>
        <p:nvSpPr>
          <p:cNvPr id="22" name="clchip_531"/>
          <p:cNvSpPr/>
          <p:nvPr/>
        </p:nvSpPr>
        <p:spPr>
          <a:xfrm>
            <a:off x="8869680" y="5614416"/>
            <a:ext cx="2560320" cy="347472"/>
          </a:xfrm>
          <a:prstGeom prst="roundRect">
            <a:avLst>
              <a:gd name="adj" fmla="val 21053"/>
            </a:avLst>
          </a:prstGeom>
          <a:solidFill>
            <a:srgbClr val="FFFFFF">
              <a:alpha val="12000"/>
            </a:srgbClr>
          </a:solidFill>
          <a:ln/>
        </p:spPr>
      </p:sp>
      <p:sp>
        <p:nvSpPr>
          <p:cNvPr id="23" name="t_532"/>
          <p:cNvSpPr txBox="1"/>
          <p:nvPr/>
        </p:nvSpPr>
        <p:spPr>
          <a:xfrm>
            <a:off x="9006840" y="5614416"/>
            <a:ext cx="2377440" cy="347472"/>
          </a:xfrm>
          <a:prstGeom prst="rect">
            <a:avLst/>
          </a:prstGeom>
          <a:noFill/>
          <a:ln/>
        </p:spPr>
        <p:txBody>
          <a:bodyPr wrap="square" lIns="0" tIns="0" rIns="0" bIns="0" rtlCol="0" anchor="ctr"/>
          <a:lstStyle/>
          <a:p>
            <a:pPr indent="0" marL="0">
              <a:buNone/>
            </a:pPr>
            <a:r>
              <a:rPr lang="en-US" sz="1300" dirty="0">
                <a:solidFill>
                  <a:srgbClr val="FFFFFF"/>
                </a:solidFill>
              </a:rPr>
              <a:t>JourFerie</a:t>
            </a:r>
            <a:endParaRPr lang="en-US" sz="13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sec_img_533" descr="Réalisation">    </p:cNvPr>
          <p:cNvPicPr>
            <a:picLocks noChangeAspect="1"/>
          </p:cNvPicPr>
          <p:nvPr/>
        </p:nvPicPr>
        <p:blipFill>
          <a:blip r:embed="rId1"/>
          <a:stretch>
            <a:fillRect/>
          </a:stretch>
        </p:blipFill>
        <p:spPr>
          <a:xfrm>
            <a:off x="6796735" y="0"/>
            <a:ext cx="5394960" cy="6858000"/>
          </a:xfrm>
          <a:prstGeom prst="rect">
            <a:avLst/>
          </a:prstGeom>
        </p:spPr>
      </p:pic>
      <p:sp>
        <p:nvSpPr>
          <p:cNvPr id="3" name="deco_534"/>
          <p:cNvSpPr/>
          <p:nvPr/>
        </p:nvSpPr>
        <p:spPr>
          <a:xfrm>
            <a:off x="-1737360" y="-2286000"/>
            <a:ext cx="3474720" cy="3474720"/>
          </a:xfrm>
          <a:prstGeom prst="ellipse">
            <a:avLst/>
          </a:prstGeom>
          <a:solidFill>
            <a:srgbClr val="03909E">
              <a:alpha val="15000"/>
            </a:srgbClr>
          </a:solidFill>
          <a:ln/>
        </p:spPr>
      </p:sp>
      <p:sp>
        <p:nvSpPr>
          <p:cNvPr id="4" name="t_535"/>
          <p:cNvSpPr txBox="1"/>
          <p:nvPr/>
        </p:nvSpPr>
        <p:spPr>
          <a:xfrm>
            <a:off x="731520" y="1417320"/>
            <a:ext cx="2743200" cy="1280160"/>
          </a:xfrm>
          <a:prstGeom prst="rect">
            <a:avLst/>
          </a:prstGeom>
          <a:noFill/>
          <a:ln/>
        </p:spPr>
        <p:txBody>
          <a:bodyPr wrap="square" lIns="0" tIns="0" rIns="0" bIns="0" rtlCol="0" anchor="t"/>
          <a:lstStyle/>
          <a:p>
            <a:pPr indent="0" marL="0">
              <a:buNone/>
            </a:pPr>
            <a:r>
              <a:rPr lang="en-US" sz="8800" b="1" dirty="0">
                <a:solidFill>
                  <a:srgbClr val="D7971D"/>
                </a:solidFill>
                <a:latin typeface="Segoe UI Semibold" pitchFamily="34" charset="0"/>
                <a:ea typeface="Segoe UI Semibold" pitchFamily="34" charset="-122"/>
                <a:cs typeface="Segoe UI Semibold" pitchFamily="34" charset="-120"/>
              </a:rPr>
              <a:t>04</a:t>
            </a:r>
            <a:endParaRPr lang="en-US" sz="8800" dirty="0"/>
          </a:p>
        </p:txBody>
      </p:sp>
      <p:sp>
        <p:nvSpPr>
          <p:cNvPr id="5" name="Text 0"/>
          <p:cNvSpPr/>
          <p:nvPr>
            <p:ph idx="100" type="title" hasCustomPrompt="1"/>
          </p:nvPr>
        </p:nvSpPr>
        <p:spPr>
          <a:xfrm>
            <a:off x="731520" y="2788920"/>
            <a:ext cx="548640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Segoe UI Semibold" pitchFamily="34" charset="0"/>
                <a:ea typeface="Segoe UI Semibold" pitchFamily="34" charset="-122"/>
                <a:cs typeface="Segoe UI Semibold" pitchFamily="34" charset="-120"/>
              </a:rPr>
              <a:t>Réalisation</a:t>
            </a:r>
            <a:endParaRPr lang="en-US" sz="4000" dirty="0"/>
          </a:p>
        </p:txBody>
      </p:sp>
      <p:sp>
        <p:nvSpPr>
          <p:cNvPr id="6" name="t_536"/>
          <p:cNvSpPr txBox="1"/>
          <p:nvPr/>
        </p:nvSpPr>
        <p:spPr>
          <a:xfrm>
            <a:off x="731520" y="4251960"/>
            <a:ext cx="5486400" cy="1097280"/>
          </a:xfrm>
          <a:prstGeom prst="rect">
            <a:avLst/>
          </a:prstGeom>
          <a:noFill/>
          <a:ln/>
        </p:spPr>
        <p:txBody>
          <a:bodyPr wrap="square" lIns="0" tIns="0" rIns="0" bIns="0" rtlCol="0" anchor="t"/>
          <a:lstStyle/>
          <a:p>
            <a:pPr indent="0" marL="0">
              <a:buNone/>
            </a:pPr>
            <a:r>
              <a:rPr lang="en-US" sz="1600" dirty="0">
                <a:solidFill>
                  <a:srgbClr val="CFE3F0"/>
                </a:solidFill>
              </a:rPr>
              <a:t>Langages de développement et SGBD, interfaces, contrôle et sécurité</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Langages de développement et SGBD</a:t>
            </a:r>
            <a:endParaRPr lang="en-US" sz="3000" dirty="0"/>
          </a:p>
        </p:txBody>
      </p:sp>
      <p:sp>
        <p:nvSpPr>
          <p:cNvPr id="3" name="t_537"/>
          <p:cNvSpPr txBox="1"/>
          <p:nvPr/>
        </p:nvSpPr>
        <p:spPr>
          <a:xfrm>
            <a:off x="548640" y="1188720"/>
            <a:ext cx="5486400" cy="320040"/>
          </a:xfrm>
          <a:prstGeom prst="rect">
            <a:avLst/>
          </a:prstGeom>
          <a:noFill/>
          <a:ln/>
        </p:spPr>
        <p:txBody>
          <a:bodyPr wrap="square" lIns="0" tIns="0" rIns="0" bIns="0" rtlCol="0" anchor="t"/>
          <a:lstStyle/>
          <a:p>
            <a:pPr indent="0" marL="0">
              <a:buNone/>
            </a:pPr>
            <a:r>
              <a:rPr lang="en-US" sz="1500" b="1" dirty="0">
                <a:solidFill>
                  <a:schemeClr val="accent1"/>
                </a:solidFill>
              </a:rPr>
              <a:t>Langages et frameworks</a:t>
            </a:r>
            <a:endParaRPr lang="en-US" sz="1500" dirty="0"/>
          </a:p>
        </p:txBody>
      </p:sp>
      <p:sp>
        <p:nvSpPr>
          <p:cNvPr id="4" name="card_538"/>
          <p:cNvSpPr/>
          <p:nvPr/>
        </p:nvSpPr>
        <p:spPr>
          <a:xfrm>
            <a:off x="548640" y="1600200"/>
            <a:ext cx="2651760" cy="2011680"/>
          </a:xfrm>
          <a:prstGeom prst="roundRect">
            <a:avLst>
              <a:gd name="adj" fmla="val 5455"/>
            </a:avLst>
          </a:prstGeom>
          <a:solidFill>
            <a:schemeClr val="bg1"/>
          </a:solidFill>
          <a:ln/>
          <a:effectLst>
            <a:outerShdw sx="100000" sy="100000" kx="0" ky="0" algn="bl" rotWithShape="0" blurRad="76200" dist="19050" dir="5400000">
              <a:srgbClr val="1B2433">
                <a:alpha val="10000"/>
              </a:srgbClr>
            </a:outerShdw>
          </a:effectLst>
        </p:spPr>
      </p:sp>
      <p:pic>
        <p:nvPicPr>
          <p:cNvPr id="5" name="tech_539" descr="PHP 8.3">    </p:cNvPr>
          <p:cNvPicPr>
            <a:picLocks noChangeAspect="1"/>
          </p:cNvPicPr>
          <p:nvPr/>
        </p:nvPicPr>
        <p:blipFill>
          <a:blip r:embed="rId1"/>
          <a:stretch>
            <a:fillRect/>
          </a:stretch>
        </p:blipFill>
        <p:spPr>
          <a:xfrm>
            <a:off x="1554480" y="1828800"/>
            <a:ext cx="640080" cy="640080"/>
          </a:xfrm>
          <a:prstGeom prst="rect">
            <a:avLst/>
          </a:prstGeom>
        </p:spPr>
      </p:pic>
      <p:sp>
        <p:nvSpPr>
          <p:cNvPr id="6" name="t_540"/>
          <p:cNvSpPr txBox="1"/>
          <p:nvPr/>
        </p:nvSpPr>
        <p:spPr>
          <a:xfrm>
            <a:off x="685800" y="2606040"/>
            <a:ext cx="2377440" cy="365760"/>
          </a:xfrm>
          <a:prstGeom prst="rect">
            <a:avLst/>
          </a:prstGeom>
          <a:noFill/>
          <a:ln/>
        </p:spPr>
        <p:txBody>
          <a:bodyPr wrap="square" lIns="0" tIns="0" rIns="0" bIns="0" rtlCol="0" anchor="t"/>
          <a:lstStyle/>
          <a:p>
            <a:pPr algn="ctr" indent="0" marL="0">
              <a:buNone/>
            </a:pPr>
            <a:r>
              <a:rPr lang="en-US" sz="1600" b="1" dirty="0">
                <a:solidFill>
                  <a:schemeClr val="tx2"/>
                </a:solidFill>
              </a:rPr>
              <a:t>PHP 8.3</a:t>
            </a:r>
            <a:endParaRPr lang="en-US" sz="1600" dirty="0"/>
          </a:p>
        </p:txBody>
      </p:sp>
      <p:sp>
        <p:nvSpPr>
          <p:cNvPr id="7" name="t_541"/>
          <p:cNvSpPr txBox="1"/>
          <p:nvPr/>
        </p:nvSpPr>
        <p:spPr>
          <a:xfrm>
            <a:off x="685800" y="2990088"/>
            <a:ext cx="2377440" cy="365760"/>
          </a:xfrm>
          <a:prstGeom prst="rect">
            <a:avLst/>
          </a:prstGeom>
          <a:noFill/>
          <a:ln/>
        </p:spPr>
        <p:txBody>
          <a:bodyPr wrap="square" lIns="0" tIns="0" rIns="0" bIns="0" rtlCol="0" anchor="t"/>
          <a:lstStyle/>
          <a:p>
            <a:pPr algn="ctr" indent="0" marL="0">
              <a:buNone/>
            </a:pPr>
            <a:r>
              <a:rPr lang="en-US" sz="1300" dirty="0">
                <a:solidFill>
                  <a:srgbClr val="6B7585"/>
                </a:solidFill>
              </a:rPr>
              <a:t>Langage serveur</a:t>
            </a:r>
            <a:endParaRPr lang="en-US" sz="1300" dirty="0"/>
          </a:p>
        </p:txBody>
      </p:sp>
      <p:sp>
        <p:nvSpPr>
          <p:cNvPr id="8" name="card_542"/>
          <p:cNvSpPr/>
          <p:nvPr/>
        </p:nvSpPr>
        <p:spPr>
          <a:xfrm>
            <a:off x="3364992" y="1600200"/>
            <a:ext cx="2651760" cy="2011680"/>
          </a:xfrm>
          <a:prstGeom prst="roundRect">
            <a:avLst>
              <a:gd name="adj" fmla="val 5455"/>
            </a:avLst>
          </a:prstGeom>
          <a:solidFill>
            <a:schemeClr val="bg1"/>
          </a:solidFill>
          <a:ln/>
          <a:effectLst>
            <a:outerShdw sx="100000" sy="100000" kx="0" ky="0" algn="bl" rotWithShape="0" blurRad="76200" dist="19050" dir="5400000">
              <a:srgbClr val="1B2433">
                <a:alpha val="10000"/>
              </a:srgbClr>
            </a:outerShdw>
          </a:effectLst>
        </p:spPr>
      </p:sp>
      <p:pic>
        <p:nvPicPr>
          <p:cNvPr id="9" name="tech_543" descr="Laravel 12">    </p:cNvPr>
          <p:cNvPicPr>
            <a:picLocks noChangeAspect="1"/>
          </p:cNvPicPr>
          <p:nvPr/>
        </p:nvPicPr>
        <p:blipFill>
          <a:blip r:embed="rId2"/>
          <a:stretch>
            <a:fillRect/>
          </a:stretch>
        </p:blipFill>
        <p:spPr>
          <a:xfrm>
            <a:off x="4370832" y="1828800"/>
            <a:ext cx="640080" cy="640080"/>
          </a:xfrm>
          <a:prstGeom prst="rect">
            <a:avLst/>
          </a:prstGeom>
        </p:spPr>
      </p:pic>
      <p:sp>
        <p:nvSpPr>
          <p:cNvPr id="10" name="t_544"/>
          <p:cNvSpPr txBox="1"/>
          <p:nvPr/>
        </p:nvSpPr>
        <p:spPr>
          <a:xfrm>
            <a:off x="3502152" y="2606040"/>
            <a:ext cx="2377440" cy="365760"/>
          </a:xfrm>
          <a:prstGeom prst="rect">
            <a:avLst/>
          </a:prstGeom>
          <a:noFill/>
          <a:ln/>
        </p:spPr>
        <p:txBody>
          <a:bodyPr wrap="square" lIns="0" tIns="0" rIns="0" bIns="0" rtlCol="0" anchor="t"/>
          <a:lstStyle/>
          <a:p>
            <a:pPr algn="ctr" indent="0" marL="0">
              <a:buNone/>
            </a:pPr>
            <a:r>
              <a:rPr lang="en-US" sz="1600" b="1" dirty="0">
                <a:solidFill>
                  <a:schemeClr val="tx2"/>
                </a:solidFill>
              </a:rPr>
              <a:t>Laravel 12</a:t>
            </a:r>
            <a:endParaRPr lang="en-US" sz="1600" dirty="0"/>
          </a:p>
        </p:txBody>
      </p:sp>
      <p:sp>
        <p:nvSpPr>
          <p:cNvPr id="11" name="t_545"/>
          <p:cNvSpPr txBox="1"/>
          <p:nvPr/>
        </p:nvSpPr>
        <p:spPr>
          <a:xfrm>
            <a:off x="3502152" y="2990088"/>
            <a:ext cx="2377440" cy="365760"/>
          </a:xfrm>
          <a:prstGeom prst="rect">
            <a:avLst/>
          </a:prstGeom>
          <a:noFill/>
          <a:ln/>
        </p:spPr>
        <p:txBody>
          <a:bodyPr wrap="square" lIns="0" tIns="0" rIns="0" bIns="0" rtlCol="0" anchor="t"/>
          <a:lstStyle/>
          <a:p>
            <a:pPr algn="ctr" indent="0" marL="0">
              <a:buNone/>
            </a:pPr>
            <a:r>
              <a:rPr lang="en-US" sz="1300" dirty="0">
                <a:solidFill>
                  <a:srgbClr val="6B7585"/>
                </a:solidFill>
              </a:rPr>
              <a:t>API REST</a:t>
            </a:r>
            <a:endParaRPr lang="en-US" sz="1300" dirty="0"/>
          </a:p>
        </p:txBody>
      </p:sp>
      <p:sp>
        <p:nvSpPr>
          <p:cNvPr id="12" name="card_546"/>
          <p:cNvSpPr/>
          <p:nvPr/>
        </p:nvSpPr>
        <p:spPr>
          <a:xfrm>
            <a:off x="6181344" y="1600200"/>
            <a:ext cx="2651760" cy="2011680"/>
          </a:xfrm>
          <a:prstGeom prst="roundRect">
            <a:avLst>
              <a:gd name="adj" fmla="val 5455"/>
            </a:avLst>
          </a:prstGeom>
          <a:solidFill>
            <a:schemeClr val="bg1"/>
          </a:solidFill>
          <a:ln/>
          <a:effectLst>
            <a:outerShdw sx="100000" sy="100000" kx="0" ky="0" algn="bl" rotWithShape="0" blurRad="76200" dist="19050" dir="5400000">
              <a:srgbClr val="1B2433">
                <a:alpha val="10000"/>
              </a:srgbClr>
            </a:outerShdw>
          </a:effectLst>
        </p:spPr>
      </p:sp>
      <p:pic>
        <p:nvPicPr>
          <p:cNvPr id="13" name="tech_547" descr="Vue.js 3">    </p:cNvPr>
          <p:cNvPicPr>
            <a:picLocks noChangeAspect="1"/>
          </p:cNvPicPr>
          <p:nvPr/>
        </p:nvPicPr>
        <p:blipFill>
          <a:blip r:embed="rId3"/>
          <a:stretch>
            <a:fillRect/>
          </a:stretch>
        </p:blipFill>
        <p:spPr>
          <a:xfrm>
            <a:off x="7187184" y="1828800"/>
            <a:ext cx="640080" cy="640080"/>
          </a:xfrm>
          <a:prstGeom prst="rect">
            <a:avLst/>
          </a:prstGeom>
        </p:spPr>
      </p:pic>
      <p:sp>
        <p:nvSpPr>
          <p:cNvPr id="14" name="t_548"/>
          <p:cNvSpPr txBox="1"/>
          <p:nvPr/>
        </p:nvSpPr>
        <p:spPr>
          <a:xfrm>
            <a:off x="6318504" y="2606040"/>
            <a:ext cx="2377440" cy="365760"/>
          </a:xfrm>
          <a:prstGeom prst="rect">
            <a:avLst/>
          </a:prstGeom>
          <a:noFill/>
          <a:ln/>
        </p:spPr>
        <p:txBody>
          <a:bodyPr wrap="square" lIns="0" tIns="0" rIns="0" bIns="0" rtlCol="0" anchor="t"/>
          <a:lstStyle/>
          <a:p>
            <a:pPr algn="ctr" indent="0" marL="0">
              <a:buNone/>
            </a:pPr>
            <a:r>
              <a:rPr lang="en-US" sz="1600" b="1" dirty="0">
                <a:solidFill>
                  <a:schemeClr val="tx2"/>
                </a:solidFill>
              </a:rPr>
              <a:t>Vue.js 3</a:t>
            </a:r>
            <a:endParaRPr lang="en-US" sz="1600" dirty="0"/>
          </a:p>
        </p:txBody>
      </p:sp>
      <p:sp>
        <p:nvSpPr>
          <p:cNvPr id="15" name="t_549"/>
          <p:cNvSpPr txBox="1"/>
          <p:nvPr/>
        </p:nvSpPr>
        <p:spPr>
          <a:xfrm>
            <a:off x="6318504" y="2990088"/>
            <a:ext cx="2377440" cy="365760"/>
          </a:xfrm>
          <a:prstGeom prst="rect">
            <a:avLst/>
          </a:prstGeom>
          <a:noFill/>
          <a:ln/>
        </p:spPr>
        <p:txBody>
          <a:bodyPr wrap="square" lIns="0" tIns="0" rIns="0" bIns="0" rtlCol="0" anchor="t"/>
          <a:lstStyle/>
          <a:p>
            <a:pPr algn="ctr" indent="0" marL="0">
              <a:buNone/>
            </a:pPr>
            <a:r>
              <a:rPr lang="en-US" sz="1300" dirty="0">
                <a:solidFill>
                  <a:srgbClr val="6B7585"/>
                </a:solidFill>
              </a:rPr>
              <a:t>Application web</a:t>
            </a:r>
            <a:endParaRPr lang="en-US" sz="1300" dirty="0"/>
          </a:p>
        </p:txBody>
      </p:sp>
      <p:sp>
        <p:nvSpPr>
          <p:cNvPr id="16" name="card_550"/>
          <p:cNvSpPr/>
          <p:nvPr/>
        </p:nvSpPr>
        <p:spPr>
          <a:xfrm>
            <a:off x="8997696" y="1600200"/>
            <a:ext cx="2651760" cy="2011680"/>
          </a:xfrm>
          <a:prstGeom prst="roundRect">
            <a:avLst>
              <a:gd name="adj" fmla="val 5455"/>
            </a:avLst>
          </a:prstGeom>
          <a:solidFill>
            <a:schemeClr val="bg1"/>
          </a:solidFill>
          <a:ln/>
          <a:effectLst>
            <a:outerShdw sx="100000" sy="100000" kx="0" ky="0" algn="bl" rotWithShape="0" blurRad="76200" dist="19050" dir="5400000">
              <a:srgbClr val="1B2433">
                <a:alpha val="10000"/>
              </a:srgbClr>
            </a:outerShdw>
          </a:effectLst>
        </p:spPr>
      </p:sp>
      <p:pic>
        <p:nvPicPr>
          <p:cNvPr id="17" name="tech_551" descr="Tailwind CSS">    </p:cNvPr>
          <p:cNvPicPr>
            <a:picLocks noChangeAspect="1"/>
          </p:cNvPicPr>
          <p:nvPr/>
        </p:nvPicPr>
        <p:blipFill>
          <a:blip r:embed="rId4"/>
          <a:stretch>
            <a:fillRect/>
          </a:stretch>
        </p:blipFill>
        <p:spPr>
          <a:xfrm>
            <a:off x="10003536" y="1828800"/>
            <a:ext cx="640080" cy="640080"/>
          </a:xfrm>
          <a:prstGeom prst="rect">
            <a:avLst/>
          </a:prstGeom>
        </p:spPr>
      </p:pic>
      <p:sp>
        <p:nvSpPr>
          <p:cNvPr id="18" name="t_552"/>
          <p:cNvSpPr txBox="1"/>
          <p:nvPr/>
        </p:nvSpPr>
        <p:spPr>
          <a:xfrm>
            <a:off x="9134856" y="2606040"/>
            <a:ext cx="2377440" cy="365760"/>
          </a:xfrm>
          <a:prstGeom prst="rect">
            <a:avLst/>
          </a:prstGeom>
          <a:noFill/>
          <a:ln/>
        </p:spPr>
        <p:txBody>
          <a:bodyPr wrap="square" lIns="0" tIns="0" rIns="0" bIns="0" rtlCol="0" anchor="t"/>
          <a:lstStyle/>
          <a:p>
            <a:pPr algn="ctr" indent="0" marL="0">
              <a:buNone/>
            </a:pPr>
            <a:r>
              <a:rPr lang="en-US" sz="1600" b="1" dirty="0">
                <a:solidFill>
                  <a:schemeClr val="tx2"/>
                </a:solidFill>
              </a:rPr>
              <a:t>Tailwind CSS</a:t>
            </a:r>
            <a:endParaRPr lang="en-US" sz="1600" dirty="0"/>
          </a:p>
        </p:txBody>
      </p:sp>
      <p:sp>
        <p:nvSpPr>
          <p:cNvPr id="19" name="t_553"/>
          <p:cNvSpPr txBox="1"/>
          <p:nvPr/>
        </p:nvSpPr>
        <p:spPr>
          <a:xfrm>
            <a:off x="9134856" y="2990088"/>
            <a:ext cx="2377440" cy="365760"/>
          </a:xfrm>
          <a:prstGeom prst="rect">
            <a:avLst/>
          </a:prstGeom>
          <a:noFill/>
          <a:ln/>
        </p:spPr>
        <p:txBody>
          <a:bodyPr wrap="square" lIns="0" tIns="0" rIns="0" bIns="0" rtlCol="0" anchor="t"/>
          <a:lstStyle/>
          <a:p>
            <a:pPr algn="ctr" indent="0" marL="0">
              <a:buNone/>
            </a:pPr>
            <a:r>
              <a:rPr lang="en-US" sz="1300" dirty="0">
                <a:solidFill>
                  <a:srgbClr val="6B7585"/>
                </a:solidFill>
              </a:rPr>
              <a:t>Mise en forme</a:t>
            </a:r>
            <a:endParaRPr lang="en-US" sz="1300" dirty="0"/>
          </a:p>
        </p:txBody>
      </p:sp>
      <p:sp>
        <p:nvSpPr>
          <p:cNvPr id="20" name="t_554"/>
          <p:cNvSpPr txBox="1"/>
          <p:nvPr/>
        </p:nvSpPr>
        <p:spPr>
          <a:xfrm>
            <a:off x="548640" y="3794760"/>
            <a:ext cx="5486400" cy="320040"/>
          </a:xfrm>
          <a:prstGeom prst="rect">
            <a:avLst/>
          </a:prstGeom>
          <a:noFill/>
          <a:ln/>
        </p:spPr>
        <p:txBody>
          <a:bodyPr wrap="square" lIns="0" tIns="0" rIns="0" bIns="0" rtlCol="0" anchor="t"/>
          <a:lstStyle/>
          <a:p>
            <a:pPr indent="0" marL="0">
              <a:buNone/>
            </a:pPr>
            <a:r>
              <a:rPr lang="en-US" sz="1500" b="1" dirty="0">
                <a:solidFill>
                  <a:schemeClr val="accent1"/>
                </a:solidFill>
              </a:rPr>
              <a:t>SGBD et outils</a:t>
            </a:r>
            <a:endParaRPr lang="en-US" sz="1500" dirty="0"/>
          </a:p>
        </p:txBody>
      </p:sp>
      <p:sp>
        <p:nvSpPr>
          <p:cNvPr id="21" name="card_555"/>
          <p:cNvSpPr/>
          <p:nvPr/>
        </p:nvSpPr>
        <p:spPr>
          <a:xfrm>
            <a:off x="548640" y="4206240"/>
            <a:ext cx="2651760" cy="2011680"/>
          </a:xfrm>
          <a:prstGeom prst="roundRect">
            <a:avLst>
              <a:gd name="adj" fmla="val 5455"/>
            </a:avLst>
          </a:prstGeom>
          <a:solidFill>
            <a:schemeClr val="bg1"/>
          </a:solidFill>
          <a:ln/>
          <a:effectLst>
            <a:outerShdw sx="100000" sy="100000" kx="0" ky="0" algn="bl" rotWithShape="0" blurRad="76200" dist="19050" dir="5400000">
              <a:srgbClr val="1B2433">
                <a:alpha val="10000"/>
              </a:srgbClr>
            </a:outerShdw>
          </a:effectLst>
        </p:spPr>
      </p:sp>
      <p:pic>
        <p:nvPicPr>
          <p:cNvPr id="22" name="tech_556" descr="MySQL 8">    </p:cNvPr>
          <p:cNvPicPr>
            <a:picLocks noChangeAspect="1"/>
          </p:cNvPicPr>
          <p:nvPr/>
        </p:nvPicPr>
        <p:blipFill>
          <a:blip r:embed="rId5"/>
          <a:stretch>
            <a:fillRect/>
          </a:stretch>
        </p:blipFill>
        <p:spPr>
          <a:xfrm>
            <a:off x="1554480" y="4434840"/>
            <a:ext cx="640080" cy="640080"/>
          </a:xfrm>
          <a:prstGeom prst="rect">
            <a:avLst/>
          </a:prstGeom>
        </p:spPr>
      </p:pic>
      <p:sp>
        <p:nvSpPr>
          <p:cNvPr id="23" name="t_557"/>
          <p:cNvSpPr txBox="1"/>
          <p:nvPr/>
        </p:nvSpPr>
        <p:spPr>
          <a:xfrm>
            <a:off x="685800" y="5212080"/>
            <a:ext cx="2377440" cy="365760"/>
          </a:xfrm>
          <a:prstGeom prst="rect">
            <a:avLst/>
          </a:prstGeom>
          <a:noFill/>
          <a:ln/>
        </p:spPr>
        <p:txBody>
          <a:bodyPr wrap="square" lIns="0" tIns="0" rIns="0" bIns="0" rtlCol="0" anchor="t"/>
          <a:lstStyle/>
          <a:p>
            <a:pPr algn="ctr" indent="0" marL="0">
              <a:buNone/>
            </a:pPr>
            <a:r>
              <a:rPr lang="en-US" sz="1600" b="1" dirty="0">
                <a:solidFill>
                  <a:schemeClr val="tx2"/>
                </a:solidFill>
              </a:rPr>
              <a:t>MySQL 8</a:t>
            </a:r>
            <a:endParaRPr lang="en-US" sz="1600" dirty="0"/>
          </a:p>
        </p:txBody>
      </p:sp>
      <p:sp>
        <p:nvSpPr>
          <p:cNvPr id="24" name="t_558"/>
          <p:cNvSpPr txBox="1"/>
          <p:nvPr/>
        </p:nvSpPr>
        <p:spPr>
          <a:xfrm>
            <a:off x="685800" y="5596128"/>
            <a:ext cx="2377440" cy="365760"/>
          </a:xfrm>
          <a:prstGeom prst="rect">
            <a:avLst/>
          </a:prstGeom>
          <a:noFill/>
          <a:ln/>
        </p:spPr>
        <p:txBody>
          <a:bodyPr wrap="square" lIns="0" tIns="0" rIns="0" bIns="0" rtlCol="0" anchor="t"/>
          <a:lstStyle/>
          <a:p>
            <a:pPr algn="ctr" indent="0" marL="0">
              <a:buNone/>
            </a:pPr>
            <a:r>
              <a:rPr lang="en-US" sz="1300" dirty="0">
                <a:solidFill>
                  <a:srgbClr val="6B7585"/>
                </a:solidFill>
              </a:rPr>
              <a:t>Base de données</a:t>
            </a:r>
            <a:endParaRPr lang="en-US" sz="1300" dirty="0"/>
          </a:p>
        </p:txBody>
      </p:sp>
      <p:sp>
        <p:nvSpPr>
          <p:cNvPr id="25" name="card_559"/>
          <p:cNvSpPr/>
          <p:nvPr/>
        </p:nvSpPr>
        <p:spPr>
          <a:xfrm>
            <a:off x="3364992" y="4206240"/>
            <a:ext cx="2651760" cy="2011680"/>
          </a:xfrm>
          <a:prstGeom prst="roundRect">
            <a:avLst>
              <a:gd name="adj" fmla="val 5455"/>
            </a:avLst>
          </a:prstGeom>
          <a:solidFill>
            <a:schemeClr val="bg1"/>
          </a:solidFill>
          <a:ln/>
          <a:effectLst>
            <a:outerShdw sx="100000" sy="100000" kx="0" ky="0" algn="bl" rotWithShape="0" blurRad="76200" dist="19050" dir="5400000">
              <a:srgbClr val="1B2433">
                <a:alpha val="10000"/>
              </a:srgbClr>
            </a:outerShdw>
          </a:effectLst>
        </p:spPr>
      </p:sp>
      <p:pic>
        <p:nvPicPr>
          <p:cNvPr id="26" name="tech_560" descr="Laragon">    </p:cNvPr>
          <p:cNvPicPr>
            <a:picLocks noChangeAspect="1"/>
          </p:cNvPicPr>
          <p:nvPr/>
        </p:nvPicPr>
        <p:blipFill>
          <a:blip r:embed="rId6"/>
          <a:stretch>
            <a:fillRect/>
          </a:stretch>
        </p:blipFill>
        <p:spPr>
          <a:xfrm>
            <a:off x="4370832" y="4434840"/>
            <a:ext cx="640080" cy="640080"/>
          </a:xfrm>
          <a:prstGeom prst="rect">
            <a:avLst/>
          </a:prstGeom>
        </p:spPr>
      </p:pic>
      <p:sp>
        <p:nvSpPr>
          <p:cNvPr id="27" name="t_561"/>
          <p:cNvSpPr txBox="1"/>
          <p:nvPr/>
        </p:nvSpPr>
        <p:spPr>
          <a:xfrm>
            <a:off x="3502152" y="5212080"/>
            <a:ext cx="2377440" cy="365760"/>
          </a:xfrm>
          <a:prstGeom prst="rect">
            <a:avLst/>
          </a:prstGeom>
          <a:noFill/>
          <a:ln/>
        </p:spPr>
        <p:txBody>
          <a:bodyPr wrap="square" lIns="0" tIns="0" rIns="0" bIns="0" rtlCol="0" anchor="t"/>
          <a:lstStyle/>
          <a:p>
            <a:pPr algn="ctr" indent="0" marL="0">
              <a:buNone/>
            </a:pPr>
            <a:r>
              <a:rPr lang="en-US" sz="1600" b="1" dirty="0">
                <a:solidFill>
                  <a:schemeClr val="tx2"/>
                </a:solidFill>
              </a:rPr>
              <a:t>Laragon</a:t>
            </a:r>
            <a:endParaRPr lang="en-US" sz="1600" dirty="0"/>
          </a:p>
        </p:txBody>
      </p:sp>
      <p:sp>
        <p:nvSpPr>
          <p:cNvPr id="28" name="t_562"/>
          <p:cNvSpPr txBox="1"/>
          <p:nvPr/>
        </p:nvSpPr>
        <p:spPr>
          <a:xfrm>
            <a:off x="3502152" y="5596128"/>
            <a:ext cx="2377440" cy="365760"/>
          </a:xfrm>
          <a:prstGeom prst="rect">
            <a:avLst/>
          </a:prstGeom>
          <a:noFill/>
          <a:ln/>
        </p:spPr>
        <p:txBody>
          <a:bodyPr wrap="square" lIns="0" tIns="0" rIns="0" bIns="0" rtlCol="0" anchor="t"/>
          <a:lstStyle/>
          <a:p>
            <a:pPr algn="ctr" indent="0" marL="0">
              <a:buNone/>
            </a:pPr>
            <a:r>
              <a:rPr lang="en-US" sz="1300" dirty="0">
                <a:solidFill>
                  <a:srgbClr val="6B7585"/>
                </a:solidFill>
              </a:rPr>
              <a:t>Environnement local</a:t>
            </a:r>
            <a:endParaRPr lang="en-US" sz="1300" dirty="0"/>
          </a:p>
        </p:txBody>
      </p:sp>
      <p:sp>
        <p:nvSpPr>
          <p:cNvPr id="29" name="card_563"/>
          <p:cNvSpPr/>
          <p:nvPr/>
        </p:nvSpPr>
        <p:spPr>
          <a:xfrm>
            <a:off x="6181344" y="4206240"/>
            <a:ext cx="2651760" cy="2011680"/>
          </a:xfrm>
          <a:prstGeom prst="roundRect">
            <a:avLst>
              <a:gd name="adj" fmla="val 5455"/>
            </a:avLst>
          </a:prstGeom>
          <a:solidFill>
            <a:schemeClr val="bg1"/>
          </a:solidFill>
          <a:ln/>
          <a:effectLst>
            <a:outerShdw sx="100000" sy="100000" kx="0" ky="0" algn="bl" rotWithShape="0" blurRad="76200" dist="19050" dir="5400000">
              <a:srgbClr val="1B2433">
                <a:alpha val="10000"/>
              </a:srgbClr>
            </a:outerShdw>
          </a:effectLst>
        </p:spPr>
      </p:sp>
      <p:pic>
        <p:nvPicPr>
          <p:cNvPr id="30" name="tech_564" descr="Git / GitHub">    </p:cNvPr>
          <p:cNvPicPr>
            <a:picLocks noChangeAspect="1"/>
          </p:cNvPicPr>
          <p:nvPr/>
        </p:nvPicPr>
        <p:blipFill>
          <a:blip r:embed="rId7"/>
          <a:stretch>
            <a:fillRect/>
          </a:stretch>
        </p:blipFill>
        <p:spPr>
          <a:xfrm>
            <a:off x="7187184" y="4434840"/>
            <a:ext cx="640080" cy="640080"/>
          </a:xfrm>
          <a:prstGeom prst="rect">
            <a:avLst/>
          </a:prstGeom>
        </p:spPr>
      </p:pic>
      <p:sp>
        <p:nvSpPr>
          <p:cNvPr id="31" name="t_565"/>
          <p:cNvSpPr txBox="1"/>
          <p:nvPr/>
        </p:nvSpPr>
        <p:spPr>
          <a:xfrm>
            <a:off x="6318504" y="5212080"/>
            <a:ext cx="2377440" cy="365760"/>
          </a:xfrm>
          <a:prstGeom prst="rect">
            <a:avLst/>
          </a:prstGeom>
          <a:noFill/>
          <a:ln/>
        </p:spPr>
        <p:txBody>
          <a:bodyPr wrap="square" lIns="0" tIns="0" rIns="0" bIns="0" rtlCol="0" anchor="t"/>
          <a:lstStyle/>
          <a:p>
            <a:pPr algn="ctr" indent="0" marL="0">
              <a:buNone/>
            </a:pPr>
            <a:r>
              <a:rPr lang="en-US" sz="1600" b="1" dirty="0">
                <a:solidFill>
                  <a:schemeClr val="tx2"/>
                </a:solidFill>
              </a:rPr>
              <a:t>Git / GitHub</a:t>
            </a:r>
            <a:endParaRPr lang="en-US" sz="1600" dirty="0"/>
          </a:p>
        </p:txBody>
      </p:sp>
      <p:sp>
        <p:nvSpPr>
          <p:cNvPr id="32" name="t_566"/>
          <p:cNvSpPr txBox="1"/>
          <p:nvPr/>
        </p:nvSpPr>
        <p:spPr>
          <a:xfrm>
            <a:off x="6318504" y="5596128"/>
            <a:ext cx="2377440" cy="365760"/>
          </a:xfrm>
          <a:prstGeom prst="rect">
            <a:avLst/>
          </a:prstGeom>
          <a:noFill/>
          <a:ln/>
        </p:spPr>
        <p:txBody>
          <a:bodyPr wrap="square" lIns="0" tIns="0" rIns="0" bIns="0" rtlCol="0" anchor="t"/>
          <a:lstStyle/>
          <a:p>
            <a:pPr algn="ctr" indent="0" marL="0">
              <a:buNone/>
            </a:pPr>
            <a:r>
              <a:rPr lang="en-US" sz="1300" dirty="0">
                <a:solidFill>
                  <a:srgbClr val="6B7585"/>
                </a:solidFill>
              </a:rPr>
              <a:t>Gestion des versions</a:t>
            </a:r>
            <a:endParaRPr lang="en-US" sz="1300" dirty="0"/>
          </a:p>
        </p:txBody>
      </p:sp>
      <p:sp>
        <p:nvSpPr>
          <p:cNvPr id="33" name="card_567"/>
          <p:cNvSpPr/>
          <p:nvPr/>
        </p:nvSpPr>
        <p:spPr>
          <a:xfrm>
            <a:off x="8997696" y="4206240"/>
            <a:ext cx="2651760" cy="2011680"/>
          </a:xfrm>
          <a:prstGeom prst="roundRect">
            <a:avLst>
              <a:gd name="adj" fmla="val 5455"/>
            </a:avLst>
          </a:prstGeom>
          <a:solidFill>
            <a:schemeClr val="bg1"/>
          </a:solidFill>
          <a:ln/>
          <a:effectLst>
            <a:outerShdw sx="100000" sy="100000" kx="0" ky="0" algn="bl" rotWithShape="0" blurRad="76200" dist="19050" dir="5400000">
              <a:srgbClr val="1B2433">
                <a:alpha val="10000"/>
              </a:srgbClr>
            </a:outerShdw>
          </a:effectLst>
        </p:spPr>
      </p:sp>
      <p:pic>
        <p:nvPicPr>
          <p:cNvPr id="34" name="tech_568" descr="API Gemini">    </p:cNvPr>
          <p:cNvPicPr>
            <a:picLocks noChangeAspect="1"/>
          </p:cNvPicPr>
          <p:nvPr/>
        </p:nvPicPr>
        <p:blipFill>
          <a:blip r:embed="rId8"/>
          <a:stretch>
            <a:fillRect/>
          </a:stretch>
        </p:blipFill>
        <p:spPr>
          <a:xfrm>
            <a:off x="10003536" y="4434840"/>
            <a:ext cx="640080" cy="640080"/>
          </a:xfrm>
          <a:prstGeom prst="rect">
            <a:avLst/>
          </a:prstGeom>
        </p:spPr>
      </p:pic>
      <p:sp>
        <p:nvSpPr>
          <p:cNvPr id="35" name="t_569"/>
          <p:cNvSpPr txBox="1"/>
          <p:nvPr/>
        </p:nvSpPr>
        <p:spPr>
          <a:xfrm>
            <a:off x="9134856" y="5212080"/>
            <a:ext cx="2377440" cy="365760"/>
          </a:xfrm>
          <a:prstGeom prst="rect">
            <a:avLst/>
          </a:prstGeom>
          <a:noFill/>
          <a:ln/>
        </p:spPr>
        <p:txBody>
          <a:bodyPr wrap="square" lIns="0" tIns="0" rIns="0" bIns="0" rtlCol="0" anchor="t"/>
          <a:lstStyle/>
          <a:p>
            <a:pPr algn="ctr" indent="0" marL="0">
              <a:buNone/>
            </a:pPr>
            <a:r>
              <a:rPr lang="en-US" sz="1600" b="1" dirty="0">
                <a:solidFill>
                  <a:schemeClr val="tx2"/>
                </a:solidFill>
              </a:rPr>
              <a:t>API Gemini</a:t>
            </a:r>
            <a:endParaRPr lang="en-US" sz="1600" dirty="0"/>
          </a:p>
        </p:txBody>
      </p:sp>
      <p:sp>
        <p:nvSpPr>
          <p:cNvPr id="36" name="t_570"/>
          <p:cNvSpPr txBox="1"/>
          <p:nvPr/>
        </p:nvSpPr>
        <p:spPr>
          <a:xfrm>
            <a:off x="9134856" y="5596128"/>
            <a:ext cx="2377440" cy="365760"/>
          </a:xfrm>
          <a:prstGeom prst="rect">
            <a:avLst/>
          </a:prstGeom>
          <a:noFill/>
          <a:ln/>
        </p:spPr>
        <p:txBody>
          <a:bodyPr wrap="square" lIns="0" tIns="0" rIns="0" bIns="0" rtlCol="0" anchor="t"/>
          <a:lstStyle/>
          <a:p>
            <a:pPr algn="ctr" indent="0" marL="0">
              <a:buNone/>
            </a:pPr>
            <a:r>
              <a:rPr lang="en-US" sz="1300" dirty="0">
                <a:solidFill>
                  <a:srgbClr val="6B7585"/>
                </a:solidFill>
              </a:rPr>
              <a:t>Assistant intelligent</a:t>
            </a:r>
            <a:endParaRPr lang="en-US" sz="13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Interface : authentification</a:t>
            </a:r>
            <a:endParaRPr lang="en-US" sz="3000" dirty="0"/>
          </a:p>
        </p:txBody>
      </p:sp>
      <p:sp>
        <p:nvSpPr>
          <p:cNvPr id="3" name="win_571"/>
          <p:cNvSpPr/>
          <p:nvPr/>
        </p:nvSpPr>
        <p:spPr>
          <a:xfrm>
            <a:off x="548640" y="1325880"/>
            <a:ext cx="5440680" cy="3494974"/>
          </a:xfrm>
          <a:prstGeom prst="roundRect">
            <a:avLst>
              <a:gd name="adj" fmla="val 2093"/>
            </a:avLst>
          </a:prstGeom>
          <a:solidFill>
            <a:srgbClr val="E6EAF0"/>
          </a:solidFill>
          <a:ln w="9525">
            <a:solidFill>
              <a:srgbClr val="D5DCE5"/>
            </a:solidFill>
            <a:prstDash val="solid"/>
          </a:ln>
          <a:effectLst>
            <a:outerShdw sx="100000" sy="100000" kx="0" ky="0" algn="bl" rotWithShape="0" blurRad="127000" dist="38100" dir="5400000">
              <a:srgbClr val="1B2433">
                <a:alpha val="14000"/>
              </a:srgbClr>
            </a:outerShdw>
          </a:effectLst>
        </p:spPr>
      </p:sp>
      <p:sp>
        <p:nvSpPr>
          <p:cNvPr id="4" name="dot_572"/>
          <p:cNvSpPr/>
          <p:nvPr/>
        </p:nvSpPr>
        <p:spPr>
          <a:xfrm>
            <a:off x="658368" y="1408176"/>
            <a:ext cx="82296" cy="82296"/>
          </a:xfrm>
          <a:prstGeom prst="ellipse">
            <a:avLst/>
          </a:prstGeom>
          <a:solidFill>
            <a:srgbClr val="FF5F57"/>
          </a:solidFill>
          <a:ln/>
        </p:spPr>
      </p:sp>
      <p:sp>
        <p:nvSpPr>
          <p:cNvPr id="5" name="dot_573"/>
          <p:cNvSpPr/>
          <p:nvPr/>
        </p:nvSpPr>
        <p:spPr>
          <a:xfrm>
            <a:off x="786384" y="1408176"/>
            <a:ext cx="82296" cy="82296"/>
          </a:xfrm>
          <a:prstGeom prst="ellipse">
            <a:avLst/>
          </a:prstGeom>
          <a:solidFill>
            <a:srgbClr val="FEBC2E"/>
          </a:solidFill>
          <a:ln/>
        </p:spPr>
      </p:sp>
      <p:sp>
        <p:nvSpPr>
          <p:cNvPr id="6" name="dot_574"/>
          <p:cNvSpPr/>
          <p:nvPr/>
        </p:nvSpPr>
        <p:spPr>
          <a:xfrm>
            <a:off x="914400" y="1408176"/>
            <a:ext cx="82296" cy="82296"/>
          </a:xfrm>
          <a:prstGeom prst="ellipse">
            <a:avLst/>
          </a:prstGeom>
          <a:solidFill>
            <a:srgbClr val="28C840"/>
          </a:solidFill>
          <a:ln/>
        </p:spPr>
      </p:sp>
      <p:sp>
        <p:nvSpPr>
          <p:cNvPr id="7" name="url_575"/>
          <p:cNvSpPr/>
          <p:nvPr/>
        </p:nvSpPr>
        <p:spPr>
          <a:xfrm>
            <a:off x="1097280" y="1371600"/>
            <a:ext cx="2285086" cy="155448"/>
          </a:xfrm>
          <a:prstGeom prst="roundRect">
            <a:avLst>
              <a:gd name="adj" fmla="val 35294"/>
            </a:avLst>
          </a:prstGeom>
          <a:solidFill>
            <a:srgbClr val="FFFFFF"/>
          </a:solidFill>
          <a:ln/>
        </p:spPr>
      </p:sp>
      <p:sp>
        <p:nvSpPr>
          <p:cNvPr id="8" name="urltxt_576"/>
          <p:cNvSpPr txBox="1"/>
          <p:nvPr/>
        </p:nvSpPr>
        <p:spPr>
          <a:xfrm>
            <a:off x="1188720" y="1371600"/>
            <a:ext cx="2193646" cy="155448"/>
          </a:xfrm>
          <a:prstGeom prst="rect">
            <a:avLst/>
          </a:prstGeom>
          <a:noFill/>
          <a:ln/>
        </p:spPr>
        <p:txBody>
          <a:bodyPr wrap="square" lIns="0" tIns="0" rIns="0" bIns="0" rtlCol="0" anchor="ctr"/>
          <a:lstStyle/>
          <a:p>
            <a:pPr indent="0" marL="0">
              <a:buNone/>
            </a:pPr>
            <a:r>
              <a:rPr lang="en-US" sz="700" dirty="0">
                <a:solidFill>
                  <a:srgbClr val="7A8494"/>
                </a:solidFill>
              </a:rPr>
              <a:t>insfp.dz/login</a:t>
            </a:r>
            <a:endParaRPr lang="en-US" sz="700" dirty="0"/>
          </a:p>
        </p:txBody>
      </p:sp>
      <p:pic>
        <p:nvPicPr>
          <p:cNvPr id="9" name="shot_577" descr="Connexion par e-mail ou numéro d'inscription">    </p:cNvPr>
          <p:cNvPicPr>
            <a:picLocks noChangeAspect="1"/>
          </p:cNvPicPr>
          <p:nvPr/>
        </p:nvPicPr>
        <p:blipFill>
          <a:blip r:embed="rId1"/>
          <a:stretch>
            <a:fillRect/>
          </a:stretch>
        </p:blipFill>
        <p:spPr>
          <a:xfrm>
            <a:off x="557784" y="1572768"/>
            <a:ext cx="5422392" cy="3238942"/>
          </a:xfrm>
          <a:prstGeom prst="rect">
            <a:avLst/>
          </a:prstGeom>
        </p:spPr>
      </p:pic>
      <p:sp>
        <p:nvSpPr>
          <p:cNvPr id="10" name="cap_578"/>
          <p:cNvSpPr txBox="1"/>
          <p:nvPr/>
        </p:nvSpPr>
        <p:spPr>
          <a:xfrm>
            <a:off x="548640" y="4875718"/>
            <a:ext cx="5440680" cy="310896"/>
          </a:xfrm>
          <a:prstGeom prst="rect">
            <a:avLst/>
          </a:prstGeom>
          <a:noFill/>
          <a:ln/>
        </p:spPr>
        <p:txBody>
          <a:bodyPr wrap="square" lIns="0" tIns="0" rIns="0" bIns="0" rtlCol="0" anchor="ctr"/>
          <a:lstStyle/>
          <a:p>
            <a:pPr algn="ctr" indent="0" marL="0">
              <a:buNone/>
            </a:pPr>
            <a:r>
              <a:rPr lang="en-US" sz="1100" i="1" dirty="0">
                <a:solidFill>
                  <a:schemeClr val="tx2"/>
                </a:solidFill>
              </a:rPr>
              <a:t>Connexion par e-mail ou numéro d'inscription</a:t>
            </a:r>
            <a:endParaRPr lang="en-US" sz="1100" dirty="0"/>
          </a:p>
        </p:txBody>
      </p:sp>
      <p:sp>
        <p:nvSpPr>
          <p:cNvPr id="11" name="win_579"/>
          <p:cNvSpPr/>
          <p:nvPr/>
        </p:nvSpPr>
        <p:spPr>
          <a:xfrm>
            <a:off x="6217920" y="1325880"/>
            <a:ext cx="5440680" cy="3494974"/>
          </a:xfrm>
          <a:prstGeom prst="roundRect">
            <a:avLst>
              <a:gd name="adj" fmla="val 2093"/>
            </a:avLst>
          </a:prstGeom>
          <a:solidFill>
            <a:srgbClr val="E6EAF0"/>
          </a:solidFill>
          <a:ln w="9525">
            <a:solidFill>
              <a:srgbClr val="D5DCE5"/>
            </a:solidFill>
            <a:prstDash val="solid"/>
          </a:ln>
          <a:effectLst>
            <a:outerShdw sx="100000" sy="100000" kx="0" ky="0" algn="bl" rotWithShape="0" blurRad="127000" dist="38100" dir="5400000">
              <a:srgbClr val="1B2433">
                <a:alpha val="14000"/>
              </a:srgbClr>
            </a:outerShdw>
          </a:effectLst>
        </p:spPr>
      </p:sp>
      <p:sp>
        <p:nvSpPr>
          <p:cNvPr id="12" name="dot_580"/>
          <p:cNvSpPr/>
          <p:nvPr/>
        </p:nvSpPr>
        <p:spPr>
          <a:xfrm>
            <a:off x="6327648" y="1408176"/>
            <a:ext cx="82296" cy="82296"/>
          </a:xfrm>
          <a:prstGeom prst="ellipse">
            <a:avLst/>
          </a:prstGeom>
          <a:solidFill>
            <a:srgbClr val="FF5F57"/>
          </a:solidFill>
          <a:ln/>
        </p:spPr>
      </p:sp>
      <p:sp>
        <p:nvSpPr>
          <p:cNvPr id="13" name="dot_581"/>
          <p:cNvSpPr/>
          <p:nvPr/>
        </p:nvSpPr>
        <p:spPr>
          <a:xfrm>
            <a:off x="6455664" y="1408176"/>
            <a:ext cx="82296" cy="82296"/>
          </a:xfrm>
          <a:prstGeom prst="ellipse">
            <a:avLst/>
          </a:prstGeom>
          <a:solidFill>
            <a:srgbClr val="FEBC2E"/>
          </a:solidFill>
          <a:ln/>
        </p:spPr>
      </p:sp>
      <p:sp>
        <p:nvSpPr>
          <p:cNvPr id="14" name="dot_582"/>
          <p:cNvSpPr/>
          <p:nvPr/>
        </p:nvSpPr>
        <p:spPr>
          <a:xfrm>
            <a:off x="6583680" y="1408176"/>
            <a:ext cx="82296" cy="82296"/>
          </a:xfrm>
          <a:prstGeom prst="ellipse">
            <a:avLst/>
          </a:prstGeom>
          <a:solidFill>
            <a:srgbClr val="28C840"/>
          </a:solidFill>
          <a:ln/>
        </p:spPr>
      </p:sp>
      <p:sp>
        <p:nvSpPr>
          <p:cNvPr id="15" name="url_583"/>
          <p:cNvSpPr/>
          <p:nvPr/>
        </p:nvSpPr>
        <p:spPr>
          <a:xfrm>
            <a:off x="6766560" y="1371600"/>
            <a:ext cx="2285086" cy="155448"/>
          </a:xfrm>
          <a:prstGeom prst="roundRect">
            <a:avLst>
              <a:gd name="adj" fmla="val 35294"/>
            </a:avLst>
          </a:prstGeom>
          <a:solidFill>
            <a:srgbClr val="FFFFFF"/>
          </a:solidFill>
          <a:ln/>
        </p:spPr>
      </p:sp>
      <p:sp>
        <p:nvSpPr>
          <p:cNvPr id="16" name="urltxt_584"/>
          <p:cNvSpPr txBox="1"/>
          <p:nvPr/>
        </p:nvSpPr>
        <p:spPr>
          <a:xfrm>
            <a:off x="6858000" y="1371600"/>
            <a:ext cx="2193646" cy="155448"/>
          </a:xfrm>
          <a:prstGeom prst="rect">
            <a:avLst/>
          </a:prstGeom>
          <a:noFill/>
          <a:ln/>
        </p:spPr>
        <p:txBody>
          <a:bodyPr wrap="square" lIns="0" tIns="0" rIns="0" bIns="0" rtlCol="0" anchor="ctr"/>
          <a:lstStyle/>
          <a:p>
            <a:pPr indent="0" marL="0">
              <a:buNone/>
            </a:pPr>
            <a:r>
              <a:rPr lang="en-US" sz="700" dirty="0">
                <a:solidFill>
                  <a:srgbClr val="7A8494"/>
                </a:solidFill>
              </a:rPr>
              <a:t>insfp.dz/register</a:t>
            </a:r>
            <a:endParaRPr lang="en-US" sz="700" dirty="0"/>
          </a:p>
        </p:txBody>
      </p:sp>
      <p:pic>
        <p:nvPicPr>
          <p:cNvPr id="17" name="shot_585" descr="Inscription en ligne avec un numéro pré-généré">    </p:cNvPr>
          <p:cNvPicPr>
            <a:picLocks noChangeAspect="1"/>
          </p:cNvPicPr>
          <p:nvPr/>
        </p:nvPicPr>
        <p:blipFill>
          <a:blip r:embed="rId2"/>
          <a:stretch>
            <a:fillRect/>
          </a:stretch>
        </p:blipFill>
        <p:spPr>
          <a:xfrm>
            <a:off x="6227064" y="1572768"/>
            <a:ext cx="5422392" cy="3238942"/>
          </a:xfrm>
          <a:prstGeom prst="rect">
            <a:avLst/>
          </a:prstGeom>
        </p:spPr>
      </p:pic>
      <p:sp>
        <p:nvSpPr>
          <p:cNvPr id="18" name="cap_586"/>
          <p:cNvSpPr txBox="1"/>
          <p:nvPr/>
        </p:nvSpPr>
        <p:spPr>
          <a:xfrm>
            <a:off x="6217920" y="4875718"/>
            <a:ext cx="5440680" cy="310896"/>
          </a:xfrm>
          <a:prstGeom prst="rect">
            <a:avLst/>
          </a:prstGeom>
          <a:noFill/>
          <a:ln/>
        </p:spPr>
        <p:txBody>
          <a:bodyPr wrap="square" lIns="0" tIns="0" rIns="0" bIns="0" rtlCol="0" anchor="ctr"/>
          <a:lstStyle/>
          <a:p>
            <a:pPr algn="ctr" indent="0" marL="0">
              <a:buNone/>
            </a:pPr>
            <a:r>
              <a:rPr lang="en-US" sz="1100" i="1" dirty="0">
                <a:solidFill>
                  <a:schemeClr val="tx2"/>
                </a:solidFill>
              </a:rPr>
              <a:t>Inscription en ligne avec un numéro pré-généré</a:t>
            </a:r>
            <a:endParaRPr lang="en-US" sz="1100" dirty="0"/>
          </a:p>
        </p:txBody>
      </p:sp>
      <p:sp>
        <p:nvSpPr>
          <p:cNvPr id="19" name="card_587"/>
          <p:cNvSpPr/>
          <p:nvPr/>
        </p:nvSpPr>
        <p:spPr>
          <a:xfrm>
            <a:off x="548640" y="5349240"/>
            <a:ext cx="11109960" cy="914400"/>
          </a:xfrm>
          <a:prstGeom prst="roundRect">
            <a:avLst>
              <a:gd name="adj" fmla="val 12000"/>
            </a:avLst>
          </a:prstGeom>
          <a:solidFill>
            <a:schemeClr val="bg1"/>
          </a:solidFill>
          <a:ln/>
          <a:effectLst>
            <a:outerShdw sx="100000" sy="100000" kx="0" ky="0" algn="bl" rotWithShape="0" blurRad="76200" dist="19050" dir="5400000">
              <a:srgbClr val="1B2433">
                <a:alpha val="10000"/>
              </a:srgbClr>
            </a:outerShdw>
          </a:effectLst>
        </p:spPr>
      </p:sp>
      <p:sp>
        <p:nvSpPr>
          <p:cNvPr id="20" name="ic_bg_588"/>
          <p:cNvSpPr/>
          <p:nvPr/>
        </p:nvSpPr>
        <p:spPr>
          <a:xfrm>
            <a:off x="731520" y="5486400"/>
            <a:ext cx="640080" cy="640080"/>
          </a:xfrm>
          <a:prstGeom prst="ellipse">
            <a:avLst/>
          </a:prstGeom>
          <a:solidFill>
            <a:srgbClr val="03909E"/>
          </a:solidFill>
          <a:ln/>
        </p:spPr>
      </p:sp>
      <p:pic>
        <p:nvPicPr>
          <p:cNvPr id="21" name="ic_589" descr="FaUserCheck">    </p:cNvPr>
          <p:cNvPicPr>
            <a:picLocks noChangeAspect="1"/>
          </p:cNvPicPr>
          <p:nvPr/>
        </p:nvPicPr>
        <p:blipFill>
          <a:blip r:embed="rId3"/>
          <a:stretch>
            <a:fillRect/>
          </a:stretch>
        </p:blipFill>
        <p:spPr>
          <a:xfrm>
            <a:off x="891540" y="5646420"/>
            <a:ext cx="320040" cy="320040"/>
          </a:xfrm>
          <a:prstGeom prst="rect">
            <a:avLst/>
          </a:prstGeom>
        </p:spPr>
      </p:pic>
      <p:sp>
        <p:nvSpPr>
          <p:cNvPr id="22" name="t_590"/>
          <p:cNvSpPr txBox="1"/>
          <p:nvPr/>
        </p:nvSpPr>
        <p:spPr>
          <a:xfrm>
            <a:off x="1554480" y="5349240"/>
            <a:ext cx="9921240" cy="914400"/>
          </a:xfrm>
          <a:prstGeom prst="rect">
            <a:avLst/>
          </a:prstGeom>
          <a:noFill/>
          <a:ln/>
        </p:spPr>
        <p:txBody>
          <a:bodyPr wrap="square" lIns="0" tIns="0" rIns="0" bIns="0" rtlCol="0" anchor="ctr"/>
          <a:lstStyle/>
          <a:p>
            <a:pPr indent="0" marL="0">
              <a:buNone/>
            </a:pPr>
            <a:r>
              <a:rPr lang="en-US" sz="1400" dirty="0">
                <a:solidFill>
                  <a:srgbClr val="3F4652"/>
                </a:solidFill>
              </a:rPr>
              <a:t>Le compte reste « en attente » jusqu'à sa validation par l'administration, puis le stagiaire complète son profil à la première connexion.</a:t>
            </a:r>
            <a:endParaRPr lang="en-US" sz="14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Interface : administration</a:t>
            </a:r>
            <a:endParaRPr lang="en-US" sz="3000" dirty="0"/>
          </a:p>
        </p:txBody>
      </p:sp>
      <p:sp>
        <p:nvSpPr>
          <p:cNvPr id="3" name="win_591"/>
          <p:cNvSpPr/>
          <p:nvPr/>
        </p:nvSpPr>
        <p:spPr>
          <a:xfrm>
            <a:off x="548640" y="1280160"/>
            <a:ext cx="7223760" cy="4559473"/>
          </a:xfrm>
          <a:prstGeom prst="roundRect">
            <a:avLst>
              <a:gd name="adj" fmla="val 1604"/>
            </a:avLst>
          </a:prstGeom>
          <a:solidFill>
            <a:srgbClr val="E6EAF0"/>
          </a:solidFill>
          <a:ln w="9525">
            <a:solidFill>
              <a:srgbClr val="D5DCE5"/>
            </a:solidFill>
            <a:prstDash val="solid"/>
          </a:ln>
          <a:effectLst>
            <a:outerShdw sx="100000" sy="100000" kx="0" ky="0" algn="bl" rotWithShape="0" blurRad="127000" dist="38100" dir="5400000">
              <a:srgbClr val="1B2433">
                <a:alpha val="14000"/>
              </a:srgbClr>
            </a:outerShdw>
          </a:effectLst>
        </p:spPr>
      </p:sp>
      <p:sp>
        <p:nvSpPr>
          <p:cNvPr id="4" name="dot_592"/>
          <p:cNvSpPr/>
          <p:nvPr/>
        </p:nvSpPr>
        <p:spPr>
          <a:xfrm>
            <a:off x="658368" y="1362456"/>
            <a:ext cx="82296" cy="82296"/>
          </a:xfrm>
          <a:prstGeom prst="ellipse">
            <a:avLst/>
          </a:prstGeom>
          <a:solidFill>
            <a:srgbClr val="FF5F57"/>
          </a:solidFill>
          <a:ln/>
        </p:spPr>
      </p:sp>
      <p:sp>
        <p:nvSpPr>
          <p:cNvPr id="5" name="dot_593"/>
          <p:cNvSpPr/>
          <p:nvPr/>
        </p:nvSpPr>
        <p:spPr>
          <a:xfrm>
            <a:off x="786384" y="1362456"/>
            <a:ext cx="82296" cy="82296"/>
          </a:xfrm>
          <a:prstGeom prst="ellipse">
            <a:avLst/>
          </a:prstGeom>
          <a:solidFill>
            <a:srgbClr val="FEBC2E"/>
          </a:solidFill>
          <a:ln/>
        </p:spPr>
      </p:sp>
      <p:sp>
        <p:nvSpPr>
          <p:cNvPr id="6" name="dot_594"/>
          <p:cNvSpPr/>
          <p:nvPr/>
        </p:nvSpPr>
        <p:spPr>
          <a:xfrm>
            <a:off x="914400" y="1362456"/>
            <a:ext cx="82296" cy="82296"/>
          </a:xfrm>
          <a:prstGeom prst="ellipse">
            <a:avLst/>
          </a:prstGeom>
          <a:solidFill>
            <a:srgbClr val="28C840"/>
          </a:solidFill>
          <a:ln/>
        </p:spPr>
      </p:sp>
      <p:sp>
        <p:nvSpPr>
          <p:cNvPr id="7" name="url_595"/>
          <p:cNvSpPr/>
          <p:nvPr/>
        </p:nvSpPr>
        <p:spPr>
          <a:xfrm>
            <a:off x="1097280" y="1325880"/>
            <a:ext cx="3033979" cy="155448"/>
          </a:xfrm>
          <a:prstGeom prst="roundRect">
            <a:avLst>
              <a:gd name="adj" fmla="val 35294"/>
            </a:avLst>
          </a:prstGeom>
          <a:solidFill>
            <a:srgbClr val="FFFFFF"/>
          </a:solidFill>
          <a:ln/>
        </p:spPr>
      </p:sp>
      <p:sp>
        <p:nvSpPr>
          <p:cNvPr id="8" name="urltxt_596"/>
          <p:cNvSpPr txBox="1"/>
          <p:nvPr/>
        </p:nvSpPr>
        <p:spPr>
          <a:xfrm>
            <a:off x="1188720" y="1325880"/>
            <a:ext cx="2942539" cy="155448"/>
          </a:xfrm>
          <a:prstGeom prst="rect">
            <a:avLst/>
          </a:prstGeom>
          <a:noFill/>
          <a:ln/>
        </p:spPr>
        <p:txBody>
          <a:bodyPr wrap="square" lIns="0" tIns="0" rIns="0" bIns="0" rtlCol="0" anchor="ctr"/>
          <a:lstStyle/>
          <a:p>
            <a:pPr indent="0" marL="0">
              <a:buNone/>
            </a:pPr>
            <a:r>
              <a:rPr lang="en-US" sz="700" dirty="0">
                <a:solidFill>
                  <a:srgbClr val="7A8494"/>
                </a:solidFill>
              </a:rPr>
              <a:t>insfp.dz/admin/dashboard</a:t>
            </a:r>
            <a:endParaRPr lang="en-US" sz="700" dirty="0"/>
          </a:p>
        </p:txBody>
      </p:sp>
      <p:pic>
        <p:nvPicPr>
          <p:cNvPr id="9" name="shot_597" descr="Tableau de bord et statistiques">    </p:cNvPr>
          <p:cNvPicPr>
            <a:picLocks noChangeAspect="1"/>
          </p:cNvPicPr>
          <p:nvPr/>
        </p:nvPicPr>
        <p:blipFill>
          <a:blip r:embed="rId1"/>
          <a:stretch>
            <a:fillRect/>
          </a:stretch>
        </p:blipFill>
        <p:spPr>
          <a:xfrm>
            <a:off x="557784" y="1527048"/>
            <a:ext cx="7205472" cy="4303441"/>
          </a:xfrm>
          <a:prstGeom prst="rect">
            <a:avLst/>
          </a:prstGeom>
        </p:spPr>
      </p:pic>
      <p:sp>
        <p:nvSpPr>
          <p:cNvPr id="10" name="cap_598"/>
          <p:cNvSpPr txBox="1"/>
          <p:nvPr/>
        </p:nvSpPr>
        <p:spPr>
          <a:xfrm>
            <a:off x="548640" y="5894497"/>
            <a:ext cx="7223760" cy="310896"/>
          </a:xfrm>
          <a:prstGeom prst="rect">
            <a:avLst/>
          </a:prstGeom>
          <a:noFill/>
          <a:ln/>
        </p:spPr>
        <p:txBody>
          <a:bodyPr wrap="square" lIns="0" tIns="0" rIns="0" bIns="0" rtlCol="0" anchor="ctr"/>
          <a:lstStyle/>
          <a:p>
            <a:pPr algn="ctr" indent="0" marL="0">
              <a:buNone/>
            </a:pPr>
            <a:r>
              <a:rPr lang="en-US" sz="1100" i="1" dirty="0">
                <a:solidFill>
                  <a:schemeClr val="tx2"/>
                </a:solidFill>
              </a:rPr>
              <a:t>Tableau de bord et statistiques</a:t>
            </a:r>
            <a:endParaRPr lang="en-US" sz="1100" dirty="0"/>
          </a:p>
        </p:txBody>
      </p:sp>
      <p:sp>
        <p:nvSpPr>
          <p:cNvPr id="11" name="win_599"/>
          <p:cNvSpPr/>
          <p:nvPr/>
        </p:nvSpPr>
        <p:spPr>
          <a:xfrm>
            <a:off x="8001000" y="1280160"/>
            <a:ext cx="3657600" cy="2430475"/>
          </a:xfrm>
          <a:prstGeom prst="roundRect">
            <a:avLst>
              <a:gd name="adj" fmla="val 3010"/>
            </a:avLst>
          </a:prstGeom>
          <a:solidFill>
            <a:srgbClr val="E6EAF0"/>
          </a:solidFill>
          <a:ln w="9525">
            <a:solidFill>
              <a:srgbClr val="D5DCE5"/>
            </a:solidFill>
            <a:prstDash val="solid"/>
          </a:ln>
          <a:effectLst>
            <a:outerShdw sx="100000" sy="100000" kx="0" ky="0" algn="bl" rotWithShape="0" blurRad="127000" dist="38100" dir="5400000">
              <a:srgbClr val="1B2433">
                <a:alpha val="14000"/>
              </a:srgbClr>
            </a:outerShdw>
          </a:effectLst>
        </p:spPr>
      </p:sp>
      <p:sp>
        <p:nvSpPr>
          <p:cNvPr id="12" name="dot_600"/>
          <p:cNvSpPr/>
          <p:nvPr/>
        </p:nvSpPr>
        <p:spPr>
          <a:xfrm>
            <a:off x="8110728" y="1362456"/>
            <a:ext cx="82296" cy="82296"/>
          </a:xfrm>
          <a:prstGeom prst="ellipse">
            <a:avLst/>
          </a:prstGeom>
          <a:solidFill>
            <a:srgbClr val="FF5F57"/>
          </a:solidFill>
          <a:ln/>
        </p:spPr>
      </p:sp>
      <p:sp>
        <p:nvSpPr>
          <p:cNvPr id="13" name="dot_601"/>
          <p:cNvSpPr/>
          <p:nvPr/>
        </p:nvSpPr>
        <p:spPr>
          <a:xfrm>
            <a:off x="8238744" y="1362456"/>
            <a:ext cx="82296" cy="82296"/>
          </a:xfrm>
          <a:prstGeom prst="ellipse">
            <a:avLst/>
          </a:prstGeom>
          <a:solidFill>
            <a:srgbClr val="FEBC2E"/>
          </a:solidFill>
          <a:ln/>
        </p:spPr>
      </p:sp>
      <p:sp>
        <p:nvSpPr>
          <p:cNvPr id="14" name="dot_602"/>
          <p:cNvSpPr/>
          <p:nvPr/>
        </p:nvSpPr>
        <p:spPr>
          <a:xfrm>
            <a:off x="8366760" y="1362456"/>
            <a:ext cx="82296" cy="82296"/>
          </a:xfrm>
          <a:prstGeom prst="ellipse">
            <a:avLst/>
          </a:prstGeom>
          <a:solidFill>
            <a:srgbClr val="28C840"/>
          </a:solidFill>
          <a:ln/>
        </p:spPr>
      </p:sp>
      <p:sp>
        <p:nvSpPr>
          <p:cNvPr id="15" name="url_603"/>
          <p:cNvSpPr/>
          <p:nvPr/>
        </p:nvSpPr>
        <p:spPr>
          <a:xfrm>
            <a:off x="8549640" y="1325880"/>
            <a:ext cx="1536192" cy="155448"/>
          </a:xfrm>
          <a:prstGeom prst="roundRect">
            <a:avLst>
              <a:gd name="adj" fmla="val 35294"/>
            </a:avLst>
          </a:prstGeom>
          <a:solidFill>
            <a:srgbClr val="FFFFFF"/>
          </a:solidFill>
          <a:ln/>
        </p:spPr>
      </p:sp>
      <p:sp>
        <p:nvSpPr>
          <p:cNvPr id="16" name="urltxt_604"/>
          <p:cNvSpPr txBox="1"/>
          <p:nvPr/>
        </p:nvSpPr>
        <p:spPr>
          <a:xfrm>
            <a:off x="8641080" y="1325880"/>
            <a:ext cx="1444752" cy="155448"/>
          </a:xfrm>
          <a:prstGeom prst="rect">
            <a:avLst/>
          </a:prstGeom>
          <a:noFill/>
          <a:ln/>
        </p:spPr>
        <p:txBody>
          <a:bodyPr wrap="square" lIns="0" tIns="0" rIns="0" bIns="0" rtlCol="0" anchor="ctr"/>
          <a:lstStyle/>
          <a:p>
            <a:pPr indent="0" marL="0">
              <a:buNone/>
            </a:pPr>
            <a:r>
              <a:rPr lang="en-US" sz="700" dirty="0">
                <a:solidFill>
                  <a:srgbClr val="7A8494"/>
                </a:solidFill>
              </a:rPr>
              <a:t>insfp.dz/admin/students</a:t>
            </a:r>
            <a:endParaRPr lang="en-US" sz="700" dirty="0"/>
          </a:p>
        </p:txBody>
      </p:sp>
      <p:pic>
        <p:nvPicPr>
          <p:cNvPr id="17" name="shot_605" descr="capture">    </p:cNvPr>
          <p:cNvPicPr>
            <a:picLocks noChangeAspect="1"/>
          </p:cNvPicPr>
          <p:nvPr/>
        </p:nvPicPr>
        <p:blipFill>
          <a:blip r:embed="rId2"/>
          <a:stretch>
            <a:fillRect/>
          </a:stretch>
        </p:blipFill>
        <p:spPr>
          <a:xfrm>
            <a:off x="8010144" y="1527048"/>
            <a:ext cx="3639312" cy="2174443"/>
          </a:xfrm>
          <a:prstGeom prst="rect">
            <a:avLst/>
          </a:prstGeom>
        </p:spPr>
      </p:pic>
      <p:sp>
        <p:nvSpPr>
          <p:cNvPr id="18" name="chip_606"/>
          <p:cNvSpPr/>
          <p:nvPr/>
        </p:nvSpPr>
        <p:spPr>
          <a:xfrm>
            <a:off x="8110728" y="3291840"/>
            <a:ext cx="1892808" cy="292608"/>
          </a:xfrm>
          <a:prstGeom prst="roundRect">
            <a:avLst>
              <a:gd name="adj" fmla="val 50000"/>
            </a:avLst>
          </a:prstGeom>
          <a:solidFill>
            <a:srgbClr val="0A2F5C">
              <a:alpha val="92000"/>
            </a:srgbClr>
          </a:solidFill>
          <a:ln/>
        </p:spPr>
      </p:sp>
      <p:sp>
        <p:nvSpPr>
          <p:cNvPr id="19" name="chiptxt_607"/>
          <p:cNvSpPr txBox="1"/>
          <p:nvPr/>
        </p:nvSpPr>
        <p:spPr>
          <a:xfrm>
            <a:off x="8110728" y="3291840"/>
            <a:ext cx="1892808" cy="292608"/>
          </a:xfrm>
          <a:prstGeom prst="rect">
            <a:avLst/>
          </a:prstGeom>
          <a:noFill/>
          <a:ln/>
        </p:spPr>
        <p:txBody>
          <a:bodyPr wrap="square" lIns="0" tIns="0" rIns="0" bIns="0" rtlCol="0" anchor="ctr"/>
          <a:lstStyle/>
          <a:p>
            <a:pPr algn="ctr" indent="0" marL="0">
              <a:buNone/>
            </a:pPr>
            <a:r>
              <a:rPr lang="en-US" sz="1050" b="1" dirty="0">
                <a:solidFill>
                  <a:srgbClr val="FFFFFF"/>
                </a:solidFill>
              </a:rPr>
              <a:t>Gestion des stagiaires</a:t>
            </a:r>
            <a:endParaRPr lang="en-US" sz="1050" dirty="0"/>
          </a:p>
        </p:txBody>
      </p:sp>
      <p:sp>
        <p:nvSpPr>
          <p:cNvPr id="20" name="win_608"/>
          <p:cNvSpPr/>
          <p:nvPr/>
        </p:nvSpPr>
        <p:spPr>
          <a:xfrm>
            <a:off x="8001000" y="3886200"/>
            <a:ext cx="3657600" cy="2430475"/>
          </a:xfrm>
          <a:prstGeom prst="roundRect">
            <a:avLst>
              <a:gd name="adj" fmla="val 3010"/>
            </a:avLst>
          </a:prstGeom>
          <a:solidFill>
            <a:srgbClr val="E6EAF0"/>
          </a:solidFill>
          <a:ln w="9525">
            <a:solidFill>
              <a:srgbClr val="D5DCE5"/>
            </a:solidFill>
            <a:prstDash val="solid"/>
          </a:ln>
          <a:effectLst>
            <a:outerShdw sx="100000" sy="100000" kx="0" ky="0" algn="bl" rotWithShape="0" blurRad="127000" dist="38100" dir="5400000">
              <a:srgbClr val="1B2433">
                <a:alpha val="14000"/>
              </a:srgbClr>
            </a:outerShdw>
          </a:effectLst>
        </p:spPr>
      </p:sp>
      <p:sp>
        <p:nvSpPr>
          <p:cNvPr id="21" name="dot_609"/>
          <p:cNvSpPr/>
          <p:nvPr/>
        </p:nvSpPr>
        <p:spPr>
          <a:xfrm>
            <a:off x="8110728" y="3968496"/>
            <a:ext cx="82296" cy="82296"/>
          </a:xfrm>
          <a:prstGeom prst="ellipse">
            <a:avLst/>
          </a:prstGeom>
          <a:solidFill>
            <a:srgbClr val="FF5F57"/>
          </a:solidFill>
          <a:ln/>
        </p:spPr>
      </p:sp>
      <p:sp>
        <p:nvSpPr>
          <p:cNvPr id="22" name="dot_610"/>
          <p:cNvSpPr/>
          <p:nvPr/>
        </p:nvSpPr>
        <p:spPr>
          <a:xfrm>
            <a:off x="8238744" y="3968496"/>
            <a:ext cx="82296" cy="82296"/>
          </a:xfrm>
          <a:prstGeom prst="ellipse">
            <a:avLst/>
          </a:prstGeom>
          <a:solidFill>
            <a:srgbClr val="FEBC2E"/>
          </a:solidFill>
          <a:ln/>
        </p:spPr>
      </p:sp>
      <p:sp>
        <p:nvSpPr>
          <p:cNvPr id="23" name="dot_611"/>
          <p:cNvSpPr/>
          <p:nvPr/>
        </p:nvSpPr>
        <p:spPr>
          <a:xfrm>
            <a:off x="8366760" y="3968496"/>
            <a:ext cx="82296" cy="82296"/>
          </a:xfrm>
          <a:prstGeom prst="ellipse">
            <a:avLst/>
          </a:prstGeom>
          <a:solidFill>
            <a:srgbClr val="28C840"/>
          </a:solidFill>
          <a:ln/>
        </p:spPr>
      </p:sp>
      <p:sp>
        <p:nvSpPr>
          <p:cNvPr id="24" name="url_612"/>
          <p:cNvSpPr/>
          <p:nvPr/>
        </p:nvSpPr>
        <p:spPr>
          <a:xfrm>
            <a:off x="8549640" y="3931920"/>
            <a:ext cx="1536192" cy="155448"/>
          </a:xfrm>
          <a:prstGeom prst="roundRect">
            <a:avLst>
              <a:gd name="adj" fmla="val 35294"/>
            </a:avLst>
          </a:prstGeom>
          <a:solidFill>
            <a:srgbClr val="FFFFFF"/>
          </a:solidFill>
          <a:ln/>
        </p:spPr>
      </p:sp>
      <p:sp>
        <p:nvSpPr>
          <p:cNvPr id="25" name="urltxt_613"/>
          <p:cNvSpPr txBox="1"/>
          <p:nvPr/>
        </p:nvSpPr>
        <p:spPr>
          <a:xfrm>
            <a:off x="8641080" y="3931920"/>
            <a:ext cx="1444752" cy="155448"/>
          </a:xfrm>
          <a:prstGeom prst="rect">
            <a:avLst/>
          </a:prstGeom>
          <a:noFill/>
          <a:ln/>
        </p:spPr>
        <p:txBody>
          <a:bodyPr wrap="square" lIns="0" tIns="0" rIns="0" bIns="0" rtlCol="0" anchor="ctr"/>
          <a:lstStyle/>
          <a:p>
            <a:pPr indent="0" marL="0">
              <a:buNone/>
            </a:pPr>
            <a:r>
              <a:rPr lang="en-US" sz="700" dirty="0">
                <a:solidFill>
                  <a:srgbClr val="7A8494"/>
                </a:solidFill>
              </a:rPr>
              <a:t>insfp.dz/admin/sessions</a:t>
            </a:r>
            <a:endParaRPr lang="en-US" sz="700" dirty="0"/>
          </a:p>
        </p:txBody>
      </p:sp>
      <p:pic>
        <p:nvPicPr>
          <p:cNvPr id="26" name="shot_614" descr="capture">    </p:cNvPr>
          <p:cNvPicPr>
            <a:picLocks noChangeAspect="1"/>
          </p:cNvPicPr>
          <p:nvPr/>
        </p:nvPicPr>
        <p:blipFill>
          <a:blip r:embed="rId3"/>
          <a:stretch>
            <a:fillRect/>
          </a:stretch>
        </p:blipFill>
        <p:spPr>
          <a:xfrm>
            <a:off x="8010144" y="4133088"/>
            <a:ext cx="3639312" cy="2174443"/>
          </a:xfrm>
          <a:prstGeom prst="rect">
            <a:avLst/>
          </a:prstGeom>
        </p:spPr>
      </p:pic>
      <p:sp>
        <p:nvSpPr>
          <p:cNvPr id="27" name="chip_615"/>
          <p:cNvSpPr/>
          <p:nvPr/>
        </p:nvSpPr>
        <p:spPr>
          <a:xfrm>
            <a:off x="8110728" y="5897880"/>
            <a:ext cx="1815084" cy="292608"/>
          </a:xfrm>
          <a:prstGeom prst="roundRect">
            <a:avLst>
              <a:gd name="adj" fmla="val 50000"/>
            </a:avLst>
          </a:prstGeom>
          <a:solidFill>
            <a:srgbClr val="0A2F5C">
              <a:alpha val="92000"/>
            </a:srgbClr>
          </a:solidFill>
          <a:ln/>
        </p:spPr>
      </p:sp>
      <p:sp>
        <p:nvSpPr>
          <p:cNvPr id="28" name="chiptxt_616"/>
          <p:cNvSpPr txBox="1"/>
          <p:nvPr/>
        </p:nvSpPr>
        <p:spPr>
          <a:xfrm>
            <a:off x="8110728" y="5897880"/>
            <a:ext cx="1815084" cy="292608"/>
          </a:xfrm>
          <a:prstGeom prst="rect">
            <a:avLst/>
          </a:prstGeom>
          <a:noFill/>
          <a:ln/>
        </p:spPr>
        <p:txBody>
          <a:bodyPr wrap="square" lIns="0" tIns="0" rIns="0" bIns="0" rtlCol="0" anchor="ctr"/>
          <a:lstStyle/>
          <a:p>
            <a:pPr algn="ctr" indent="0" marL="0">
              <a:buNone/>
            </a:pPr>
            <a:r>
              <a:rPr lang="en-US" sz="1050" b="1" dirty="0">
                <a:solidFill>
                  <a:srgbClr val="FFFFFF"/>
                </a:solidFill>
              </a:rPr>
              <a:t>Sessions (promotions)</a:t>
            </a:r>
            <a:endParaRPr lang="en-US" sz="105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Interface : administration (suite)</a:t>
            </a:r>
            <a:endParaRPr lang="en-US" sz="3000" dirty="0"/>
          </a:p>
        </p:txBody>
      </p:sp>
      <p:sp>
        <p:nvSpPr>
          <p:cNvPr id="3" name="win_617"/>
          <p:cNvSpPr/>
          <p:nvPr/>
        </p:nvSpPr>
        <p:spPr>
          <a:xfrm>
            <a:off x="548640" y="1234440"/>
            <a:ext cx="3703320" cy="2457770"/>
          </a:xfrm>
          <a:prstGeom prst="roundRect">
            <a:avLst>
              <a:gd name="adj" fmla="val 2976"/>
            </a:avLst>
          </a:prstGeom>
          <a:solidFill>
            <a:srgbClr val="E6EAF0"/>
          </a:solidFill>
          <a:ln w="9525">
            <a:solidFill>
              <a:srgbClr val="D5DCE5"/>
            </a:solidFill>
            <a:prstDash val="solid"/>
          </a:ln>
          <a:effectLst>
            <a:outerShdw sx="100000" sy="100000" kx="0" ky="0" algn="bl" rotWithShape="0" blurRad="127000" dist="38100" dir="5400000">
              <a:srgbClr val="1B2433">
                <a:alpha val="14000"/>
              </a:srgbClr>
            </a:outerShdw>
          </a:effectLst>
        </p:spPr>
      </p:sp>
      <p:sp>
        <p:nvSpPr>
          <p:cNvPr id="4" name="dot_618"/>
          <p:cNvSpPr/>
          <p:nvPr/>
        </p:nvSpPr>
        <p:spPr>
          <a:xfrm>
            <a:off x="658368" y="1316736"/>
            <a:ext cx="82296" cy="82296"/>
          </a:xfrm>
          <a:prstGeom prst="ellipse">
            <a:avLst/>
          </a:prstGeom>
          <a:solidFill>
            <a:srgbClr val="FF5F57"/>
          </a:solidFill>
          <a:ln/>
        </p:spPr>
      </p:sp>
      <p:sp>
        <p:nvSpPr>
          <p:cNvPr id="5" name="dot_619"/>
          <p:cNvSpPr/>
          <p:nvPr/>
        </p:nvSpPr>
        <p:spPr>
          <a:xfrm>
            <a:off x="786384" y="1316736"/>
            <a:ext cx="82296" cy="82296"/>
          </a:xfrm>
          <a:prstGeom prst="ellipse">
            <a:avLst/>
          </a:prstGeom>
          <a:solidFill>
            <a:srgbClr val="FEBC2E"/>
          </a:solidFill>
          <a:ln/>
        </p:spPr>
      </p:sp>
      <p:sp>
        <p:nvSpPr>
          <p:cNvPr id="6" name="dot_620"/>
          <p:cNvSpPr/>
          <p:nvPr/>
        </p:nvSpPr>
        <p:spPr>
          <a:xfrm>
            <a:off x="914400" y="1316736"/>
            <a:ext cx="82296" cy="82296"/>
          </a:xfrm>
          <a:prstGeom prst="ellipse">
            <a:avLst/>
          </a:prstGeom>
          <a:solidFill>
            <a:srgbClr val="28C840"/>
          </a:solidFill>
          <a:ln/>
        </p:spPr>
      </p:sp>
      <p:sp>
        <p:nvSpPr>
          <p:cNvPr id="7" name="url_621"/>
          <p:cNvSpPr/>
          <p:nvPr/>
        </p:nvSpPr>
        <p:spPr>
          <a:xfrm>
            <a:off x="1097280" y="1280160"/>
            <a:ext cx="1555394" cy="155448"/>
          </a:xfrm>
          <a:prstGeom prst="roundRect">
            <a:avLst>
              <a:gd name="adj" fmla="val 35294"/>
            </a:avLst>
          </a:prstGeom>
          <a:solidFill>
            <a:srgbClr val="FFFFFF"/>
          </a:solidFill>
          <a:ln/>
        </p:spPr>
      </p:sp>
      <p:sp>
        <p:nvSpPr>
          <p:cNvPr id="8" name="urltxt_622"/>
          <p:cNvSpPr txBox="1"/>
          <p:nvPr/>
        </p:nvSpPr>
        <p:spPr>
          <a:xfrm>
            <a:off x="1188720" y="1280160"/>
            <a:ext cx="1463954" cy="155448"/>
          </a:xfrm>
          <a:prstGeom prst="rect">
            <a:avLst/>
          </a:prstGeom>
          <a:noFill/>
          <a:ln/>
        </p:spPr>
        <p:txBody>
          <a:bodyPr wrap="square" lIns="0" tIns="0" rIns="0" bIns="0" rtlCol="0" anchor="ctr"/>
          <a:lstStyle/>
          <a:p>
            <a:pPr indent="0" marL="0">
              <a:buNone/>
            </a:pPr>
            <a:r>
              <a:rPr lang="en-US" sz="700" dirty="0">
                <a:solidFill>
                  <a:srgbClr val="7A8494"/>
                </a:solidFill>
              </a:rPr>
              <a:t>insfp.dz/admin/spécialités</a:t>
            </a:r>
            <a:endParaRPr lang="en-US" sz="700" dirty="0"/>
          </a:p>
        </p:txBody>
      </p:sp>
      <p:pic>
        <p:nvPicPr>
          <p:cNvPr id="9" name="shot_623" descr="capture">    </p:cNvPr>
          <p:cNvPicPr>
            <a:picLocks noChangeAspect="1"/>
          </p:cNvPicPr>
          <p:nvPr/>
        </p:nvPicPr>
        <p:blipFill>
          <a:blip r:embed="rId1"/>
          <a:stretch>
            <a:fillRect/>
          </a:stretch>
        </p:blipFill>
        <p:spPr>
          <a:xfrm>
            <a:off x="557784" y="1481328"/>
            <a:ext cx="3685032" cy="2201738"/>
          </a:xfrm>
          <a:prstGeom prst="rect">
            <a:avLst/>
          </a:prstGeom>
        </p:spPr>
      </p:pic>
      <p:sp>
        <p:nvSpPr>
          <p:cNvPr id="10" name="chip_624"/>
          <p:cNvSpPr/>
          <p:nvPr/>
        </p:nvSpPr>
        <p:spPr>
          <a:xfrm>
            <a:off x="658368" y="3291840"/>
            <a:ext cx="1037844" cy="292608"/>
          </a:xfrm>
          <a:prstGeom prst="roundRect">
            <a:avLst>
              <a:gd name="adj" fmla="val 50000"/>
            </a:avLst>
          </a:prstGeom>
          <a:solidFill>
            <a:srgbClr val="0A2F5C">
              <a:alpha val="92000"/>
            </a:srgbClr>
          </a:solidFill>
          <a:ln/>
        </p:spPr>
      </p:sp>
      <p:sp>
        <p:nvSpPr>
          <p:cNvPr id="11" name="chiptxt_625"/>
          <p:cNvSpPr txBox="1"/>
          <p:nvPr/>
        </p:nvSpPr>
        <p:spPr>
          <a:xfrm>
            <a:off x="658368" y="3291840"/>
            <a:ext cx="1037844" cy="292608"/>
          </a:xfrm>
          <a:prstGeom prst="rect">
            <a:avLst/>
          </a:prstGeom>
          <a:noFill/>
          <a:ln/>
        </p:spPr>
        <p:txBody>
          <a:bodyPr wrap="square" lIns="0" tIns="0" rIns="0" bIns="0" rtlCol="0" anchor="ctr"/>
          <a:lstStyle/>
          <a:p>
            <a:pPr algn="ctr" indent="0" marL="0">
              <a:buNone/>
            </a:pPr>
            <a:r>
              <a:rPr lang="en-US" sz="1050" b="1" dirty="0">
                <a:solidFill>
                  <a:srgbClr val="FFFFFF"/>
                </a:solidFill>
              </a:rPr>
              <a:t>Spécialités</a:t>
            </a:r>
            <a:endParaRPr lang="en-US" sz="1050" dirty="0"/>
          </a:p>
        </p:txBody>
      </p:sp>
      <p:sp>
        <p:nvSpPr>
          <p:cNvPr id="12" name="win_626"/>
          <p:cNvSpPr/>
          <p:nvPr/>
        </p:nvSpPr>
        <p:spPr>
          <a:xfrm>
            <a:off x="4434840" y="1234440"/>
            <a:ext cx="3703320" cy="2457770"/>
          </a:xfrm>
          <a:prstGeom prst="roundRect">
            <a:avLst>
              <a:gd name="adj" fmla="val 2976"/>
            </a:avLst>
          </a:prstGeom>
          <a:solidFill>
            <a:srgbClr val="E6EAF0"/>
          </a:solidFill>
          <a:ln w="9525">
            <a:solidFill>
              <a:srgbClr val="D5DCE5"/>
            </a:solidFill>
            <a:prstDash val="solid"/>
          </a:ln>
          <a:effectLst>
            <a:outerShdw sx="100000" sy="100000" kx="0" ky="0" algn="bl" rotWithShape="0" blurRad="127000" dist="38100" dir="5400000">
              <a:srgbClr val="1B2433">
                <a:alpha val="14000"/>
              </a:srgbClr>
            </a:outerShdw>
          </a:effectLst>
        </p:spPr>
      </p:sp>
      <p:sp>
        <p:nvSpPr>
          <p:cNvPr id="13" name="dot_627"/>
          <p:cNvSpPr/>
          <p:nvPr/>
        </p:nvSpPr>
        <p:spPr>
          <a:xfrm>
            <a:off x="4544568" y="1316736"/>
            <a:ext cx="82296" cy="82296"/>
          </a:xfrm>
          <a:prstGeom prst="ellipse">
            <a:avLst/>
          </a:prstGeom>
          <a:solidFill>
            <a:srgbClr val="FF5F57"/>
          </a:solidFill>
          <a:ln/>
        </p:spPr>
      </p:sp>
      <p:sp>
        <p:nvSpPr>
          <p:cNvPr id="14" name="dot_628"/>
          <p:cNvSpPr/>
          <p:nvPr/>
        </p:nvSpPr>
        <p:spPr>
          <a:xfrm>
            <a:off x="4672584" y="1316736"/>
            <a:ext cx="82296" cy="82296"/>
          </a:xfrm>
          <a:prstGeom prst="ellipse">
            <a:avLst/>
          </a:prstGeom>
          <a:solidFill>
            <a:srgbClr val="FEBC2E"/>
          </a:solidFill>
          <a:ln/>
        </p:spPr>
      </p:sp>
      <p:sp>
        <p:nvSpPr>
          <p:cNvPr id="15" name="dot_629"/>
          <p:cNvSpPr/>
          <p:nvPr/>
        </p:nvSpPr>
        <p:spPr>
          <a:xfrm>
            <a:off x="4800600" y="1316736"/>
            <a:ext cx="82296" cy="82296"/>
          </a:xfrm>
          <a:prstGeom prst="ellipse">
            <a:avLst/>
          </a:prstGeom>
          <a:solidFill>
            <a:srgbClr val="28C840"/>
          </a:solidFill>
          <a:ln/>
        </p:spPr>
      </p:sp>
      <p:sp>
        <p:nvSpPr>
          <p:cNvPr id="16" name="url_630"/>
          <p:cNvSpPr/>
          <p:nvPr/>
        </p:nvSpPr>
        <p:spPr>
          <a:xfrm>
            <a:off x="4983480" y="1280160"/>
            <a:ext cx="1555394" cy="155448"/>
          </a:xfrm>
          <a:prstGeom prst="roundRect">
            <a:avLst>
              <a:gd name="adj" fmla="val 35294"/>
            </a:avLst>
          </a:prstGeom>
          <a:solidFill>
            <a:srgbClr val="FFFFFF"/>
          </a:solidFill>
          <a:ln/>
        </p:spPr>
      </p:sp>
      <p:sp>
        <p:nvSpPr>
          <p:cNvPr id="17" name="urltxt_631"/>
          <p:cNvSpPr txBox="1"/>
          <p:nvPr/>
        </p:nvSpPr>
        <p:spPr>
          <a:xfrm>
            <a:off x="5074920" y="1280160"/>
            <a:ext cx="1463954" cy="155448"/>
          </a:xfrm>
          <a:prstGeom prst="rect">
            <a:avLst/>
          </a:prstGeom>
          <a:noFill/>
          <a:ln/>
        </p:spPr>
        <p:txBody>
          <a:bodyPr wrap="square" lIns="0" tIns="0" rIns="0" bIns="0" rtlCol="0" anchor="ctr"/>
          <a:lstStyle/>
          <a:p>
            <a:pPr indent="0" marL="0">
              <a:buNone/>
            </a:pPr>
            <a:r>
              <a:rPr lang="en-US" sz="700" dirty="0">
                <a:solidFill>
                  <a:srgbClr val="7A8494"/>
                </a:solidFill>
              </a:rPr>
              <a:t>insfp.dz/admin/registration</a:t>
            </a:r>
            <a:endParaRPr lang="en-US" sz="700" dirty="0"/>
          </a:p>
        </p:txBody>
      </p:sp>
      <p:pic>
        <p:nvPicPr>
          <p:cNvPr id="18" name="shot_632" descr="capture">    </p:cNvPr>
          <p:cNvPicPr>
            <a:picLocks noChangeAspect="1"/>
          </p:cNvPicPr>
          <p:nvPr/>
        </p:nvPicPr>
        <p:blipFill>
          <a:blip r:embed="rId2"/>
          <a:stretch>
            <a:fillRect/>
          </a:stretch>
        </p:blipFill>
        <p:spPr>
          <a:xfrm>
            <a:off x="4443984" y="1481328"/>
            <a:ext cx="3685032" cy="2201738"/>
          </a:xfrm>
          <a:prstGeom prst="rect">
            <a:avLst/>
          </a:prstGeom>
        </p:spPr>
      </p:pic>
      <p:sp>
        <p:nvSpPr>
          <p:cNvPr id="19" name="chip_633"/>
          <p:cNvSpPr/>
          <p:nvPr/>
        </p:nvSpPr>
        <p:spPr>
          <a:xfrm>
            <a:off x="4544568" y="3291840"/>
            <a:ext cx="1815084" cy="292608"/>
          </a:xfrm>
          <a:prstGeom prst="roundRect">
            <a:avLst>
              <a:gd name="adj" fmla="val 50000"/>
            </a:avLst>
          </a:prstGeom>
          <a:solidFill>
            <a:srgbClr val="0A2F5C">
              <a:alpha val="92000"/>
            </a:srgbClr>
          </a:solidFill>
          <a:ln/>
        </p:spPr>
      </p:sp>
      <p:sp>
        <p:nvSpPr>
          <p:cNvPr id="20" name="chiptxt_634"/>
          <p:cNvSpPr txBox="1"/>
          <p:nvPr/>
        </p:nvSpPr>
        <p:spPr>
          <a:xfrm>
            <a:off x="4544568" y="3291840"/>
            <a:ext cx="1815084" cy="292608"/>
          </a:xfrm>
          <a:prstGeom prst="rect">
            <a:avLst/>
          </a:prstGeom>
          <a:noFill/>
          <a:ln/>
        </p:spPr>
        <p:txBody>
          <a:bodyPr wrap="square" lIns="0" tIns="0" rIns="0" bIns="0" rtlCol="0" anchor="ctr"/>
          <a:lstStyle/>
          <a:p>
            <a:pPr algn="ctr" indent="0" marL="0">
              <a:buNone/>
            </a:pPr>
            <a:r>
              <a:rPr lang="en-US" sz="1050" b="1" dirty="0">
                <a:solidFill>
                  <a:srgbClr val="FFFFFF"/>
                </a:solidFill>
              </a:rPr>
              <a:t>Numéros d'inscription</a:t>
            </a:r>
            <a:endParaRPr lang="en-US" sz="1050" dirty="0"/>
          </a:p>
        </p:txBody>
      </p:sp>
      <p:sp>
        <p:nvSpPr>
          <p:cNvPr id="21" name="win_635"/>
          <p:cNvSpPr/>
          <p:nvPr/>
        </p:nvSpPr>
        <p:spPr>
          <a:xfrm>
            <a:off x="548640" y="3840480"/>
            <a:ext cx="3703320" cy="2457770"/>
          </a:xfrm>
          <a:prstGeom prst="roundRect">
            <a:avLst>
              <a:gd name="adj" fmla="val 2976"/>
            </a:avLst>
          </a:prstGeom>
          <a:solidFill>
            <a:srgbClr val="E6EAF0"/>
          </a:solidFill>
          <a:ln w="9525">
            <a:solidFill>
              <a:srgbClr val="D5DCE5"/>
            </a:solidFill>
            <a:prstDash val="solid"/>
          </a:ln>
          <a:effectLst>
            <a:outerShdw sx="100000" sy="100000" kx="0" ky="0" algn="bl" rotWithShape="0" blurRad="127000" dist="38100" dir="5400000">
              <a:srgbClr val="1B2433">
                <a:alpha val="14000"/>
              </a:srgbClr>
            </a:outerShdw>
          </a:effectLst>
        </p:spPr>
      </p:sp>
      <p:sp>
        <p:nvSpPr>
          <p:cNvPr id="22" name="dot_636"/>
          <p:cNvSpPr/>
          <p:nvPr/>
        </p:nvSpPr>
        <p:spPr>
          <a:xfrm>
            <a:off x="658368" y="3922776"/>
            <a:ext cx="82296" cy="82296"/>
          </a:xfrm>
          <a:prstGeom prst="ellipse">
            <a:avLst/>
          </a:prstGeom>
          <a:solidFill>
            <a:srgbClr val="FF5F57"/>
          </a:solidFill>
          <a:ln/>
        </p:spPr>
      </p:sp>
      <p:sp>
        <p:nvSpPr>
          <p:cNvPr id="23" name="dot_637"/>
          <p:cNvSpPr/>
          <p:nvPr/>
        </p:nvSpPr>
        <p:spPr>
          <a:xfrm>
            <a:off x="786384" y="3922776"/>
            <a:ext cx="82296" cy="82296"/>
          </a:xfrm>
          <a:prstGeom prst="ellipse">
            <a:avLst/>
          </a:prstGeom>
          <a:solidFill>
            <a:srgbClr val="FEBC2E"/>
          </a:solidFill>
          <a:ln/>
        </p:spPr>
      </p:sp>
      <p:sp>
        <p:nvSpPr>
          <p:cNvPr id="24" name="dot_638"/>
          <p:cNvSpPr/>
          <p:nvPr/>
        </p:nvSpPr>
        <p:spPr>
          <a:xfrm>
            <a:off x="914400" y="3922776"/>
            <a:ext cx="82296" cy="82296"/>
          </a:xfrm>
          <a:prstGeom prst="ellipse">
            <a:avLst/>
          </a:prstGeom>
          <a:solidFill>
            <a:srgbClr val="28C840"/>
          </a:solidFill>
          <a:ln/>
        </p:spPr>
      </p:sp>
      <p:sp>
        <p:nvSpPr>
          <p:cNvPr id="25" name="url_639"/>
          <p:cNvSpPr/>
          <p:nvPr/>
        </p:nvSpPr>
        <p:spPr>
          <a:xfrm>
            <a:off x="1097280" y="3886200"/>
            <a:ext cx="1555394" cy="155448"/>
          </a:xfrm>
          <a:prstGeom prst="roundRect">
            <a:avLst>
              <a:gd name="adj" fmla="val 35294"/>
            </a:avLst>
          </a:prstGeom>
          <a:solidFill>
            <a:srgbClr val="FFFFFF"/>
          </a:solidFill>
          <a:ln/>
        </p:spPr>
      </p:sp>
      <p:sp>
        <p:nvSpPr>
          <p:cNvPr id="26" name="urltxt_640"/>
          <p:cNvSpPr txBox="1"/>
          <p:nvPr/>
        </p:nvSpPr>
        <p:spPr>
          <a:xfrm>
            <a:off x="1188720" y="3886200"/>
            <a:ext cx="1463954" cy="155448"/>
          </a:xfrm>
          <a:prstGeom prst="rect">
            <a:avLst/>
          </a:prstGeom>
          <a:noFill/>
          <a:ln/>
        </p:spPr>
        <p:txBody>
          <a:bodyPr wrap="square" lIns="0" tIns="0" rIns="0" bIns="0" rtlCol="0" anchor="ctr"/>
          <a:lstStyle/>
          <a:p>
            <a:pPr indent="0" marL="0">
              <a:buNone/>
            </a:pPr>
            <a:r>
              <a:rPr lang="en-US" sz="700" dirty="0">
                <a:solidFill>
                  <a:srgbClr val="7A8494"/>
                </a:solidFill>
              </a:rPr>
              <a:t>insfp.dz/admin/schedule</a:t>
            </a:r>
            <a:endParaRPr lang="en-US" sz="700" dirty="0"/>
          </a:p>
        </p:txBody>
      </p:sp>
      <p:pic>
        <p:nvPicPr>
          <p:cNvPr id="27" name="shot_641" descr="capture">    </p:cNvPr>
          <p:cNvPicPr>
            <a:picLocks noChangeAspect="1"/>
          </p:cNvPicPr>
          <p:nvPr/>
        </p:nvPicPr>
        <p:blipFill>
          <a:blip r:embed="rId3"/>
          <a:stretch>
            <a:fillRect/>
          </a:stretch>
        </p:blipFill>
        <p:spPr>
          <a:xfrm>
            <a:off x="557784" y="4087368"/>
            <a:ext cx="3685032" cy="2201738"/>
          </a:xfrm>
          <a:prstGeom prst="rect">
            <a:avLst/>
          </a:prstGeom>
        </p:spPr>
      </p:pic>
      <p:sp>
        <p:nvSpPr>
          <p:cNvPr id="28" name="chip_642"/>
          <p:cNvSpPr/>
          <p:nvPr/>
        </p:nvSpPr>
        <p:spPr>
          <a:xfrm>
            <a:off x="658368" y="5897880"/>
            <a:ext cx="1426464" cy="292608"/>
          </a:xfrm>
          <a:prstGeom prst="roundRect">
            <a:avLst>
              <a:gd name="adj" fmla="val 50000"/>
            </a:avLst>
          </a:prstGeom>
          <a:solidFill>
            <a:srgbClr val="0A2F5C">
              <a:alpha val="92000"/>
            </a:srgbClr>
          </a:solidFill>
          <a:ln/>
        </p:spPr>
      </p:sp>
      <p:sp>
        <p:nvSpPr>
          <p:cNvPr id="29" name="chiptxt_643"/>
          <p:cNvSpPr txBox="1"/>
          <p:nvPr/>
        </p:nvSpPr>
        <p:spPr>
          <a:xfrm>
            <a:off x="658368" y="5897880"/>
            <a:ext cx="1426464" cy="292608"/>
          </a:xfrm>
          <a:prstGeom prst="rect">
            <a:avLst/>
          </a:prstGeom>
          <a:noFill/>
          <a:ln/>
        </p:spPr>
        <p:txBody>
          <a:bodyPr wrap="square" lIns="0" tIns="0" rIns="0" bIns="0" rtlCol="0" anchor="ctr"/>
          <a:lstStyle/>
          <a:p>
            <a:pPr algn="ctr" indent="0" marL="0">
              <a:buNone/>
            </a:pPr>
            <a:r>
              <a:rPr lang="en-US" sz="1050" b="1" dirty="0">
                <a:solidFill>
                  <a:srgbClr val="FFFFFF"/>
                </a:solidFill>
              </a:rPr>
              <a:t>Emplois du temps</a:t>
            </a:r>
            <a:endParaRPr lang="en-US" sz="1050" dirty="0"/>
          </a:p>
        </p:txBody>
      </p:sp>
      <p:sp>
        <p:nvSpPr>
          <p:cNvPr id="30" name="win_644"/>
          <p:cNvSpPr/>
          <p:nvPr/>
        </p:nvSpPr>
        <p:spPr>
          <a:xfrm>
            <a:off x="4434840" y="3840480"/>
            <a:ext cx="3703320" cy="2457770"/>
          </a:xfrm>
          <a:prstGeom prst="roundRect">
            <a:avLst>
              <a:gd name="adj" fmla="val 2976"/>
            </a:avLst>
          </a:prstGeom>
          <a:solidFill>
            <a:srgbClr val="E6EAF0"/>
          </a:solidFill>
          <a:ln w="9525">
            <a:solidFill>
              <a:srgbClr val="D5DCE5"/>
            </a:solidFill>
            <a:prstDash val="solid"/>
          </a:ln>
          <a:effectLst>
            <a:outerShdw sx="100000" sy="100000" kx="0" ky="0" algn="bl" rotWithShape="0" blurRad="127000" dist="38100" dir="5400000">
              <a:srgbClr val="1B2433">
                <a:alpha val="14000"/>
              </a:srgbClr>
            </a:outerShdw>
          </a:effectLst>
        </p:spPr>
      </p:sp>
      <p:sp>
        <p:nvSpPr>
          <p:cNvPr id="31" name="dot_645"/>
          <p:cNvSpPr/>
          <p:nvPr/>
        </p:nvSpPr>
        <p:spPr>
          <a:xfrm>
            <a:off x="4544568" y="3922776"/>
            <a:ext cx="82296" cy="82296"/>
          </a:xfrm>
          <a:prstGeom prst="ellipse">
            <a:avLst/>
          </a:prstGeom>
          <a:solidFill>
            <a:srgbClr val="FF5F57"/>
          </a:solidFill>
          <a:ln/>
        </p:spPr>
      </p:sp>
      <p:sp>
        <p:nvSpPr>
          <p:cNvPr id="32" name="dot_646"/>
          <p:cNvSpPr/>
          <p:nvPr/>
        </p:nvSpPr>
        <p:spPr>
          <a:xfrm>
            <a:off x="4672584" y="3922776"/>
            <a:ext cx="82296" cy="82296"/>
          </a:xfrm>
          <a:prstGeom prst="ellipse">
            <a:avLst/>
          </a:prstGeom>
          <a:solidFill>
            <a:srgbClr val="FEBC2E"/>
          </a:solidFill>
          <a:ln/>
        </p:spPr>
      </p:sp>
      <p:sp>
        <p:nvSpPr>
          <p:cNvPr id="33" name="dot_647"/>
          <p:cNvSpPr/>
          <p:nvPr/>
        </p:nvSpPr>
        <p:spPr>
          <a:xfrm>
            <a:off x="4800600" y="3922776"/>
            <a:ext cx="82296" cy="82296"/>
          </a:xfrm>
          <a:prstGeom prst="ellipse">
            <a:avLst/>
          </a:prstGeom>
          <a:solidFill>
            <a:srgbClr val="28C840"/>
          </a:solidFill>
          <a:ln/>
        </p:spPr>
      </p:sp>
      <p:sp>
        <p:nvSpPr>
          <p:cNvPr id="34" name="url_648"/>
          <p:cNvSpPr/>
          <p:nvPr/>
        </p:nvSpPr>
        <p:spPr>
          <a:xfrm>
            <a:off x="4983480" y="3886200"/>
            <a:ext cx="1555394" cy="155448"/>
          </a:xfrm>
          <a:prstGeom prst="roundRect">
            <a:avLst>
              <a:gd name="adj" fmla="val 35294"/>
            </a:avLst>
          </a:prstGeom>
          <a:solidFill>
            <a:srgbClr val="FFFFFF"/>
          </a:solidFill>
          <a:ln/>
        </p:spPr>
      </p:sp>
      <p:sp>
        <p:nvSpPr>
          <p:cNvPr id="35" name="urltxt_649"/>
          <p:cNvSpPr txBox="1"/>
          <p:nvPr/>
        </p:nvSpPr>
        <p:spPr>
          <a:xfrm>
            <a:off x="5074920" y="3886200"/>
            <a:ext cx="1463954" cy="155448"/>
          </a:xfrm>
          <a:prstGeom prst="rect">
            <a:avLst/>
          </a:prstGeom>
          <a:noFill/>
          <a:ln/>
        </p:spPr>
        <p:txBody>
          <a:bodyPr wrap="square" lIns="0" tIns="0" rIns="0" bIns="0" rtlCol="0" anchor="ctr"/>
          <a:lstStyle/>
          <a:p>
            <a:pPr indent="0" marL="0">
              <a:buNone/>
            </a:pPr>
            <a:r>
              <a:rPr lang="en-US" sz="700" dirty="0">
                <a:solidFill>
                  <a:srgbClr val="7A8494"/>
                </a:solidFill>
              </a:rPr>
              <a:t>insfp.dz/admin/deliberations</a:t>
            </a:r>
            <a:endParaRPr lang="en-US" sz="700" dirty="0"/>
          </a:p>
        </p:txBody>
      </p:sp>
      <p:pic>
        <p:nvPicPr>
          <p:cNvPr id="36" name="shot_650" descr="capture">    </p:cNvPr>
          <p:cNvPicPr>
            <a:picLocks noChangeAspect="1"/>
          </p:cNvPicPr>
          <p:nvPr/>
        </p:nvPicPr>
        <p:blipFill>
          <a:blip r:embed="rId4"/>
          <a:stretch>
            <a:fillRect/>
          </a:stretch>
        </p:blipFill>
        <p:spPr>
          <a:xfrm>
            <a:off x="4443984" y="4087368"/>
            <a:ext cx="3685032" cy="2201738"/>
          </a:xfrm>
          <a:prstGeom prst="rect">
            <a:avLst/>
          </a:prstGeom>
        </p:spPr>
      </p:pic>
      <p:sp>
        <p:nvSpPr>
          <p:cNvPr id="37" name="chip_651"/>
          <p:cNvSpPr/>
          <p:nvPr/>
        </p:nvSpPr>
        <p:spPr>
          <a:xfrm>
            <a:off x="4544568" y="5897880"/>
            <a:ext cx="1193292" cy="292608"/>
          </a:xfrm>
          <a:prstGeom prst="roundRect">
            <a:avLst>
              <a:gd name="adj" fmla="val 50000"/>
            </a:avLst>
          </a:prstGeom>
          <a:solidFill>
            <a:srgbClr val="0A2F5C">
              <a:alpha val="92000"/>
            </a:srgbClr>
          </a:solidFill>
          <a:ln/>
        </p:spPr>
      </p:sp>
      <p:sp>
        <p:nvSpPr>
          <p:cNvPr id="38" name="chiptxt_652"/>
          <p:cNvSpPr txBox="1"/>
          <p:nvPr/>
        </p:nvSpPr>
        <p:spPr>
          <a:xfrm>
            <a:off x="4544568" y="5897880"/>
            <a:ext cx="1193292" cy="292608"/>
          </a:xfrm>
          <a:prstGeom prst="rect">
            <a:avLst/>
          </a:prstGeom>
          <a:noFill/>
          <a:ln/>
        </p:spPr>
        <p:txBody>
          <a:bodyPr wrap="square" lIns="0" tIns="0" rIns="0" bIns="0" rtlCol="0" anchor="ctr"/>
          <a:lstStyle/>
          <a:p>
            <a:pPr algn="ctr" indent="0" marL="0">
              <a:buNone/>
            </a:pPr>
            <a:r>
              <a:rPr lang="en-US" sz="1050" b="1" dirty="0">
                <a:solidFill>
                  <a:srgbClr val="FFFFFF"/>
                </a:solidFill>
              </a:rPr>
              <a:t>Délibérations</a:t>
            </a:r>
            <a:endParaRPr lang="en-US" sz="1050" dirty="0"/>
          </a:p>
        </p:txBody>
      </p:sp>
      <p:sp>
        <p:nvSpPr>
          <p:cNvPr id="39" name="card_653"/>
          <p:cNvSpPr/>
          <p:nvPr/>
        </p:nvSpPr>
        <p:spPr>
          <a:xfrm>
            <a:off x="8458200" y="1234440"/>
            <a:ext cx="3200400" cy="5029200"/>
          </a:xfrm>
          <a:prstGeom prst="roundRect">
            <a:avLst>
              <a:gd name="adj" fmla="val 3429"/>
            </a:avLst>
          </a:prstGeom>
          <a:solidFill>
            <a:schemeClr val="tx2"/>
          </a:solidFill>
          <a:ln/>
          <a:effectLst>
            <a:outerShdw sx="100000" sy="100000" kx="0" ky="0" algn="bl" rotWithShape="0" blurRad="127000" dist="38100" dir="5400000">
              <a:srgbClr val="1B2433">
                <a:alpha val="14000"/>
              </a:srgbClr>
            </a:outerShdw>
          </a:effectLst>
        </p:spPr>
      </p:sp>
      <p:sp>
        <p:nvSpPr>
          <p:cNvPr id="40" name="ic_bg_654"/>
          <p:cNvSpPr/>
          <p:nvPr/>
        </p:nvSpPr>
        <p:spPr>
          <a:xfrm>
            <a:off x="8686800" y="1463040"/>
            <a:ext cx="566928" cy="566928"/>
          </a:xfrm>
          <a:prstGeom prst="ellipse">
            <a:avLst/>
          </a:prstGeom>
          <a:solidFill>
            <a:srgbClr val="D7971D"/>
          </a:solidFill>
          <a:ln/>
        </p:spPr>
      </p:sp>
      <p:pic>
        <p:nvPicPr>
          <p:cNvPr id="41" name="ic_655" descr="FaHashtag">    </p:cNvPr>
          <p:cNvPicPr>
            <a:picLocks noChangeAspect="1"/>
          </p:cNvPicPr>
          <p:nvPr/>
        </p:nvPicPr>
        <p:blipFill>
          <a:blip r:embed="rId5"/>
          <a:stretch>
            <a:fillRect/>
          </a:stretch>
        </p:blipFill>
        <p:spPr>
          <a:xfrm>
            <a:off x="8828532" y="1604772"/>
            <a:ext cx="283464" cy="283464"/>
          </a:xfrm>
          <a:prstGeom prst="rect">
            <a:avLst/>
          </a:prstGeom>
        </p:spPr>
      </p:pic>
      <p:sp>
        <p:nvSpPr>
          <p:cNvPr id="42" name="t_656"/>
          <p:cNvSpPr txBox="1"/>
          <p:nvPr/>
        </p:nvSpPr>
        <p:spPr>
          <a:xfrm>
            <a:off x="8686800" y="2121408"/>
            <a:ext cx="2788920" cy="777240"/>
          </a:xfrm>
          <a:prstGeom prst="rect">
            <a:avLst/>
          </a:prstGeom>
          <a:noFill/>
          <a:ln/>
        </p:spPr>
        <p:txBody>
          <a:bodyPr wrap="square" lIns="0" tIns="0" rIns="0" bIns="0" rtlCol="0" anchor="t"/>
          <a:lstStyle/>
          <a:p>
            <a:pPr indent="0" marL="0">
              <a:buNone/>
            </a:pPr>
            <a:r>
              <a:rPr lang="en-US" sz="1300" dirty="0">
                <a:solidFill>
                  <a:srgbClr val="FFFFFF"/>
                </a:solidFill>
              </a:rPr>
              <a:t>Numéros d'inscription générés par session et spécialité</a:t>
            </a:r>
            <a:endParaRPr lang="en-US" sz="1300" dirty="0"/>
          </a:p>
        </p:txBody>
      </p:sp>
      <p:sp>
        <p:nvSpPr>
          <p:cNvPr id="43" name="ic_bg_657"/>
          <p:cNvSpPr/>
          <p:nvPr/>
        </p:nvSpPr>
        <p:spPr>
          <a:xfrm>
            <a:off x="8686800" y="3017520"/>
            <a:ext cx="566928" cy="566928"/>
          </a:xfrm>
          <a:prstGeom prst="ellipse">
            <a:avLst/>
          </a:prstGeom>
          <a:solidFill>
            <a:srgbClr val="D7971D"/>
          </a:solidFill>
          <a:ln/>
        </p:spPr>
      </p:sp>
      <p:pic>
        <p:nvPicPr>
          <p:cNvPr id="44" name="ic_658" descr="FaShuffle">    </p:cNvPr>
          <p:cNvPicPr>
            <a:picLocks noChangeAspect="1"/>
          </p:cNvPicPr>
          <p:nvPr/>
        </p:nvPicPr>
        <p:blipFill>
          <a:blip r:embed="rId6"/>
          <a:stretch>
            <a:fillRect/>
          </a:stretch>
        </p:blipFill>
        <p:spPr>
          <a:xfrm>
            <a:off x="8828532" y="3159252"/>
            <a:ext cx="283464" cy="283464"/>
          </a:xfrm>
          <a:prstGeom prst="rect">
            <a:avLst/>
          </a:prstGeom>
        </p:spPr>
      </p:pic>
      <p:sp>
        <p:nvSpPr>
          <p:cNvPr id="45" name="t_659"/>
          <p:cNvSpPr txBox="1"/>
          <p:nvPr/>
        </p:nvSpPr>
        <p:spPr>
          <a:xfrm>
            <a:off x="8686800" y="3675888"/>
            <a:ext cx="2788920" cy="777240"/>
          </a:xfrm>
          <a:prstGeom prst="rect">
            <a:avLst/>
          </a:prstGeom>
          <a:noFill/>
          <a:ln/>
        </p:spPr>
        <p:txBody>
          <a:bodyPr wrap="square" lIns="0" tIns="0" rIns="0" bIns="0" rtlCol="0" anchor="t"/>
          <a:lstStyle/>
          <a:p>
            <a:pPr indent="0" marL="0">
              <a:buNone/>
            </a:pPr>
            <a:r>
              <a:rPr lang="en-US" sz="1300" dirty="0">
                <a:solidFill>
                  <a:srgbClr val="FFFFFF"/>
                </a:solidFill>
              </a:rPr>
              <a:t>Détection automatique des conflits d'horaires</a:t>
            </a:r>
            <a:endParaRPr lang="en-US" sz="1300" dirty="0"/>
          </a:p>
        </p:txBody>
      </p:sp>
      <p:sp>
        <p:nvSpPr>
          <p:cNvPr id="46" name="ic_bg_660"/>
          <p:cNvSpPr/>
          <p:nvPr/>
        </p:nvSpPr>
        <p:spPr>
          <a:xfrm>
            <a:off x="8686800" y="4572000"/>
            <a:ext cx="566928" cy="566928"/>
          </a:xfrm>
          <a:prstGeom prst="ellipse">
            <a:avLst/>
          </a:prstGeom>
          <a:solidFill>
            <a:srgbClr val="D7971D"/>
          </a:solidFill>
          <a:ln/>
        </p:spPr>
      </p:sp>
      <p:pic>
        <p:nvPicPr>
          <p:cNvPr id="47" name="ic_661" descr="FaCalculator">    </p:cNvPr>
          <p:cNvPicPr>
            <a:picLocks noChangeAspect="1"/>
          </p:cNvPicPr>
          <p:nvPr/>
        </p:nvPicPr>
        <p:blipFill>
          <a:blip r:embed="rId7"/>
          <a:stretch>
            <a:fillRect/>
          </a:stretch>
        </p:blipFill>
        <p:spPr>
          <a:xfrm>
            <a:off x="8828532" y="4713732"/>
            <a:ext cx="283464" cy="283464"/>
          </a:xfrm>
          <a:prstGeom prst="rect">
            <a:avLst/>
          </a:prstGeom>
        </p:spPr>
      </p:pic>
      <p:sp>
        <p:nvSpPr>
          <p:cNvPr id="48" name="t_662"/>
          <p:cNvSpPr txBox="1"/>
          <p:nvPr/>
        </p:nvSpPr>
        <p:spPr>
          <a:xfrm>
            <a:off x="8686800" y="5230368"/>
            <a:ext cx="2788920" cy="777240"/>
          </a:xfrm>
          <a:prstGeom prst="rect">
            <a:avLst/>
          </a:prstGeom>
          <a:noFill/>
          <a:ln/>
        </p:spPr>
        <p:txBody>
          <a:bodyPr wrap="square" lIns="0" tIns="0" rIns="0" bIns="0" rtlCol="0" anchor="t"/>
          <a:lstStyle/>
          <a:p>
            <a:pPr indent="0" marL="0">
              <a:buNone/>
            </a:pPr>
            <a:r>
              <a:rPr lang="en-US" sz="1300" dirty="0">
                <a:solidFill>
                  <a:srgbClr val="FFFFFF"/>
                </a:solidFill>
              </a:rPr>
              <a:t>Moyennes pondérées et résultats proposés</a:t>
            </a:r>
            <a:endParaRPr lang="en-US" sz="13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Interface : espace enseignant</a:t>
            </a:r>
            <a:endParaRPr lang="en-US" sz="3000" dirty="0"/>
          </a:p>
        </p:txBody>
      </p:sp>
      <p:sp>
        <p:nvSpPr>
          <p:cNvPr id="3" name="win_663"/>
          <p:cNvSpPr/>
          <p:nvPr/>
        </p:nvSpPr>
        <p:spPr>
          <a:xfrm>
            <a:off x="548640" y="1280160"/>
            <a:ext cx="7223760" cy="4559473"/>
          </a:xfrm>
          <a:prstGeom prst="roundRect">
            <a:avLst>
              <a:gd name="adj" fmla="val 1604"/>
            </a:avLst>
          </a:prstGeom>
          <a:solidFill>
            <a:srgbClr val="E6EAF0"/>
          </a:solidFill>
          <a:ln w="9525">
            <a:solidFill>
              <a:srgbClr val="D5DCE5"/>
            </a:solidFill>
            <a:prstDash val="solid"/>
          </a:ln>
          <a:effectLst>
            <a:outerShdw sx="100000" sy="100000" kx="0" ky="0" algn="bl" rotWithShape="0" blurRad="127000" dist="38100" dir="5400000">
              <a:srgbClr val="1B2433">
                <a:alpha val="14000"/>
              </a:srgbClr>
            </a:outerShdw>
          </a:effectLst>
        </p:spPr>
      </p:sp>
      <p:sp>
        <p:nvSpPr>
          <p:cNvPr id="4" name="dot_664"/>
          <p:cNvSpPr/>
          <p:nvPr/>
        </p:nvSpPr>
        <p:spPr>
          <a:xfrm>
            <a:off x="658368" y="1362456"/>
            <a:ext cx="82296" cy="82296"/>
          </a:xfrm>
          <a:prstGeom prst="ellipse">
            <a:avLst/>
          </a:prstGeom>
          <a:solidFill>
            <a:srgbClr val="FF5F57"/>
          </a:solidFill>
          <a:ln/>
        </p:spPr>
      </p:sp>
      <p:sp>
        <p:nvSpPr>
          <p:cNvPr id="5" name="dot_665"/>
          <p:cNvSpPr/>
          <p:nvPr/>
        </p:nvSpPr>
        <p:spPr>
          <a:xfrm>
            <a:off x="786384" y="1362456"/>
            <a:ext cx="82296" cy="82296"/>
          </a:xfrm>
          <a:prstGeom prst="ellipse">
            <a:avLst/>
          </a:prstGeom>
          <a:solidFill>
            <a:srgbClr val="FEBC2E"/>
          </a:solidFill>
          <a:ln/>
        </p:spPr>
      </p:sp>
      <p:sp>
        <p:nvSpPr>
          <p:cNvPr id="6" name="dot_666"/>
          <p:cNvSpPr/>
          <p:nvPr/>
        </p:nvSpPr>
        <p:spPr>
          <a:xfrm>
            <a:off x="914400" y="1362456"/>
            <a:ext cx="82296" cy="82296"/>
          </a:xfrm>
          <a:prstGeom prst="ellipse">
            <a:avLst/>
          </a:prstGeom>
          <a:solidFill>
            <a:srgbClr val="28C840"/>
          </a:solidFill>
          <a:ln/>
        </p:spPr>
      </p:sp>
      <p:sp>
        <p:nvSpPr>
          <p:cNvPr id="7" name="url_667"/>
          <p:cNvSpPr/>
          <p:nvPr/>
        </p:nvSpPr>
        <p:spPr>
          <a:xfrm>
            <a:off x="1097280" y="1325880"/>
            <a:ext cx="3033979" cy="155448"/>
          </a:xfrm>
          <a:prstGeom prst="roundRect">
            <a:avLst>
              <a:gd name="adj" fmla="val 35294"/>
            </a:avLst>
          </a:prstGeom>
          <a:solidFill>
            <a:srgbClr val="FFFFFF"/>
          </a:solidFill>
          <a:ln/>
        </p:spPr>
      </p:sp>
      <p:sp>
        <p:nvSpPr>
          <p:cNvPr id="8" name="urltxt_668"/>
          <p:cNvSpPr txBox="1"/>
          <p:nvPr/>
        </p:nvSpPr>
        <p:spPr>
          <a:xfrm>
            <a:off x="1188720" y="1325880"/>
            <a:ext cx="2942539" cy="155448"/>
          </a:xfrm>
          <a:prstGeom prst="rect">
            <a:avLst/>
          </a:prstGeom>
          <a:noFill/>
          <a:ln/>
        </p:spPr>
        <p:txBody>
          <a:bodyPr wrap="square" lIns="0" tIns="0" rIns="0" bIns="0" rtlCol="0" anchor="ctr"/>
          <a:lstStyle/>
          <a:p>
            <a:pPr indent="0" marL="0">
              <a:buNone/>
            </a:pPr>
            <a:r>
              <a:rPr lang="en-US" sz="700" dirty="0">
                <a:solidFill>
                  <a:srgbClr val="7A8494"/>
                </a:solidFill>
              </a:rPr>
              <a:t>insfp.dz/teacher/exams</a:t>
            </a:r>
            <a:endParaRPr lang="en-US" sz="700" dirty="0"/>
          </a:p>
        </p:txBody>
      </p:sp>
      <p:pic>
        <p:nvPicPr>
          <p:cNvPr id="9" name="shot_669" descr="Examens et notes">    </p:cNvPr>
          <p:cNvPicPr>
            <a:picLocks noChangeAspect="1"/>
          </p:cNvPicPr>
          <p:nvPr/>
        </p:nvPicPr>
        <p:blipFill>
          <a:blip r:embed="rId1"/>
          <a:stretch>
            <a:fillRect/>
          </a:stretch>
        </p:blipFill>
        <p:spPr>
          <a:xfrm>
            <a:off x="557784" y="1527048"/>
            <a:ext cx="7205472" cy="4303441"/>
          </a:xfrm>
          <a:prstGeom prst="rect">
            <a:avLst/>
          </a:prstGeom>
        </p:spPr>
      </p:pic>
      <p:sp>
        <p:nvSpPr>
          <p:cNvPr id="10" name="cap_670"/>
          <p:cNvSpPr txBox="1"/>
          <p:nvPr/>
        </p:nvSpPr>
        <p:spPr>
          <a:xfrm>
            <a:off x="548640" y="5894497"/>
            <a:ext cx="7223760" cy="310896"/>
          </a:xfrm>
          <a:prstGeom prst="rect">
            <a:avLst/>
          </a:prstGeom>
          <a:noFill/>
          <a:ln/>
        </p:spPr>
        <p:txBody>
          <a:bodyPr wrap="square" lIns="0" tIns="0" rIns="0" bIns="0" rtlCol="0" anchor="ctr"/>
          <a:lstStyle/>
          <a:p>
            <a:pPr algn="ctr" indent="0" marL="0">
              <a:buNone/>
            </a:pPr>
            <a:r>
              <a:rPr lang="en-US" sz="1100" i="1" dirty="0">
                <a:solidFill>
                  <a:schemeClr val="tx2"/>
                </a:solidFill>
              </a:rPr>
              <a:t>Examens et notes</a:t>
            </a:r>
            <a:endParaRPr lang="en-US" sz="1100" dirty="0"/>
          </a:p>
        </p:txBody>
      </p:sp>
      <p:sp>
        <p:nvSpPr>
          <p:cNvPr id="11" name="win_671"/>
          <p:cNvSpPr/>
          <p:nvPr/>
        </p:nvSpPr>
        <p:spPr>
          <a:xfrm>
            <a:off x="8001000" y="1280160"/>
            <a:ext cx="3657600" cy="2430475"/>
          </a:xfrm>
          <a:prstGeom prst="roundRect">
            <a:avLst>
              <a:gd name="adj" fmla="val 3010"/>
            </a:avLst>
          </a:prstGeom>
          <a:solidFill>
            <a:srgbClr val="E6EAF0"/>
          </a:solidFill>
          <a:ln w="9525">
            <a:solidFill>
              <a:srgbClr val="D5DCE5"/>
            </a:solidFill>
            <a:prstDash val="solid"/>
          </a:ln>
          <a:effectLst>
            <a:outerShdw sx="100000" sy="100000" kx="0" ky="0" algn="bl" rotWithShape="0" blurRad="127000" dist="38100" dir="5400000">
              <a:srgbClr val="1B2433">
                <a:alpha val="14000"/>
              </a:srgbClr>
            </a:outerShdw>
          </a:effectLst>
        </p:spPr>
      </p:sp>
      <p:sp>
        <p:nvSpPr>
          <p:cNvPr id="12" name="dot_672"/>
          <p:cNvSpPr/>
          <p:nvPr/>
        </p:nvSpPr>
        <p:spPr>
          <a:xfrm>
            <a:off x="8110728" y="1362456"/>
            <a:ext cx="82296" cy="82296"/>
          </a:xfrm>
          <a:prstGeom prst="ellipse">
            <a:avLst/>
          </a:prstGeom>
          <a:solidFill>
            <a:srgbClr val="FF5F57"/>
          </a:solidFill>
          <a:ln/>
        </p:spPr>
      </p:sp>
      <p:sp>
        <p:nvSpPr>
          <p:cNvPr id="13" name="dot_673"/>
          <p:cNvSpPr/>
          <p:nvPr/>
        </p:nvSpPr>
        <p:spPr>
          <a:xfrm>
            <a:off x="8238744" y="1362456"/>
            <a:ext cx="82296" cy="82296"/>
          </a:xfrm>
          <a:prstGeom prst="ellipse">
            <a:avLst/>
          </a:prstGeom>
          <a:solidFill>
            <a:srgbClr val="FEBC2E"/>
          </a:solidFill>
          <a:ln/>
        </p:spPr>
      </p:sp>
      <p:sp>
        <p:nvSpPr>
          <p:cNvPr id="14" name="dot_674"/>
          <p:cNvSpPr/>
          <p:nvPr/>
        </p:nvSpPr>
        <p:spPr>
          <a:xfrm>
            <a:off x="8366760" y="1362456"/>
            <a:ext cx="82296" cy="82296"/>
          </a:xfrm>
          <a:prstGeom prst="ellipse">
            <a:avLst/>
          </a:prstGeom>
          <a:solidFill>
            <a:srgbClr val="28C840"/>
          </a:solidFill>
          <a:ln/>
        </p:spPr>
      </p:sp>
      <p:sp>
        <p:nvSpPr>
          <p:cNvPr id="15" name="url_675"/>
          <p:cNvSpPr/>
          <p:nvPr/>
        </p:nvSpPr>
        <p:spPr>
          <a:xfrm>
            <a:off x="8549640" y="1325880"/>
            <a:ext cx="1536192" cy="155448"/>
          </a:xfrm>
          <a:prstGeom prst="roundRect">
            <a:avLst>
              <a:gd name="adj" fmla="val 35294"/>
            </a:avLst>
          </a:prstGeom>
          <a:solidFill>
            <a:srgbClr val="FFFFFF"/>
          </a:solidFill>
          <a:ln/>
        </p:spPr>
      </p:sp>
      <p:sp>
        <p:nvSpPr>
          <p:cNvPr id="16" name="urltxt_676"/>
          <p:cNvSpPr txBox="1"/>
          <p:nvPr/>
        </p:nvSpPr>
        <p:spPr>
          <a:xfrm>
            <a:off x="8641080" y="1325880"/>
            <a:ext cx="1444752" cy="155448"/>
          </a:xfrm>
          <a:prstGeom prst="rect">
            <a:avLst/>
          </a:prstGeom>
          <a:noFill/>
          <a:ln/>
        </p:spPr>
        <p:txBody>
          <a:bodyPr wrap="square" lIns="0" tIns="0" rIns="0" bIns="0" rtlCol="0" anchor="ctr"/>
          <a:lstStyle/>
          <a:p>
            <a:pPr indent="0" marL="0">
              <a:buNone/>
            </a:pPr>
            <a:r>
              <a:rPr lang="en-US" sz="700" dirty="0">
                <a:solidFill>
                  <a:srgbClr val="7A8494"/>
                </a:solidFill>
              </a:rPr>
              <a:t>insfp.dz/teacher/modules</a:t>
            </a:r>
            <a:endParaRPr lang="en-US" sz="700" dirty="0"/>
          </a:p>
        </p:txBody>
      </p:sp>
      <p:pic>
        <p:nvPicPr>
          <p:cNvPr id="17" name="shot_677" descr="capture">    </p:cNvPr>
          <p:cNvPicPr>
            <a:picLocks noChangeAspect="1"/>
          </p:cNvPicPr>
          <p:nvPr/>
        </p:nvPicPr>
        <p:blipFill>
          <a:blip r:embed="rId2"/>
          <a:stretch>
            <a:fillRect/>
          </a:stretch>
        </p:blipFill>
        <p:spPr>
          <a:xfrm>
            <a:off x="8010144" y="1527048"/>
            <a:ext cx="3639312" cy="2174443"/>
          </a:xfrm>
          <a:prstGeom prst="rect">
            <a:avLst/>
          </a:prstGeom>
        </p:spPr>
      </p:pic>
      <p:sp>
        <p:nvSpPr>
          <p:cNvPr id="18" name="chip_678"/>
          <p:cNvSpPr/>
          <p:nvPr/>
        </p:nvSpPr>
        <p:spPr>
          <a:xfrm>
            <a:off x="8110728" y="3291840"/>
            <a:ext cx="1426464" cy="292608"/>
          </a:xfrm>
          <a:prstGeom prst="roundRect">
            <a:avLst>
              <a:gd name="adj" fmla="val 50000"/>
            </a:avLst>
          </a:prstGeom>
          <a:solidFill>
            <a:srgbClr val="0A2F5C">
              <a:alpha val="92000"/>
            </a:srgbClr>
          </a:solidFill>
          <a:ln/>
        </p:spPr>
      </p:sp>
      <p:sp>
        <p:nvSpPr>
          <p:cNvPr id="19" name="chiptxt_679"/>
          <p:cNvSpPr txBox="1"/>
          <p:nvPr/>
        </p:nvSpPr>
        <p:spPr>
          <a:xfrm>
            <a:off x="8110728" y="3291840"/>
            <a:ext cx="1426464" cy="292608"/>
          </a:xfrm>
          <a:prstGeom prst="rect">
            <a:avLst/>
          </a:prstGeom>
          <a:noFill/>
          <a:ln/>
        </p:spPr>
        <p:txBody>
          <a:bodyPr wrap="square" lIns="0" tIns="0" rIns="0" bIns="0" rtlCol="0" anchor="ctr"/>
          <a:lstStyle/>
          <a:p>
            <a:pPr algn="ctr" indent="0" marL="0">
              <a:buNone/>
            </a:pPr>
            <a:r>
              <a:rPr lang="en-US" sz="1050" b="1" dirty="0">
                <a:solidFill>
                  <a:srgbClr val="FFFFFF"/>
                </a:solidFill>
              </a:rPr>
              <a:t>Modules affectés</a:t>
            </a:r>
            <a:endParaRPr lang="en-US" sz="1050" dirty="0"/>
          </a:p>
        </p:txBody>
      </p:sp>
      <p:sp>
        <p:nvSpPr>
          <p:cNvPr id="20" name="win_680"/>
          <p:cNvSpPr/>
          <p:nvPr/>
        </p:nvSpPr>
        <p:spPr>
          <a:xfrm>
            <a:off x="8001000" y="3886200"/>
            <a:ext cx="3657600" cy="2430475"/>
          </a:xfrm>
          <a:prstGeom prst="roundRect">
            <a:avLst>
              <a:gd name="adj" fmla="val 3010"/>
            </a:avLst>
          </a:prstGeom>
          <a:solidFill>
            <a:srgbClr val="E6EAF0"/>
          </a:solidFill>
          <a:ln w="9525">
            <a:solidFill>
              <a:srgbClr val="D5DCE5"/>
            </a:solidFill>
            <a:prstDash val="solid"/>
          </a:ln>
          <a:effectLst>
            <a:outerShdw sx="100000" sy="100000" kx="0" ky="0" algn="bl" rotWithShape="0" blurRad="127000" dist="38100" dir="5400000">
              <a:srgbClr val="1B2433">
                <a:alpha val="14000"/>
              </a:srgbClr>
            </a:outerShdw>
          </a:effectLst>
        </p:spPr>
      </p:sp>
      <p:sp>
        <p:nvSpPr>
          <p:cNvPr id="21" name="dot_681"/>
          <p:cNvSpPr/>
          <p:nvPr/>
        </p:nvSpPr>
        <p:spPr>
          <a:xfrm>
            <a:off x="8110728" y="3968496"/>
            <a:ext cx="82296" cy="82296"/>
          </a:xfrm>
          <a:prstGeom prst="ellipse">
            <a:avLst/>
          </a:prstGeom>
          <a:solidFill>
            <a:srgbClr val="FF5F57"/>
          </a:solidFill>
          <a:ln/>
        </p:spPr>
      </p:sp>
      <p:sp>
        <p:nvSpPr>
          <p:cNvPr id="22" name="dot_682"/>
          <p:cNvSpPr/>
          <p:nvPr/>
        </p:nvSpPr>
        <p:spPr>
          <a:xfrm>
            <a:off x="8238744" y="3968496"/>
            <a:ext cx="82296" cy="82296"/>
          </a:xfrm>
          <a:prstGeom prst="ellipse">
            <a:avLst/>
          </a:prstGeom>
          <a:solidFill>
            <a:srgbClr val="FEBC2E"/>
          </a:solidFill>
          <a:ln/>
        </p:spPr>
      </p:sp>
      <p:sp>
        <p:nvSpPr>
          <p:cNvPr id="23" name="dot_683"/>
          <p:cNvSpPr/>
          <p:nvPr/>
        </p:nvSpPr>
        <p:spPr>
          <a:xfrm>
            <a:off x="8366760" y="3968496"/>
            <a:ext cx="82296" cy="82296"/>
          </a:xfrm>
          <a:prstGeom prst="ellipse">
            <a:avLst/>
          </a:prstGeom>
          <a:solidFill>
            <a:srgbClr val="28C840"/>
          </a:solidFill>
          <a:ln/>
        </p:spPr>
      </p:sp>
      <p:sp>
        <p:nvSpPr>
          <p:cNvPr id="24" name="url_684"/>
          <p:cNvSpPr/>
          <p:nvPr/>
        </p:nvSpPr>
        <p:spPr>
          <a:xfrm>
            <a:off x="8549640" y="3931920"/>
            <a:ext cx="1536192" cy="155448"/>
          </a:xfrm>
          <a:prstGeom prst="roundRect">
            <a:avLst>
              <a:gd name="adj" fmla="val 35294"/>
            </a:avLst>
          </a:prstGeom>
          <a:solidFill>
            <a:srgbClr val="FFFFFF"/>
          </a:solidFill>
          <a:ln/>
        </p:spPr>
      </p:sp>
      <p:sp>
        <p:nvSpPr>
          <p:cNvPr id="25" name="urltxt_685"/>
          <p:cNvSpPr txBox="1"/>
          <p:nvPr/>
        </p:nvSpPr>
        <p:spPr>
          <a:xfrm>
            <a:off x="8641080" y="3931920"/>
            <a:ext cx="1444752" cy="155448"/>
          </a:xfrm>
          <a:prstGeom prst="rect">
            <a:avLst/>
          </a:prstGeom>
          <a:noFill/>
          <a:ln/>
        </p:spPr>
        <p:txBody>
          <a:bodyPr wrap="square" lIns="0" tIns="0" rIns="0" bIns="0" rtlCol="0" anchor="ctr"/>
          <a:lstStyle/>
          <a:p>
            <a:pPr indent="0" marL="0">
              <a:buNone/>
            </a:pPr>
            <a:r>
              <a:rPr lang="en-US" sz="700" dirty="0">
                <a:solidFill>
                  <a:srgbClr val="7A8494"/>
                </a:solidFill>
              </a:rPr>
              <a:t>insfp.dz/teacher/schedule</a:t>
            </a:r>
            <a:endParaRPr lang="en-US" sz="700" dirty="0"/>
          </a:p>
        </p:txBody>
      </p:sp>
      <p:pic>
        <p:nvPicPr>
          <p:cNvPr id="26" name="shot_686" descr="capture">    </p:cNvPr>
          <p:cNvPicPr>
            <a:picLocks noChangeAspect="1"/>
          </p:cNvPicPr>
          <p:nvPr/>
        </p:nvPicPr>
        <p:blipFill>
          <a:blip r:embed="rId3"/>
          <a:stretch>
            <a:fillRect/>
          </a:stretch>
        </p:blipFill>
        <p:spPr>
          <a:xfrm>
            <a:off x="8010144" y="4133088"/>
            <a:ext cx="3639312" cy="2174443"/>
          </a:xfrm>
          <a:prstGeom prst="rect">
            <a:avLst/>
          </a:prstGeom>
        </p:spPr>
      </p:pic>
      <p:sp>
        <p:nvSpPr>
          <p:cNvPr id="27" name="chip_687"/>
          <p:cNvSpPr/>
          <p:nvPr/>
        </p:nvSpPr>
        <p:spPr>
          <a:xfrm>
            <a:off x="8110728" y="5897880"/>
            <a:ext cx="1348740" cy="292608"/>
          </a:xfrm>
          <a:prstGeom prst="roundRect">
            <a:avLst>
              <a:gd name="adj" fmla="val 50000"/>
            </a:avLst>
          </a:prstGeom>
          <a:solidFill>
            <a:srgbClr val="0A2F5C">
              <a:alpha val="92000"/>
            </a:srgbClr>
          </a:solidFill>
          <a:ln/>
        </p:spPr>
      </p:sp>
      <p:sp>
        <p:nvSpPr>
          <p:cNvPr id="28" name="chiptxt_688"/>
          <p:cNvSpPr txBox="1"/>
          <p:nvPr/>
        </p:nvSpPr>
        <p:spPr>
          <a:xfrm>
            <a:off x="8110728" y="5897880"/>
            <a:ext cx="1348740" cy="292608"/>
          </a:xfrm>
          <a:prstGeom prst="rect">
            <a:avLst/>
          </a:prstGeom>
          <a:noFill/>
          <a:ln/>
        </p:spPr>
        <p:txBody>
          <a:bodyPr wrap="square" lIns="0" tIns="0" rIns="0" bIns="0" rtlCol="0" anchor="ctr"/>
          <a:lstStyle/>
          <a:p>
            <a:pPr algn="ctr" indent="0" marL="0">
              <a:buNone/>
            </a:pPr>
            <a:r>
              <a:rPr lang="en-US" sz="1050" b="1" dirty="0">
                <a:solidFill>
                  <a:srgbClr val="FFFFFF"/>
                </a:solidFill>
              </a:rPr>
              <a:t>Emploi du temps</a:t>
            </a:r>
            <a:endParaRPr lang="en-US" sz="105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Interface : espace stagiaire</a:t>
            </a:r>
            <a:endParaRPr lang="en-US" sz="3000" dirty="0"/>
          </a:p>
        </p:txBody>
      </p:sp>
      <p:sp>
        <p:nvSpPr>
          <p:cNvPr id="3" name="win_689"/>
          <p:cNvSpPr/>
          <p:nvPr/>
        </p:nvSpPr>
        <p:spPr>
          <a:xfrm>
            <a:off x="548640" y="1234440"/>
            <a:ext cx="3703320" cy="2457770"/>
          </a:xfrm>
          <a:prstGeom prst="roundRect">
            <a:avLst>
              <a:gd name="adj" fmla="val 2976"/>
            </a:avLst>
          </a:prstGeom>
          <a:solidFill>
            <a:srgbClr val="E6EAF0"/>
          </a:solidFill>
          <a:ln w="9525">
            <a:solidFill>
              <a:srgbClr val="D5DCE5"/>
            </a:solidFill>
            <a:prstDash val="solid"/>
          </a:ln>
          <a:effectLst>
            <a:outerShdw sx="100000" sy="100000" kx="0" ky="0" algn="bl" rotWithShape="0" blurRad="127000" dist="38100" dir="5400000">
              <a:srgbClr val="1B2433">
                <a:alpha val="14000"/>
              </a:srgbClr>
            </a:outerShdw>
          </a:effectLst>
        </p:spPr>
      </p:sp>
      <p:sp>
        <p:nvSpPr>
          <p:cNvPr id="4" name="dot_690"/>
          <p:cNvSpPr/>
          <p:nvPr/>
        </p:nvSpPr>
        <p:spPr>
          <a:xfrm>
            <a:off x="658368" y="1316736"/>
            <a:ext cx="82296" cy="82296"/>
          </a:xfrm>
          <a:prstGeom prst="ellipse">
            <a:avLst/>
          </a:prstGeom>
          <a:solidFill>
            <a:srgbClr val="FF5F57"/>
          </a:solidFill>
          <a:ln/>
        </p:spPr>
      </p:sp>
      <p:sp>
        <p:nvSpPr>
          <p:cNvPr id="5" name="dot_691"/>
          <p:cNvSpPr/>
          <p:nvPr/>
        </p:nvSpPr>
        <p:spPr>
          <a:xfrm>
            <a:off x="786384" y="1316736"/>
            <a:ext cx="82296" cy="82296"/>
          </a:xfrm>
          <a:prstGeom prst="ellipse">
            <a:avLst/>
          </a:prstGeom>
          <a:solidFill>
            <a:srgbClr val="FEBC2E"/>
          </a:solidFill>
          <a:ln/>
        </p:spPr>
      </p:sp>
      <p:sp>
        <p:nvSpPr>
          <p:cNvPr id="6" name="dot_692"/>
          <p:cNvSpPr/>
          <p:nvPr/>
        </p:nvSpPr>
        <p:spPr>
          <a:xfrm>
            <a:off x="914400" y="1316736"/>
            <a:ext cx="82296" cy="82296"/>
          </a:xfrm>
          <a:prstGeom prst="ellipse">
            <a:avLst/>
          </a:prstGeom>
          <a:solidFill>
            <a:srgbClr val="28C840"/>
          </a:solidFill>
          <a:ln/>
        </p:spPr>
      </p:sp>
      <p:sp>
        <p:nvSpPr>
          <p:cNvPr id="7" name="url_693"/>
          <p:cNvSpPr/>
          <p:nvPr/>
        </p:nvSpPr>
        <p:spPr>
          <a:xfrm>
            <a:off x="1097280" y="1280160"/>
            <a:ext cx="1555394" cy="155448"/>
          </a:xfrm>
          <a:prstGeom prst="roundRect">
            <a:avLst>
              <a:gd name="adj" fmla="val 35294"/>
            </a:avLst>
          </a:prstGeom>
          <a:solidFill>
            <a:srgbClr val="FFFFFF"/>
          </a:solidFill>
          <a:ln/>
        </p:spPr>
      </p:sp>
      <p:sp>
        <p:nvSpPr>
          <p:cNvPr id="8" name="urltxt_694"/>
          <p:cNvSpPr txBox="1"/>
          <p:nvPr/>
        </p:nvSpPr>
        <p:spPr>
          <a:xfrm>
            <a:off x="1188720" y="1280160"/>
            <a:ext cx="1463954" cy="155448"/>
          </a:xfrm>
          <a:prstGeom prst="rect">
            <a:avLst/>
          </a:prstGeom>
          <a:noFill/>
          <a:ln/>
        </p:spPr>
        <p:txBody>
          <a:bodyPr wrap="square" lIns="0" tIns="0" rIns="0" bIns="0" rtlCol="0" anchor="ctr"/>
          <a:lstStyle/>
          <a:p>
            <a:pPr indent="0" marL="0">
              <a:buNone/>
            </a:pPr>
            <a:r>
              <a:rPr lang="en-US" sz="700" dirty="0">
                <a:solidFill>
                  <a:srgbClr val="7A8494"/>
                </a:solidFill>
              </a:rPr>
              <a:t>insfp.dz/student/dashboard</a:t>
            </a:r>
            <a:endParaRPr lang="en-US" sz="700" dirty="0"/>
          </a:p>
        </p:txBody>
      </p:sp>
      <p:pic>
        <p:nvPicPr>
          <p:cNvPr id="9" name="shot_695" descr="capture">    </p:cNvPr>
          <p:cNvPicPr>
            <a:picLocks noChangeAspect="1"/>
          </p:cNvPicPr>
          <p:nvPr/>
        </p:nvPicPr>
        <p:blipFill>
          <a:blip r:embed="rId1"/>
          <a:stretch>
            <a:fillRect/>
          </a:stretch>
        </p:blipFill>
        <p:spPr>
          <a:xfrm>
            <a:off x="557784" y="1481328"/>
            <a:ext cx="3685032" cy="2201738"/>
          </a:xfrm>
          <a:prstGeom prst="rect">
            <a:avLst/>
          </a:prstGeom>
        </p:spPr>
      </p:pic>
      <p:sp>
        <p:nvSpPr>
          <p:cNvPr id="10" name="chip_696"/>
          <p:cNvSpPr/>
          <p:nvPr/>
        </p:nvSpPr>
        <p:spPr>
          <a:xfrm>
            <a:off x="658368" y="3291840"/>
            <a:ext cx="1348740" cy="292608"/>
          </a:xfrm>
          <a:prstGeom prst="roundRect">
            <a:avLst>
              <a:gd name="adj" fmla="val 50000"/>
            </a:avLst>
          </a:prstGeom>
          <a:solidFill>
            <a:srgbClr val="0A2F5C">
              <a:alpha val="92000"/>
            </a:srgbClr>
          </a:solidFill>
          <a:ln/>
        </p:spPr>
      </p:sp>
      <p:sp>
        <p:nvSpPr>
          <p:cNvPr id="11" name="chiptxt_697"/>
          <p:cNvSpPr txBox="1"/>
          <p:nvPr/>
        </p:nvSpPr>
        <p:spPr>
          <a:xfrm>
            <a:off x="658368" y="3291840"/>
            <a:ext cx="1348740" cy="292608"/>
          </a:xfrm>
          <a:prstGeom prst="rect">
            <a:avLst/>
          </a:prstGeom>
          <a:noFill/>
          <a:ln/>
        </p:spPr>
        <p:txBody>
          <a:bodyPr wrap="square" lIns="0" tIns="0" rIns="0" bIns="0" rtlCol="0" anchor="ctr"/>
          <a:lstStyle/>
          <a:p>
            <a:pPr algn="ctr" indent="0" marL="0">
              <a:buNone/>
            </a:pPr>
            <a:r>
              <a:rPr lang="en-US" sz="1050" b="1" dirty="0">
                <a:solidFill>
                  <a:srgbClr val="FFFFFF"/>
                </a:solidFill>
              </a:rPr>
              <a:t>Tableau de bord</a:t>
            </a:r>
            <a:endParaRPr lang="en-US" sz="1050" dirty="0"/>
          </a:p>
        </p:txBody>
      </p:sp>
      <p:sp>
        <p:nvSpPr>
          <p:cNvPr id="12" name="win_698"/>
          <p:cNvSpPr/>
          <p:nvPr/>
        </p:nvSpPr>
        <p:spPr>
          <a:xfrm>
            <a:off x="4434840" y="1234440"/>
            <a:ext cx="3703320" cy="2457770"/>
          </a:xfrm>
          <a:prstGeom prst="roundRect">
            <a:avLst>
              <a:gd name="adj" fmla="val 2976"/>
            </a:avLst>
          </a:prstGeom>
          <a:solidFill>
            <a:srgbClr val="E6EAF0"/>
          </a:solidFill>
          <a:ln w="9525">
            <a:solidFill>
              <a:srgbClr val="D5DCE5"/>
            </a:solidFill>
            <a:prstDash val="solid"/>
          </a:ln>
          <a:effectLst>
            <a:outerShdw sx="100000" sy="100000" kx="0" ky="0" algn="bl" rotWithShape="0" blurRad="127000" dist="38100" dir="5400000">
              <a:srgbClr val="1B2433">
                <a:alpha val="14000"/>
              </a:srgbClr>
            </a:outerShdw>
          </a:effectLst>
        </p:spPr>
      </p:sp>
      <p:sp>
        <p:nvSpPr>
          <p:cNvPr id="13" name="dot_699"/>
          <p:cNvSpPr/>
          <p:nvPr/>
        </p:nvSpPr>
        <p:spPr>
          <a:xfrm>
            <a:off x="4544568" y="1316736"/>
            <a:ext cx="82296" cy="82296"/>
          </a:xfrm>
          <a:prstGeom prst="ellipse">
            <a:avLst/>
          </a:prstGeom>
          <a:solidFill>
            <a:srgbClr val="FF5F57"/>
          </a:solidFill>
          <a:ln/>
        </p:spPr>
      </p:sp>
      <p:sp>
        <p:nvSpPr>
          <p:cNvPr id="14" name="dot_700"/>
          <p:cNvSpPr/>
          <p:nvPr/>
        </p:nvSpPr>
        <p:spPr>
          <a:xfrm>
            <a:off x="4672584" y="1316736"/>
            <a:ext cx="82296" cy="82296"/>
          </a:xfrm>
          <a:prstGeom prst="ellipse">
            <a:avLst/>
          </a:prstGeom>
          <a:solidFill>
            <a:srgbClr val="FEBC2E"/>
          </a:solidFill>
          <a:ln/>
        </p:spPr>
      </p:sp>
      <p:sp>
        <p:nvSpPr>
          <p:cNvPr id="15" name="dot_701"/>
          <p:cNvSpPr/>
          <p:nvPr/>
        </p:nvSpPr>
        <p:spPr>
          <a:xfrm>
            <a:off x="4800600" y="1316736"/>
            <a:ext cx="82296" cy="82296"/>
          </a:xfrm>
          <a:prstGeom prst="ellipse">
            <a:avLst/>
          </a:prstGeom>
          <a:solidFill>
            <a:srgbClr val="28C840"/>
          </a:solidFill>
          <a:ln/>
        </p:spPr>
      </p:sp>
      <p:sp>
        <p:nvSpPr>
          <p:cNvPr id="16" name="url_702"/>
          <p:cNvSpPr/>
          <p:nvPr/>
        </p:nvSpPr>
        <p:spPr>
          <a:xfrm>
            <a:off x="4983480" y="1280160"/>
            <a:ext cx="1555394" cy="155448"/>
          </a:xfrm>
          <a:prstGeom prst="roundRect">
            <a:avLst>
              <a:gd name="adj" fmla="val 35294"/>
            </a:avLst>
          </a:prstGeom>
          <a:solidFill>
            <a:srgbClr val="FFFFFF"/>
          </a:solidFill>
          <a:ln/>
        </p:spPr>
      </p:sp>
      <p:sp>
        <p:nvSpPr>
          <p:cNvPr id="17" name="urltxt_703"/>
          <p:cNvSpPr txBox="1"/>
          <p:nvPr/>
        </p:nvSpPr>
        <p:spPr>
          <a:xfrm>
            <a:off x="5074920" y="1280160"/>
            <a:ext cx="1463954" cy="155448"/>
          </a:xfrm>
          <a:prstGeom prst="rect">
            <a:avLst/>
          </a:prstGeom>
          <a:noFill/>
          <a:ln/>
        </p:spPr>
        <p:txBody>
          <a:bodyPr wrap="square" lIns="0" tIns="0" rIns="0" bIns="0" rtlCol="0" anchor="ctr"/>
          <a:lstStyle/>
          <a:p>
            <a:pPr indent="0" marL="0">
              <a:buNone/>
            </a:pPr>
            <a:r>
              <a:rPr lang="en-US" sz="700" dirty="0">
                <a:solidFill>
                  <a:srgbClr val="7A8494"/>
                </a:solidFill>
              </a:rPr>
              <a:t>insfp.dz/student/schedule</a:t>
            </a:r>
            <a:endParaRPr lang="en-US" sz="700" dirty="0"/>
          </a:p>
        </p:txBody>
      </p:sp>
      <p:pic>
        <p:nvPicPr>
          <p:cNvPr id="18" name="shot_704" descr="capture">    </p:cNvPr>
          <p:cNvPicPr>
            <a:picLocks noChangeAspect="1"/>
          </p:cNvPicPr>
          <p:nvPr/>
        </p:nvPicPr>
        <p:blipFill>
          <a:blip r:embed="rId2"/>
          <a:stretch>
            <a:fillRect/>
          </a:stretch>
        </p:blipFill>
        <p:spPr>
          <a:xfrm>
            <a:off x="4443984" y="1481328"/>
            <a:ext cx="3685032" cy="2201738"/>
          </a:xfrm>
          <a:prstGeom prst="rect">
            <a:avLst/>
          </a:prstGeom>
        </p:spPr>
      </p:pic>
      <p:sp>
        <p:nvSpPr>
          <p:cNvPr id="19" name="chip_705"/>
          <p:cNvSpPr/>
          <p:nvPr/>
        </p:nvSpPr>
        <p:spPr>
          <a:xfrm>
            <a:off x="4544568" y="3291840"/>
            <a:ext cx="1348740" cy="292608"/>
          </a:xfrm>
          <a:prstGeom prst="roundRect">
            <a:avLst>
              <a:gd name="adj" fmla="val 50000"/>
            </a:avLst>
          </a:prstGeom>
          <a:solidFill>
            <a:srgbClr val="0A2F5C">
              <a:alpha val="92000"/>
            </a:srgbClr>
          </a:solidFill>
          <a:ln/>
        </p:spPr>
      </p:sp>
      <p:sp>
        <p:nvSpPr>
          <p:cNvPr id="20" name="chiptxt_706"/>
          <p:cNvSpPr txBox="1"/>
          <p:nvPr/>
        </p:nvSpPr>
        <p:spPr>
          <a:xfrm>
            <a:off x="4544568" y="3291840"/>
            <a:ext cx="1348740" cy="292608"/>
          </a:xfrm>
          <a:prstGeom prst="rect">
            <a:avLst/>
          </a:prstGeom>
          <a:noFill/>
          <a:ln/>
        </p:spPr>
        <p:txBody>
          <a:bodyPr wrap="square" lIns="0" tIns="0" rIns="0" bIns="0" rtlCol="0" anchor="ctr"/>
          <a:lstStyle/>
          <a:p>
            <a:pPr algn="ctr" indent="0" marL="0">
              <a:buNone/>
            </a:pPr>
            <a:r>
              <a:rPr lang="en-US" sz="1050" b="1" dirty="0">
                <a:solidFill>
                  <a:srgbClr val="FFFFFF"/>
                </a:solidFill>
              </a:rPr>
              <a:t>Emploi du temps</a:t>
            </a:r>
            <a:endParaRPr lang="en-US" sz="1050" dirty="0"/>
          </a:p>
        </p:txBody>
      </p:sp>
      <p:sp>
        <p:nvSpPr>
          <p:cNvPr id="21" name="win_707"/>
          <p:cNvSpPr/>
          <p:nvPr/>
        </p:nvSpPr>
        <p:spPr>
          <a:xfrm>
            <a:off x="548640" y="3840480"/>
            <a:ext cx="3703320" cy="2457770"/>
          </a:xfrm>
          <a:prstGeom prst="roundRect">
            <a:avLst>
              <a:gd name="adj" fmla="val 2976"/>
            </a:avLst>
          </a:prstGeom>
          <a:solidFill>
            <a:srgbClr val="E6EAF0"/>
          </a:solidFill>
          <a:ln w="9525">
            <a:solidFill>
              <a:srgbClr val="D5DCE5"/>
            </a:solidFill>
            <a:prstDash val="solid"/>
          </a:ln>
          <a:effectLst>
            <a:outerShdw sx="100000" sy="100000" kx="0" ky="0" algn="bl" rotWithShape="0" blurRad="127000" dist="38100" dir="5400000">
              <a:srgbClr val="1B2433">
                <a:alpha val="14000"/>
              </a:srgbClr>
            </a:outerShdw>
          </a:effectLst>
        </p:spPr>
      </p:sp>
      <p:sp>
        <p:nvSpPr>
          <p:cNvPr id="22" name="dot_708"/>
          <p:cNvSpPr/>
          <p:nvPr/>
        </p:nvSpPr>
        <p:spPr>
          <a:xfrm>
            <a:off x="658368" y="3922776"/>
            <a:ext cx="82296" cy="82296"/>
          </a:xfrm>
          <a:prstGeom prst="ellipse">
            <a:avLst/>
          </a:prstGeom>
          <a:solidFill>
            <a:srgbClr val="FF5F57"/>
          </a:solidFill>
          <a:ln/>
        </p:spPr>
      </p:sp>
      <p:sp>
        <p:nvSpPr>
          <p:cNvPr id="23" name="dot_709"/>
          <p:cNvSpPr/>
          <p:nvPr/>
        </p:nvSpPr>
        <p:spPr>
          <a:xfrm>
            <a:off x="786384" y="3922776"/>
            <a:ext cx="82296" cy="82296"/>
          </a:xfrm>
          <a:prstGeom prst="ellipse">
            <a:avLst/>
          </a:prstGeom>
          <a:solidFill>
            <a:srgbClr val="FEBC2E"/>
          </a:solidFill>
          <a:ln/>
        </p:spPr>
      </p:sp>
      <p:sp>
        <p:nvSpPr>
          <p:cNvPr id="24" name="dot_710"/>
          <p:cNvSpPr/>
          <p:nvPr/>
        </p:nvSpPr>
        <p:spPr>
          <a:xfrm>
            <a:off x="914400" y="3922776"/>
            <a:ext cx="82296" cy="82296"/>
          </a:xfrm>
          <a:prstGeom prst="ellipse">
            <a:avLst/>
          </a:prstGeom>
          <a:solidFill>
            <a:srgbClr val="28C840"/>
          </a:solidFill>
          <a:ln/>
        </p:spPr>
      </p:sp>
      <p:sp>
        <p:nvSpPr>
          <p:cNvPr id="25" name="url_711"/>
          <p:cNvSpPr/>
          <p:nvPr/>
        </p:nvSpPr>
        <p:spPr>
          <a:xfrm>
            <a:off x="1097280" y="3886200"/>
            <a:ext cx="1555394" cy="155448"/>
          </a:xfrm>
          <a:prstGeom prst="roundRect">
            <a:avLst>
              <a:gd name="adj" fmla="val 35294"/>
            </a:avLst>
          </a:prstGeom>
          <a:solidFill>
            <a:srgbClr val="FFFFFF"/>
          </a:solidFill>
          <a:ln/>
        </p:spPr>
      </p:sp>
      <p:sp>
        <p:nvSpPr>
          <p:cNvPr id="26" name="urltxt_712"/>
          <p:cNvSpPr txBox="1"/>
          <p:nvPr/>
        </p:nvSpPr>
        <p:spPr>
          <a:xfrm>
            <a:off x="1188720" y="3886200"/>
            <a:ext cx="1463954" cy="155448"/>
          </a:xfrm>
          <a:prstGeom prst="rect">
            <a:avLst/>
          </a:prstGeom>
          <a:noFill/>
          <a:ln/>
        </p:spPr>
        <p:txBody>
          <a:bodyPr wrap="square" lIns="0" tIns="0" rIns="0" bIns="0" rtlCol="0" anchor="ctr"/>
          <a:lstStyle/>
          <a:p>
            <a:pPr indent="0" marL="0">
              <a:buNone/>
            </a:pPr>
            <a:r>
              <a:rPr lang="en-US" sz="700" dirty="0">
                <a:solidFill>
                  <a:srgbClr val="7A8494"/>
                </a:solidFill>
              </a:rPr>
              <a:t>insfp.dz/student/exams</a:t>
            </a:r>
            <a:endParaRPr lang="en-US" sz="700" dirty="0"/>
          </a:p>
        </p:txBody>
      </p:sp>
      <p:pic>
        <p:nvPicPr>
          <p:cNvPr id="27" name="shot_713" descr="capture">    </p:cNvPr>
          <p:cNvPicPr>
            <a:picLocks noChangeAspect="1"/>
          </p:cNvPicPr>
          <p:nvPr/>
        </p:nvPicPr>
        <p:blipFill>
          <a:blip r:embed="rId3"/>
          <a:stretch>
            <a:fillRect/>
          </a:stretch>
        </p:blipFill>
        <p:spPr>
          <a:xfrm>
            <a:off x="557784" y="4087368"/>
            <a:ext cx="3685032" cy="2201738"/>
          </a:xfrm>
          <a:prstGeom prst="rect">
            <a:avLst/>
          </a:prstGeom>
        </p:spPr>
      </p:pic>
      <p:sp>
        <p:nvSpPr>
          <p:cNvPr id="28" name="chip_714"/>
          <p:cNvSpPr/>
          <p:nvPr/>
        </p:nvSpPr>
        <p:spPr>
          <a:xfrm>
            <a:off x="658368" y="5897880"/>
            <a:ext cx="1815084" cy="292608"/>
          </a:xfrm>
          <a:prstGeom prst="roundRect">
            <a:avLst>
              <a:gd name="adj" fmla="val 50000"/>
            </a:avLst>
          </a:prstGeom>
          <a:solidFill>
            <a:srgbClr val="0A2F5C">
              <a:alpha val="92000"/>
            </a:srgbClr>
          </a:solidFill>
          <a:ln/>
        </p:spPr>
      </p:sp>
      <p:sp>
        <p:nvSpPr>
          <p:cNvPr id="29" name="chiptxt_715"/>
          <p:cNvSpPr txBox="1"/>
          <p:nvPr/>
        </p:nvSpPr>
        <p:spPr>
          <a:xfrm>
            <a:off x="658368" y="5897880"/>
            <a:ext cx="1815084" cy="292608"/>
          </a:xfrm>
          <a:prstGeom prst="rect">
            <a:avLst/>
          </a:prstGeom>
          <a:noFill/>
          <a:ln/>
        </p:spPr>
        <p:txBody>
          <a:bodyPr wrap="square" lIns="0" tIns="0" rIns="0" bIns="0" rtlCol="0" anchor="ctr"/>
          <a:lstStyle/>
          <a:p>
            <a:pPr algn="ctr" indent="0" marL="0">
              <a:buNone/>
            </a:pPr>
            <a:r>
              <a:rPr lang="en-US" sz="1050" b="1" dirty="0">
                <a:solidFill>
                  <a:srgbClr val="FFFFFF"/>
                </a:solidFill>
              </a:rPr>
              <a:t>Résultats des examens</a:t>
            </a:r>
            <a:endParaRPr lang="en-US" sz="1050" dirty="0"/>
          </a:p>
        </p:txBody>
      </p:sp>
      <p:sp>
        <p:nvSpPr>
          <p:cNvPr id="30" name="win_716"/>
          <p:cNvSpPr/>
          <p:nvPr/>
        </p:nvSpPr>
        <p:spPr>
          <a:xfrm>
            <a:off x="4434840" y="3840480"/>
            <a:ext cx="3703320" cy="2457770"/>
          </a:xfrm>
          <a:prstGeom prst="roundRect">
            <a:avLst>
              <a:gd name="adj" fmla="val 2976"/>
            </a:avLst>
          </a:prstGeom>
          <a:solidFill>
            <a:srgbClr val="E6EAF0"/>
          </a:solidFill>
          <a:ln w="9525">
            <a:solidFill>
              <a:srgbClr val="D5DCE5"/>
            </a:solidFill>
            <a:prstDash val="solid"/>
          </a:ln>
          <a:effectLst>
            <a:outerShdw sx="100000" sy="100000" kx="0" ky="0" algn="bl" rotWithShape="0" blurRad="127000" dist="38100" dir="5400000">
              <a:srgbClr val="1B2433">
                <a:alpha val="14000"/>
              </a:srgbClr>
            </a:outerShdw>
          </a:effectLst>
        </p:spPr>
      </p:sp>
      <p:sp>
        <p:nvSpPr>
          <p:cNvPr id="31" name="dot_717"/>
          <p:cNvSpPr/>
          <p:nvPr/>
        </p:nvSpPr>
        <p:spPr>
          <a:xfrm>
            <a:off x="4544568" y="3922776"/>
            <a:ext cx="82296" cy="82296"/>
          </a:xfrm>
          <a:prstGeom prst="ellipse">
            <a:avLst/>
          </a:prstGeom>
          <a:solidFill>
            <a:srgbClr val="FF5F57"/>
          </a:solidFill>
          <a:ln/>
        </p:spPr>
      </p:sp>
      <p:sp>
        <p:nvSpPr>
          <p:cNvPr id="32" name="dot_718"/>
          <p:cNvSpPr/>
          <p:nvPr/>
        </p:nvSpPr>
        <p:spPr>
          <a:xfrm>
            <a:off x="4672584" y="3922776"/>
            <a:ext cx="82296" cy="82296"/>
          </a:xfrm>
          <a:prstGeom prst="ellipse">
            <a:avLst/>
          </a:prstGeom>
          <a:solidFill>
            <a:srgbClr val="FEBC2E"/>
          </a:solidFill>
          <a:ln/>
        </p:spPr>
      </p:sp>
      <p:sp>
        <p:nvSpPr>
          <p:cNvPr id="33" name="dot_719"/>
          <p:cNvSpPr/>
          <p:nvPr/>
        </p:nvSpPr>
        <p:spPr>
          <a:xfrm>
            <a:off x="4800600" y="3922776"/>
            <a:ext cx="82296" cy="82296"/>
          </a:xfrm>
          <a:prstGeom prst="ellipse">
            <a:avLst/>
          </a:prstGeom>
          <a:solidFill>
            <a:srgbClr val="28C840"/>
          </a:solidFill>
          <a:ln/>
        </p:spPr>
      </p:sp>
      <p:sp>
        <p:nvSpPr>
          <p:cNvPr id="34" name="url_720"/>
          <p:cNvSpPr/>
          <p:nvPr/>
        </p:nvSpPr>
        <p:spPr>
          <a:xfrm>
            <a:off x="4983480" y="3886200"/>
            <a:ext cx="1555394" cy="155448"/>
          </a:xfrm>
          <a:prstGeom prst="roundRect">
            <a:avLst>
              <a:gd name="adj" fmla="val 35294"/>
            </a:avLst>
          </a:prstGeom>
          <a:solidFill>
            <a:srgbClr val="FFFFFF"/>
          </a:solidFill>
          <a:ln/>
        </p:spPr>
      </p:sp>
      <p:sp>
        <p:nvSpPr>
          <p:cNvPr id="35" name="urltxt_721"/>
          <p:cNvSpPr txBox="1"/>
          <p:nvPr/>
        </p:nvSpPr>
        <p:spPr>
          <a:xfrm>
            <a:off x="5074920" y="3886200"/>
            <a:ext cx="1463954" cy="155448"/>
          </a:xfrm>
          <a:prstGeom prst="rect">
            <a:avLst/>
          </a:prstGeom>
          <a:noFill/>
          <a:ln/>
        </p:spPr>
        <p:txBody>
          <a:bodyPr wrap="square" lIns="0" tIns="0" rIns="0" bIns="0" rtlCol="0" anchor="ctr"/>
          <a:lstStyle/>
          <a:p>
            <a:pPr indent="0" marL="0">
              <a:buNone/>
            </a:pPr>
            <a:r>
              <a:rPr lang="en-US" sz="700" dirty="0">
                <a:solidFill>
                  <a:srgbClr val="7A8494"/>
                </a:solidFill>
              </a:rPr>
              <a:t>insfp.dz/student/attendance</a:t>
            </a:r>
            <a:endParaRPr lang="en-US" sz="700" dirty="0"/>
          </a:p>
        </p:txBody>
      </p:sp>
      <p:pic>
        <p:nvPicPr>
          <p:cNvPr id="36" name="shot_722" descr="capture">    </p:cNvPr>
          <p:cNvPicPr>
            <a:picLocks noChangeAspect="1"/>
          </p:cNvPicPr>
          <p:nvPr/>
        </p:nvPicPr>
        <p:blipFill>
          <a:blip r:embed="rId4"/>
          <a:stretch>
            <a:fillRect/>
          </a:stretch>
        </p:blipFill>
        <p:spPr>
          <a:xfrm>
            <a:off x="4443984" y="4087368"/>
            <a:ext cx="3685032" cy="2201738"/>
          </a:xfrm>
          <a:prstGeom prst="rect">
            <a:avLst/>
          </a:prstGeom>
        </p:spPr>
      </p:pic>
      <p:sp>
        <p:nvSpPr>
          <p:cNvPr id="37" name="chip_723"/>
          <p:cNvSpPr/>
          <p:nvPr/>
        </p:nvSpPr>
        <p:spPr>
          <a:xfrm>
            <a:off x="4544568" y="5897880"/>
            <a:ext cx="882396" cy="292608"/>
          </a:xfrm>
          <a:prstGeom prst="roundRect">
            <a:avLst>
              <a:gd name="adj" fmla="val 50000"/>
            </a:avLst>
          </a:prstGeom>
          <a:solidFill>
            <a:srgbClr val="0A2F5C">
              <a:alpha val="92000"/>
            </a:srgbClr>
          </a:solidFill>
          <a:ln/>
        </p:spPr>
      </p:sp>
      <p:sp>
        <p:nvSpPr>
          <p:cNvPr id="38" name="chiptxt_724"/>
          <p:cNvSpPr txBox="1"/>
          <p:nvPr/>
        </p:nvSpPr>
        <p:spPr>
          <a:xfrm>
            <a:off x="4544568" y="5897880"/>
            <a:ext cx="882396" cy="292608"/>
          </a:xfrm>
          <a:prstGeom prst="rect">
            <a:avLst/>
          </a:prstGeom>
          <a:noFill/>
          <a:ln/>
        </p:spPr>
        <p:txBody>
          <a:bodyPr wrap="square" lIns="0" tIns="0" rIns="0" bIns="0" rtlCol="0" anchor="ctr"/>
          <a:lstStyle/>
          <a:p>
            <a:pPr algn="ctr" indent="0" marL="0">
              <a:buNone/>
            </a:pPr>
            <a:r>
              <a:rPr lang="en-US" sz="1050" b="1" dirty="0">
                <a:solidFill>
                  <a:srgbClr val="FFFFFF"/>
                </a:solidFill>
              </a:rPr>
              <a:t>Assiduité</a:t>
            </a:r>
            <a:endParaRPr lang="en-US" sz="1050" dirty="0"/>
          </a:p>
        </p:txBody>
      </p:sp>
      <p:sp>
        <p:nvSpPr>
          <p:cNvPr id="39" name="card_725"/>
          <p:cNvSpPr/>
          <p:nvPr/>
        </p:nvSpPr>
        <p:spPr>
          <a:xfrm>
            <a:off x="8458200" y="1234440"/>
            <a:ext cx="3200400" cy="5029200"/>
          </a:xfrm>
          <a:prstGeom prst="roundRect">
            <a:avLst>
              <a:gd name="adj" fmla="val 3429"/>
            </a:avLst>
          </a:prstGeom>
          <a:solidFill>
            <a:schemeClr val="tx2"/>
          </a:solidFill>
          <a:ln/>
          <a:effectLst>
            <a:outerShdw sx="100000" sy="100000" kx="0" ky="0" algn="bl" rotWithShape="0" blurRad="127000" dist="38100" dir="5400000">
              <a:srgbClr val="1B2433">
                <a:alpha val="14000"/>
              </a:srgbClr>
            </a:outerShdw>
          </a:effectLst>
        </p:spPr>
      </p:sp>
      <p:sp>
        <p:nvSpPr>
          <p:cNvPr id="40" name="ic_bg_726"/>
          <p:cNvSpPr/>
          <p:nvPr/>
        </p:nvSpPr>
        <p:spPr>
          <a:xfrm>
            <a:off x="8686800" y="1463040"/>
            <a:ext cx="566928" cy="566928"/>
          </a:xfrm>
          <a:prstGeom prst="ellipse">
            <a:avLst/>
          </a:prstGeom>
          <a:solidFill>
            <a:srgbClr val="03909E"/>
          </a:solidFill>
          <a:ln/>
        </p:spPr>
      </p:sp>
      <p:pic>
        <p:nvPicPr>
          <p:cNvPr id="41" name="ic_727" descr="FaCalendarCheck">    </p:cNvPr>
          <p:cNvPicPr>
            <a:picLocks noChangeAspect="1"/>
          </p:cNvPicPr>
          <p:nvPr/>
        </p:nvPicPr>
        <p:blipFill>
          <a:blip r:embed="rId5"/>
          <a:stretch>
            <a:fillRect/>
          </a:stretch>
        </p:blipFill>
        <p:spPr>
          <a:xfrm>
            <a:off x="8828532" y="1604772"/>
            <a:ext cx="283464" cy="283464"/>
          </a:xfrm>
          <a:prstGeom prst="rect">
            <a:avLst/>
          </a:prstGeom>
        </p:spPr>
      </p:pic>
      <p:sp>
        <p:nvSpPr>
          <p:cNvPr id="42" name="t_728"/>
          <p:cNvSpPr txBox="1"/>
          <p:nvPr/>
        </p:nvSpPr>
        <p:spPr>
          <a:xfrm>
            <a:off x="8686800" y="2121408"/>
            <a:ext cx="2788920" cy="777240"/>
          </a:xfrm>
          <a:prstGeom prst="rect">
            <a:avLst/>
          </a:prstGeom>
          <a:noFill/>
          <a:ln/>
        </p:spPr>
        <p:txBody>
          <a:bodyPr wrap="square" lIns="0" tIns="0" rIns="0" bIns="0" rtlCol="0" anchor="t"/>
          <a:lstStyle/>
          <a:p>
            <a:pPr indent="0" marL="0">
              <a:buNone/>
            </a:pPr>
            <a:r>
              <a:rPr lang="en-US" sz="1300" dirty="0">
                <a:solidFill>
                  <a:srgbClr val="FFFFFF"/>
                </a:solidFill>
              </a:rPr>
              <a:t>Emploi du temps toujours à jour</a:t>
            </a:r>
            <a:endParaRPr lang="en-US" sz="1300" dirty="0"/>
          </a:p>
        </p:txBody>
      </p:sp>
      <p:sp>
        <p:nvSpPr>
          <p:cNvPr id="43" name="ic_bg_729"/>
          <p:cNvSpPr/>
          <p:nvPr/>
        </p:nvSpPr>
        <p:spPr>
          <a:xfrm>
            <a:off x="8686800" y="3017520"/>
            <a:ext cx="566928" cy="566928"/>
          </a:xfrm>
          <a:prstGeom prst="ellipse">
            <a:avLst/>
          </a:prstGeom>
          <a:solidFill>
            <a:srgbClr val="03909E"/>
          </a:solidFill>
          <a:ln/>
        </p:spPr>
      </p:sp>
      <p:pic>
        <p:nvPicPr>
          <p:cNvPr id="44" name="ic_730" descr="FaStar">    </p:cNvPr>
          <p:cNvPicPr>
            <a:picLocks noChangeAspect="1"/>
          </p:cNvPicPr>
          <p:nvPr/>
        </p:nvPicPr>
        <p:blipFill>
          <a:blip r:embed="rId6"/>
          <a:stretch>
            <a:fillRect/>
          </a:stretch>
        </p:blipFill>
        <p:spPr>
          <a:xfrm>
            <a:off x="8828532" y="3159252"/>
            <a:ext cx="283464" cy="283464"/>
          </a:xfrm>
          <a:prstGeom prst="rect">
            <a:avLst/>
          </a:prstGeom>
        </p:spPr>
      </p:pic>
      <p:sp>
        <p:nvSpPr>
          <p:cNvPr id="45" name="t_731"/>
          <p:cNvSpPr txBox="1"/>
          <p:nvPr/>
        </p:nvSpPr>
        <p:spPr>
          <a:xfrm>
            <a:off x="8686800" y="3675888"/>
            <a:ext cx="2788920" cy="777240"/>
          </a:xfrm>
          <a:prstGeom prst="rect">
            <a:avLst/>
          </a:prstGeom>
          <a:noFill/>
          <a:ln/>
        </p:spPr>
        <p:txBody>
          <a:bodyPr wrap="square" lIns="0" tIns="0" rIns="0" bIns="0" rtlCol="0" anchor="t"/>
          <a:lstStyle/>
          <a:p>
            <a:pPr indent="0" marL="0">
              <a:buNone/>
            </a:pPr>
            <a:r>
              <a:rPr lang="en-US" sz="1300" dirty="0">
                <a:solidFill>
                  <a:srgbClr val="FFFFFF"/>
                </a:solidFill>
              </a:rPr>
              <a:t>Notes et moyennes en ligne</a:t>
            </a:r>
            <a:endParaRPr lang="en-US" sz="1300" dirty="0"/>
          </a:p>
        </p:txBody>
      </p:sp>
      <p:sp>
        <p:nvSpPr>
          <p:cNvPr id="46" name="ic_bg_732"/>
          <p:cNvSpPr/>
          <p:nvPr/>
        </p:nvSpPr>
        <p:spPr>
          <a:xfrm>
            <a:off x="8686800" y="4572000"/>
            <a:ext cx="566928" cy="566928"/>
          </a:xfrm>
          <a:prstGeom prst="ellipse">
            <a:avLst/>
          </a:prstGeom>
          <a:solidFill>
            <a:srgbClr val="03909E"/>
          </a:solidFill>
          <a:ln/>
        </p:spPr>
      </p:sp>
      <p:pic>
        <p:nvPicPr>
          <p:cNvPr id="47" name="ic_733" descr="FaFolderOpen">    </p:cNvPr>
          <p:cNvPicPr>
            <a:picLocks noChangeAspect="1"/>
          </p:cNvPicPr>
          <p:nvPr/>
        </p:nvPicPr>
        <p:blipFill>
          <a:blip r:embed="rId7"/>
          <a:stretch>
            <a:fillRect/>
          </a:stretch>
        </p:blipFill>
        <p:spPr>
          <a:xfrm>
            <a:off x="8828532" y="4713732"/>
            <a:ext cx="283464" cy="283464"/>
          </a:xfrm>
          <a:prstGeom prst="rect">
            <a:avLst/>
          </a:prstGeom>
        </p:spPr>
      </p:pic>
      <p:sp>
        <p:nvSpPr>
          <p:cNvPr id="48" name="t_734"/>
          <p:cNvSpPr txBox="1"/>
          <p:nvPr/>
        </p:nvSpPr>
        <p:spPr>
          <a:xfrm>
            <a:off x="8686800" y="5230368"/>
            <a:ext cx="2788920" cy="777240"/>
          </a:xfrm>
          <a:prstGeom prst="rect">
            <a:avLst/>
          </a:prstGeom>
          <a:noFill/>
          <a:ln/>
        </p:spPr>
        <p:txBody>
          <a:bodyPr wrap="square" lIns="0" tIns="0" rIns="0" bIns="0" rtlCol="0" anchor="t"/>
          <a:lstStyle/>
          <a:p>
            <a:pPr indent="0" marL="0">
              <a:buNone/>
            </a:pPr>
            <a:r>
              <a:rPr lang="en-US" sz="1300" dirty="0">
                <a:solidFill>
                  <a:srgbClr val="FFFFFF"/>
                </a:solidFill>
              </a:rPr>
              <a:t>Documents, devoirs et messagerie</a:t>
            </a:r>
            <a:endParaRPr lang="en-US" sz="13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Contrôle et sécurité : contrôles de saisie</a:t>
            </a:r>
            <a:endParaRPr lang="en-US" sz="3000" dirty="0"/>
          </a:p>
        </p:txBody>
      </p:sp>
      <p:sp>
        <p:nvSpPr>
          <p:cNvPr id="3" name="card_735"/>
          <p:cNvSpPr/>
          <p:nvPr/>
        </p:nvSpPr>
        <p:spPr>
          <a:xfrm>
            <a:off x="548640" y="1280160"/>
            <a:ext cx="3566160" cy="2331720"/>
          </a:xfrm>
          <a:prstGeom prst="roundRect">
            <a:avLst>
              <a:gd name="adj" fmla="val 4706"/>
            </a:avLst>
          </a:prstGeom>
          <a:solidFill>
            <a:schemeClr val="bg1"/>
          </a:solidFill>
          <a:ln/>
          <a:effectLst>
            <a:outerShdw sx="100000" sy="100000" kx="0" ky="0" algn="bl" rotWithShape="0" blurRad="76200" dist="19050" dir="5400000">
              <a:srgbClr val="1B2433">
                <a:alpha val="10000"/>
              </a:srgbClr>
            </a:outerShdw>
          </a:effectLst>
        </p:spPr>
      </p:sp>
      <p:sp>
        <p:nvSpPr>
          <p:cNvPr id="4" name="ic_bg_736"/>
          <p:cNvSpPr/>
          <p:nvPr/>
        </p:nvSpPr>
        <p:spPr>
          <a:xfrm>
            <a:off x="777240" y="1508760"/>
            <a:ext cx="566928" cy="566928"/>
          </a:xfrm>
          <a:prstGeom prst="ellipse">
            <a:avLst/>
          </a:prstGeom>
          <a:solidFill>
            <a:srgbClr val="0A2F5C"/>
          </a:solidFill>
          <a:ln/>
        </p:spPr>
      </p:sp>
      <p:pic>
        <p:nvPicPr>
          <p:cNvPr id="5" name="ic_737" descr="FaHashtag">    </p:cNvPr>
          <p:cNvPicPr>
            <a:picLocks noChangeAspect="1"/>
          </p:cNvPicPr>
          <p:nvPr/>
        </p:nvPicPr>
        <p:blipFill>
          <a:blip r:embed="rId1"/>
          <a:stretch>
            <a:fillRect/>
          </a:stretch>
        </p:blipFill>
        <p:spPr>
          <a:xfrm>
            <a:off x="918972" y="1650492"/>
            <a:ext cx="283464" cy="283464"/>
          </a:xfrm>
          <a:prstGeom prst="rect">
            <a:avLst/>
          </a:prstGeom>
        </p:spPr>
      </p:pic>
      <p:sp>
        <p:nvSpPr>
          <p:cNvPr id="6" name="t_738"/>
          <p:cNvSpPr txBox="1"/>
          <p:nvPr/>
        </p:nvSpPr>
        <p:spPr>
          <a:xfrm>
            <a:off x="1463040" y="1508760"/>
            <a:ext cx="2514600" cy="566928"/>
          </a:xfrm>
          <a:prstGeom prst="rect">
            <a:avLst/>
          </a:prstGeom>
          <a:noFill/>
          <a:ln/>
        </p:spPr>
        <p:txBody>
          <a:bodyPr wrap="square" lIns="0" tIns="0" rIns="0" bIns="0" rtlCol="0" anchor="ctr"/>
          <a:lstStyle/>
          <a:p>
            <a:pPr indent="0" marL="0">
              <a:buNone/>
            </a:pPr>
            <a:r>
              <a:rPr lang="en-US" sz="1600" b="1" dirty="0">
                <a:solidFill>
                  <a:schemeClr val="tx2"/>
                </a:solidFill>
              </a:rPr>
              <a:t>Numéro d'inscription</a:t>
            </a:r>
            <a:endParaRPr lang="en-US" sz="1600" dirty="0"/>
          </a:p>
        </p:txBody>
      </p:sp>
      <p:sp>
        <p:nvSpPr>
          <p:cNvPr id="7" name="t_739"/>
          <p:cNvSpPr txBox="1"/>
          <p:nvPr/>
        </p:nvSpPr>
        <p:spPr>
          <a:xfrm>
            <a:off x="777240" y="2194560"/>
            <a:ext cx="3154680" cy="640080"/>
          </a:xfrm>
          <a:prstGeom prst="rect">
            <a:avLst/>
          </a:prstGeom>
          <a:noFill/>
          <a:ln/>
        </p:spPr>
        <p:txBody>
          <a:bodyPr wrap="square" lIns="0" tIns="0" rIns="0" bIns="0" rtlCol="0" anchor="t"/>
          <a:lstStyle/>
          <a:p>
            <a:pPr indent="0" marL="0">
              <a:buNone/>
            </a:pPr>
            <a:r>
              <a:rPr lang="en-US" sz="1300" dirty="0">
                <a:solidFill>
                  <a:srgbClr val="3F4652"/>
                </a:solidFill>
              </a:rPr>
              <a:t>Doit exister et ne pas être utilisé</a:t>
            </a:r>
            <a:endParaRPr lang="en-US" sz="1300" dirty="0"/>
          </a:p>
        </p:txBody>
      </p:sp>
      <p:sp>
        <p:nvSpPr>
          <p:cNvPr id="8" name="err_740"/>
          <p:cNvSpPr/>
          <p:nvPr/>
        </p:nvSpPr>
        <p:spPr>
          <a:xfrm>
            <a:off x="777240" y="2926080"/>
            <a:ext cx="3108960" cy="438912"/>
          </a:xfrm>
          <a:prstGeom prst="roundRect">
            <a:avLst>
              <a:gd name="adj" fmla="val 20833"/>
            </a:avLst>
          </a:prstGeom>
          <a:solidFill>
            <a:srgbClr val="FCEDED"/>
          </a:solidFill>
          <a:ln/>
        </p:spPr>
      </p:sp>
      <p:pic>
        <p:nvPicPr>
          <p:cNvPr id="9" name="warn_741" descr="preencoded.png">    </p:cNvPr>
          <p:cNvPicPr>
            <a:picLocks noChangeAspect="1"/>
          </p:cNvPicPr>
          <p:nvPr/>
        </p:nvPicPr>
        <p:blipFill>
          <a:blip r:embed="rId2"/>
          <a:stretch>
            <a:fillRect/>
          </a:stretch>
        </p:blipFill>
        <p:spPr>
          <a:xfrm>
            <a:off x="896112" y="3035808"/>
            <a:ext cx="219456" cy="219456"/>
          </a:xfrm>
          <a:prstGeom prst="rect">
            <a:avLst/>
          </a:prstGeom>
        </p:spPr>
      </p:pic>
      <p:sp>
        <p:nvSpPr>
          <p:cNvPr id="10" name="t_742"/>
          <p:cNvSpPr txBox="1"/>
          <p:nvPr/>
        </p:nvSpPr>
        <p:spPr>
          <a:xfrm>
            <a:off x="1207008" y="2926080"/>
            <a:ext cx="2606040" cy="438912"/>
          </a:xfrm>
          <a:prstGeom prst="rect">
            <a:avLst/>
          </a:prstGeom>
          <a:noFill/>
          <a:ln/>
        </p:spPr>
        <p:txBody>
          <a:bodyPr wrap="square" lIns="0" tIns="0" rIns="0" bIns="0" rtlCol="0" anchor="ctr"/>
          <a:lstStyle/>
          <a:p>
            <a:pPr indent="0" marL="0">
              <a:buNone/>
            </a:pPr>
            <a:r>
              <a:rPr lang="en-US" sz="1200" dirty="0">
                <a:solidFill>
                  <a:srgbClr val="C62828"/>
                </a:solidFill>
              </a:rPr>
              <a:t>Numéro invalide ou déjà utilisé</a:t>
            </a:r>
            <a:endParaRPr lang="en-US" sz="1200" dirty="0"/>
          </a:p>
        </p:txBody>
      </p:sp>
      <p:sp>
        <p:nvSpPr>
          <p:cNvPr id="11" name="card_743"/>
          <p:cNvSpPr/>
          <p:nvPr/>
        </p:nvSpPr>
        <p:spPr>
          <a:xfrm>
            <a:off x="4279392" y="1280160"/>
            <a:ext cx="3566160" cy="2331720"/>
          </a:xfrm>
          <a:prstGeom prst="roundRect">
            <a:avLst>
              <a:gd name="adj" fmla="val 4706"/>
            </a:avLst>
          </a:prstGeom>
          <a:solidFill>
            <a:schemeClr val="bg1"/>
          </a:solidFill>
          <a:ln/>
          <a:effectLst>
            <a:outerShdw sx="100000" sy="100000" kx="0" ky="0" algn="bl" rotWithShape="0" blurRad="76200" dist="19050" dir="5400000">
              <a:srgbClr val="1B2433">
                <a:alpha val="10000"/>
              </a:srgbClr>
            </a:outerShdw>
          </a:effectLst>
        </p:spPr>
      </p:sp>
      <p:sp>
        <p:nvSpPr>
          <p:cNvPr id="12" name="ic_bg_744"/>
          <p:cNvSpPr/>
          <p:nvPr/>
        </p:nvSpPr>
        <p:spPr>
          <a:xfrm>
            <a:off x="4507992" y="1508760"/>
            <a:ext cx="566928" cy="566928"/>
          </a:xfrm>
          <a:prstGeom prst="ellipse">
            <a:avLst/>
          </a:prstGeom>
          <a:solidFill>
            <a:srgbClr val="0A2F5C"/>
          </a:solidFill>
          <a:ln/>
        </p:spPr>
      </p:sp>
      <p:pic>
        <p:nvPicPr>
          <p:cNvPr id="13" name="ic_745" descr="FaPhone">    </p:cNvPr>
          <p:cNvPicPr>
            <a:picLocks noChangeAspect="1"/>
          </p:cNvPicPr>
          <p:nvPr/>
        </p:nvPicPr>
        <p:blipFill>
          <a:blip r:embed="rId3"/>
          <a:stretch>
            <a:fillRect/>
          </a:stretch>
        </p:blipFill>
        <p:spPr>
          <a:xfrm>
            <a:off x="4649724" y="1650492"/>
            <a:ext cx="283464" cy="283464"/>
          </a:xfrm>
          <a:prstGeom prst="rect">
            <a:avLst/>
          </a:prstGeom>
        </p:spPr>
      </p:pic>
      <p:sp>
        <p:nvSpPr>
          <p:cNvPr id="14" name="t_746"/>
          <p:cNvSpPr txBox="1"/>
          <p:nvPr/>
        </p:nvSpPr>
        <p:spPr>
          <a:xfrm>
            <a:off x="5193792" y="1508760"/>
            <a:ext cx="2514600" cy="566928"/>
          </a:xfrm>
          <a:prstGeom prst="rect">
            <a:avLst/>
          </a:prstGeom>
          <a:noFill/>
          <a:ln/>
        </p:spPr>
        <p:txBody>
          <a:bodyPr wrap="square" lIns="0" tIns="0" rIns="0" bIns="0" rtlCol="0" anchor="ctr"/>
          <a:lstStyle/>
          <a:p>
            <a:pPr indent="0" marL="0">
              <a:buNone/>
            </a:pPr>
            <a:r>
              <a:rPr lang="en-US" sz="1600" b="1" dirty="0">
                <a:solidFill>
                  <a:schemeClr val="tx2"/>
                </a:solidFill>
              </a:rPr>
              <a:t>Téléphone</a:t>
            </a:r>
            <a:endParaRPr lang="en-US" sz="1600" dirty="0"/>
          </a:p>
        </p:txBody>
      </p:sp>
      <p:sp>
        <p:nvSpPr>
          <p:cNvPr id="15" name="t_747"/>
          <p:cNvSpPr txBox="1"/>
          <p:nvPr/>
        </p:nvSpPr>
        <p:spPr>
          <a:xfrm>
            <a:off x="4507992" y="2194560"/>
            <a:ext cx="3154680" cy="640080"/>
          </a:xfrm>
          <a:prstGeom prst="rect">
            <a:avLst/>
          </a:prstGeom>
          <a:noFill/>
          <a:ln/>
        </p:spPr>
        <p:txBody>
          <a:bodyPr wrap="square" lIns="0" tIns="0" rIns="0" bIns="0" rtlCol="0" anchor="t"/>
          <a:lstStyle/>
          <a:p>
            <a:pPr indent="0" marL="0">
              <a:buNone/>
            </a:pPr>
            <a:r>
              <a:rPr lang="en-US" sz="1300" dirty="0">
                <a:solidFill>
                  <a:srgbClr val="3F4652"/>
                </a:solidFill>
              </a:rPr>
              <a:t>Format 0[5-7] + 8 chiffres, unique</a:t>
            </a:r>
            <a:endParaRPr lang="en-US" sz="1300" dirty="0"/>
          </a:p>
        </p:txBody>
      </p:sp>
      <p:sp>
        <p:nvSpPr>
          <p:cNvPr id="16" name="err_748"/>
          <p:cNvSpPr/>
          <p:nvPr/>
        </p:nvSpPr>
        <p:spPr>
          <a:xfrm>
            <a:off x="4507992" y="2926080"/>
            <a:ext cx="3108960" cy="438912"/>
          </a:xfrm>
          <a:prstGeom prst="roundRect">
            <a:avLst>
              <a:gd name="adj" fmla="val 20833"/>
            </a:avLst>
          </a:prstGeom>
          <a:solidFill>
            <a:srgbClr val="FCEDED"/>
          </a:solidFill>
          <a:ln/>
        </p:spPr>
      </p:sp>
      <p:pic>
        <p:nvPicPr>
          <p:cNvPr id="17" name="warn_749" descr="preencoded.png">    </p:cNvPr>
          <p:cNvPicPr>
            <a:picLocks noChangeAspect="1"/>
          </p:cNvPicPr>
          <p:nvPr/>
        </p:nvPicPr>
        <p:blipFill>
          <a:blip r:embed="rId4"/>
          <a:stretch>
            <a:fillRect/>
          </a:stretch>
        </p:blipFill>
        <p:spPr>
          <a:xfrm>
            <a:off x="4626864" y="3035808"/>
            <a:ext cx="219456" cy="219456"/>
          </a:xfrm>
          <a:prstGeom prst="rect">
            <a:avLst/>
          </a:prstGeom>
        </p:spPr>
      </p:pic>
      <p:sp>
        <p:nvSpPr>
          <p:cNvPr id="18" name="t_750"/>
          <p:cNvSpPr txBox="1"/>
          <p:nvPr/>
        </p:nvSpPr>
        <p:spPr>
          <a:xfrm>
            <a:off x="4937760" y="2926080"/>
            <a:ext cx="2606040" cy="438912"/>
          </a:xfrm>
          <a:prstGeom prst="rect">
            <a:avLst/>
          </a:prstGeom>
          <a:noFill/>
          <a:ln/>
        </p:spPr>
        <p:txBody>
          <a:bodyPr wrap="square" lIns="0" tIns="0" rIns="0" bIns="0" rtlCol="0" anchor="ctr"/>
          <a:lstStyle/>
          <a:p>
            <a:pPr indent="0" marL="0">
              <a:buNone/>
            </a:pPr>
            <a:r>
              <a:rPr lang="en-US" sz="1200" dirty="0">
                <a:solidFill>
                  <a:srgbClr val="C62828"/>
                </a:solidFill>
              </a:rPr>
              <a:t>Format téléphone invalide</a:t>
            </a:r>
            <a:endParaRPr lang="en-US" sz="1200" dirty="0"/>
          </a:p>
        </p:txBody>
      </p:sp>
      <p:sp>
        <p:nvSpPr>
          <p:cNvPr id="19" name="card_751"/>
          <p:cNvSpPr/>
          <p:nvPr/>
        </p:nvSpPr>
        <p:spPr>
          <a:xfrm>
            <a:off x="8010144" y="1280160"/>
            <a:ext cx="3566160" cy="2331720"/>
          </a:xfrm>
          <a:prstGeom prst="roundRect">
            <a:avLst>
              <a:gd name="adj" fmla="val 4706"/>
            </a:avLst>
          </a:prstGeom>
          <a:solidFill>
            <a:schemeClr val="bg1"/>
          </a:solidFill>
          <a:ln/>
          <a:effectLst>
            <a:outerShdw sx="100000" sy="100000" kx="0" ky="0" algn="bl" rotWithShape="0" blurRad="76200" dist="19050" dir="5400000">
              <a:srgbClr val="1B2433">
                <a:alpha val="10000"/>
              </a:srgbClr>
            </a:outerShdw>
          </a:effectLst>
        </p:spPr>
      </p:sp>
      <p:sp>
        <p:nvSpPr>
          <p:cNvPr id="20" name="ic_bg_752"/>
          <p:cNvSpPr/>
          <p:nvPr/>
        </p:nvSpPr>
        <p:spPr>
          <a:xfrm>
            <a:off x="8238744" y="1508760"/>
            <a:ext cx="566928" cy="566928"/>
          </a:xfrm>
          <a:prstGeom prst="ellipse">
            <a:avLst/>
          </a:prstGeom>
          <a:solidFill>
            <a:srgbClr val="0A2F5C"/>
          </a:solidFill>
          <a:ln/>
        </p:spPr>
      </p:sp>
      <p:pic>
        <p:nvPicPr>
          <p:cNvPr id="21" name="ic_753" descr="FaPenToSquare">    </p:cNvPr>
          <p:cNvPicPr>
            <a:picLocks noChangeAspect="1"/>
          </p:cNvPicPr>
          <p:nvPr/>
        </p:nvPicPr>
        <p:blipFill>
          <a:blip r:embed="rId5"/>
          <a:stretch>
            <a:fillRect/>
          </a:stretch>
        </p:blipFill>
        <p:spPr>
          <a:xfrm>
            <a:off x="8380476" y="1650492"/>
            <a:ext cx="283464" cy="283464"/>
          </a:xfrm>
          <a:prstGeom prst="rect">
            <a:avLst/>
          </a:prstGeom>
        </p:spPr>
      </p:pic>
      <p:sp>
        <p:nvSpPr>
          <p:cNvPr id="22" name="t_754"/>
          <p:cNvSpPr txBox="1"/>
          <p:nvPr/>
        </p:nvSpPr>
        <p:spPr>
          <a:xfrm>
            <a:off x="8924544" y="1508760"/>
            <a:ext cx="2514600" cy="566928"/>
          </a:xfrm>
          <a:prstGeom prst="rect">
            <a:avLst/>
          </a:prstGeom>
          <a:noFill/>
          <a:ln/>
        </p:spPr>
        <p:txBody>
          <a:bodyPr wrap="square" lIns="0" tIns="0" rIns="0" bIns="0" rtlCol="0" anchor="ctr"/>
          <a:lstStyle/>
          <a:p>
            <a:pPr indent="0" marL="0">
              <a:buNone/>
            </a:pPr>
            <a:r>
              <a:rPr lang="en-US" sz="1600" b="1" dirty="0">
                <a:solidFill>
                  <a:schemeClr val="tx2"/>
                </a:solidFill>
              </a:rPr>
              <a:t>Note</a:t>
            </a:r>
            <a:endParaRPr lang="en-US" sz="1600" dirty="0"/>
          </a:p>
        </p:txBody>
      </p:sp>
      <p:sp>
        <p:nvSpPr>
          <p:cNvPr id="23" name="t_755"/>
          <p:cNvSpPr txBox="1"/>
          <p:nvPr/>
        </p:nvSpPr>
        <p:spPr>
          <a:xfrm>
            <a:off x="8238744" y="2194560"/>
            <a:ext cx="3154680" cy="640080"/>
          </a:xfrm>
          <a:prstGeom prst="rect">
            <a:avLst/>
          </a:prstGeom>
          <a:noFill/>
          <a:ln/>
        </p:spPr>
        <p:txBody>
          <a:bodyPr wrap="square" lIns="0" tIns="0" rIns="0" bIns="0" rtlCol="0" anchor="t"/>
          <a:lstStyle/>
          <a:p>
            <a:pPr indent="0" marL="0">
              <a:buNone/>
            </a:pPr>
            <a:r>
              <a:rPr lang="en-US" sz="1300" dirty="0">
                <a:solidFill>
                  <a:srgbClr val="3F4652"/>
                </a:solidFill>
              </a:rPr>
              <a:t>Comprise entre 0 et 20</a:t>
            </a:r>
            <a:endParaRPr lang="en-US" sz="1300" dirty="0"/>
          </a:p>
        </p:txBody>
      </p:sp>
      <p:sp>
        <p:nvSpPr>
          <p:cNvPr id="24" name="err_756"/>
          <p:cNvSpPr/>
          <p:nvPr/>
        </p:nvSpPr>
        <p:spPr>
          <a:xfrm>
            <a:off x="8238744" y="2926080"/>
            <a:ext cx="3108960" cy="438912"/>
          </a:xfrm>
          <a:prstGeom prst="roundRect">
            <a:avLst>
              <a:gd name="adj" fmla="val 20833"/>
            </a:avLst>
          </a:prstGeom>
          <a:solidFill>
            <a:srgbClr val="FCEDED"/>
          </a:solidFill>
          <a:ln/>
        </p:spPr>
      </p:sp>
      <p:pic>
        <p:nvPicPr>
          <p:cNvPr id="25" name="warn_757" descr="preencoded.png">    </p:cNvPr>
          <p:cNvPicPr>
            <a:picLocks noChangeAspect="1"/>
          </p:cNvPicPr>
          <p:nvPr/>
        </p:nvPicPr>
        <p:blipFill>
          <a:blip r:embed="rId6"/>
          <a:stretch>
            <a:fillRect/>
          </a:stretch>
        </p:blipFill>
        <p:spPr>
          <a:xfrm>
            <a:off x="8357616" y="3035808"/>
            <a:ext cx="219456" cy="219456"/>
          </a:xfrm>
          <a:prstGeom prst="rect">
            <a:avLst/>
          </a:prstGeom>
        </p:spPr>
      </p:pic>
      <p:sp>
        <p:nvSpPr>
          <p:cNvPr id="26" name="t_758"/>
          <p:cNvSpPr txBox="1"/>
          <p:nvPr/>
        </p:nvSpPr>
        <p:spPr>
          <a:xfrm>
            <a:off x="8668512" y="2926080"/>
            <a:ext cx="2606040" cy="438912"/>
          </a:xfrm>
          <a:prstGeom prst="rect">
            <a:avLst/>
          </a:prstGeom>
          <a:noFill/>
          <a:ln/>
        </p:spPr>
        <p:txBody>
          <a:bodyPr wrap="square" lIns="0" tIns="0" rIns="0" bIns="0" rtlCol="0" anchor="ctr"/>
          <a:lstStyle/>
          <a:p>
            <a:pPr indent="0" marL="0">
              <a:buNone/>
            </a:pPr>
            <a:r>
              <a:rPr lang="en-US" sz="1200" dirty="0">
                <a:solidFill>
                  <a:srgbClr val="C62828"/>
                </a:solidFill>
              </a:rPr>
              <a:t>Note refusée</a:t>
            </a:r>
            <a:endParaRPr lang="en-US" sz="1200" dirty="0"/>
          </a:p>
        </p:txBody>
      </p:sp>
      <p:sp>
        <p:nvSpPr>
          <p:cNvPr id="27" name="card_759"/>
          <p:cNvSpPr/>
          <p:nvPr/>
        </p:nvSpPr>
        <p:spPr>
          <a:xfrm>
            <a:off x="548640" y="3822192"/>
            <a:ext cx="3566160" cy="2331720"/>
          </a:xfrm>
          <a:prstGeom prst="roundRect">
            <a:avLst>
              <a:gd name="adj" fmla="val 4706"/>
            </a:avLst>
          </a:prstGeom>
          <a:solidFill>
            <a:schemeClr val="bg1"/>
          </a:solidFill>
          <a:ln/>
          <a:effectLst>
            <a:outerShdw sx="100000" sy="100000" kx="0" ky="0" algn="bl" rotWithShape="0" blurRad="76200" dist="19050" dir="5400000">
              <a:srgbClr val="1B2433">
                <a:alpha val="10000"/>
              </a:srgbClr>
            </a:outerShdw>
          </a:effectLst>
        </p:spPr>
      </p:sp>
      <p:sp>
        <p:nvSpPr>
          <p:cNvPr id="28" name="ic_bg_760"/>
          <p:cNvSpPr/>
          <p:nvPr/>
        </p:nvSpPr>
        <p:spPr>
          <a:xfrm>
            <a:off x="777240" y="4050792"/>
            <a:ext cx="566928" cy="566928"/>
          </a:xfrm>
          <a:prstGeom prst="ellipse">
            <a:avLst/>
          </a:prstGeom>
          <a:solidFill>
            <a:srgbClr val="0A2F5C"/>
          </a:solidFill>
          <a:ln/>
        </p:spPr>
      </p:sp>
      <p:pic>
        <p:nvPicPr>
          <p:cNvPr id="29" name="ic_761" descr="FaCalendarDays">    </p:cNvPr>
          <p:cNvPicPr>
            <a:picLocks noChangeAspect="1"/>
          </p:cNvPicPr>
          <p:nvPr/>
        </p:nvPicPr>
        <p:blipFill>
          <a:blip r:embed="rId7"/>
          <a:stretch>
            <a:fillRect/>
          </a:stretch>
        </p:blipFill>
        <p:spPr>
          <a:xfrm>
            <a:off x="918972" y="4192524"/>
            <a:ext cx="283464" cy="283464"/>
          </a:xfrm>
          <a:prstGeom prst="rect">
            <a:avLst/>
          </a:prstGeom>
        </p:spPr>
      </p:pic>
      <p:sp>
        <p:nvSpPr>
          <p:cNvPr id="30" name="t_762"/>
          <p:cNvSpPr txBox="1"/>
          <p:nvPr/>
        </p:nvSpPr>
        <p:spPr>
          <a:xfrm>
            <a:off x="1463040" y="4050792"/>
            <a:ext cx="2514600" cy="566928"/>
          </a:xfrm>
          <a:prstGeom prst="rect">
            <a:avLst/>
          </a:prstGeom>
          <a:noFill/>
          <a:ln/>
        </p:spPr>
        <p:txBody>
          <a:bodyPr wrap="square" lIns="0" tIns="0" rIns="0" bIns="0" rtlCol="0" anchor="ctr"/>
          <a:lstStyle/>
          <a:p>
            <a:pPr indent="0" marL="0">
              <a:buNone/>
            </a:pPr>
            <a:r>
              <a:rPr lang="en-US" sz="1600" b="1" dirty="0">
                <a:solidFill>
                  <a:schemeClr val="tx2"/>
                </a:solidFill>
              </a:rPr>
              <a:t>Séance</a:t>
            </a:r>
            <a:endParaRPr lang="en-US" sz="1600" dirty="0"/>
          </a:p>
        </p:txBody>
      </p:sp>
      <p:sp>
        <p:nvSpPr>
          <p:cNvPr id="31" name="t_763"/>
          <p:cNvSpPr txBox="1"/>
          <p:nvPr/>
        </p:nvSpPr>
        <p:spPr>
          <a:xfrm>
            <a:off x="777240" y="4736592"/>
            <a:ext cx="3154680" cy="640080"/>
          </a:xfrm>
          <a:prstGeom prst="rect">
            <a:avLst/>
          </a:prstGeom>
          <a:noFill/>
          <a:ln/>
        </p:spPr>
        <p:txBody>
          <a:bodyPr wrap="square" lIns="0" tIns="0" rIns="0" bIns="0" rtlCol="0" anchor="t"/>
          <a:lstStyle/>
          <a:p>
            <a:pPr indent="0" marL="0">
              <a:buNone/>
            </a:pPr>
            <a:r>
              <a:rPr lang="en-US" sz="1300" dirty="0">
                <a:solidFill>
                  <a:srgbClr val="3F4652"/>
                </a:solidFill>
              </a:rPr>
              <a:t>Fin après début, aucun conflit</a:t>
            </a:r>
            <a:endParaRPr lang="en-US" sz="1300" dirty="0"/>
          </a:p>
        </p:txBody>
      </p:sp>
      <p:sp>
        <p:nvSpPr>
          <p:cNvPr id="32" name="err_764"/>
          <p:cNvSpPr/>
          <p:nvPr/>
        </p:nvSpPr>
        <p:spPr>
          <a:xfrm>
            <a:off x="777240" y="5468112"/>
            <a:ext cx="3108960" cy="438912"/>
          </a:xfrm>
          <a:prstGeom prst="roundRect">
            <a:avLst>
              <a:gd name="adj" fmla="val 20833"/>
            </a:avLst>
          </a:prstGeom>
          <a:solidFill>
            <a:srgbClr val="FCEDED"/>
          </a:solidFill>
          <a:ln/>
        </p:spPr>
      </p:sp>
      <p:pic>
        <p:nvPicPr>
          <p:cNvPr id="33" name="warn_765" descr="preencoded.png">    </p:cNvPr>
          <p:cNvPicPr>
            <a:picLocks noChangeAspect="1"/>
          </p:cNvPicPr>
          <p:nvPr/>
        </p:nvPicPr>
        <p:blipFill>
          <a:blip r:embed="rId8"/>
          <a:stretch>
            <a:fillRect/>
          </a:stretch>
        </p:blipFill>
        <p:spPr>
          <a:xfrm>
            <a:off x="896112" y="5577840"/>
            <a:ext cx="219456" cy="219456"/>
          </a:xfrm>
          <a:prstGeom prst="rect">
            <a:avLst/>
          </a:prstGeom>
        </p:spPr>
      </p:pic>
      <p:sp>
        <p:nvSpPr>
          <p:cNvPr id="34" name="t_766"/>
          <p:cNvSpPr txBox="1"/>
          <p:nvPr/>
        </p:nvSpPr>
        <p:spPr>
          <a:xfrm>
            <a:off x="1207008" y="5468112"/>
            <a:ext cx="2606040" cy="438912"/>
          </a:xfrm>
          <a:prstGeom prst="rect">
            <a:avLst/>
          </a:prstGeom>
          <a:noFill/>
          <a:ln/>
        </p:spPr>
        <p:txBody>
          <a:bodyPr wrap="square" lIns="0" tIns="0" rIns="0" bIns="0" rtlCol="0" anchor="ctr"/>
          <a:lstStyle/>
          <a:p>
            <a:pPr indent="0" marL="0">
              <a:buNone/>
            </a:pPr>
            <a:r>
              <a:rPr lang="en-US" sz="1200" dirty="0">
                <a:solidFill>
                  <a:srgbClr val="C62828"/>
                </a:solidFill>
              </a:rPr>
              <a:t>Conflit enseignant</a:t>
            </a:r>
            <a:endParaRPr lang="en-US" sz="1200" dirty="0"/>
          </a:p>
        </p:txBody>
      </p:sp>
      <p:sp>
        <p:nvSpPr>
          <p:cNvPr id="35" name="card_767"/>
          <p:cNvSpPr/>
          <p:nvPr/>
        </p:nvSpPr>
        <p:spPr>
          <a:xfrm>
            <a:off x="4279392" y="3822192"/>
            <a:ext cx="3566160" cy="2331720"/>
          </a:xfrm>
          <a:prstGeom prst="roundRect">
            <a:avLst>
              <a:gd name="adj" fmla="val 4706"/>
            </a:avLst>
          </a:prstGeom>
          <a:solidFill>
            <a:schemeClr val="bg1"/>
          </a:solidFill>
          <a:ln/>
          <a:effectLst>
            <a:outerShdw sx="100000" sy="100000" kx="0" ky="0" algn="bl" rotWithShape="0" blurRad="76200" dist="19050" dir="5400000">
              <a:srgbClr val="1B2433">
                <a:alpha val="10000"/>
              </a:srgbClr>
            </a:outerShdw>
          </a:effectLst>
        </p:spPr>
      </p:sp>
      <p:sp>
        <p:nvSpPr>
          <p:cNvPr id="36" name="ic_bg_768"/>
          <p:cNvSpPr/>
          <p:nvPr/>
        </p:nvSpPr>
        <p:spPr>
          <a:xfrm>
            <a:off x="4507992" y="4050792"/>
            <a:ext cx="566928" cy="566928"/>
          </a:xfrm>
          <a:prstGeom prst="ellipse">
            <a:avLst/>
          </a:prstGeom>
          <a:solidFill>
            <a:srgbClr val="0A2F5C"/>
          </a:solidFill>
          <a:ln/>
        </p:spPr>
      </p:sp>
      <p:pic>
        <p:nvPicPr>
          <p:cNvPr id="37" name="ic_769" descr="FaRotate">    </p:cNvPr>
          <p:cNvPicPr>
            <a:picLocks noChangeAspect="1"/>
          </p:cNvPicPr>
          <p:nvPr/>
        </p:nvPicPr>
        <p:blipFill>
          <a:blip r:embed="rId9"/>
          <a:stretch>
            <a:fillRect/>
          </a:stretch>
        </p:blipFill>
        <p:spPr>
          <a:xfrm>
            <a:off x="4649724" y="4192524"/>
            <a:ext cx="283464" cy="283464"/>
          </a:xfrm>
          <a:prstGeom prst="rect">
            <a:avLst/>
          </a:prstGeom>
        </p:spPr>
      </p:pic>
      <p:sp>
        <p:nvSpPr>
          <p:cNvPr id="38" name="t_770"/>
          <p:cNvSpPr txBox="1"/>
          <p:nvPr/>
        </p:nvSpPr>
        <p:spPr>
          <a:xfrm>
            <a:off x="5193792" y="4050792"/>
            <a:ext cx="2514600" cy="566928"/>
          </a:xfrm>
          <a:prstGeom prst="rect">
            <a:avLst/>
          </a:prstGeom>
          <a:noFill/>
          <a:ln/>
        </p:spPr>
        <p:txBody>
          <a:bodyPr wrap="square" lIns="0" tIns="0" rIns="0" bIns="0" rtlCol="0" anchor="ctr"/>
          <a:lstStyle/>
          <a:p>
            <a:pPr indent="0" marL="0">
              <a:buNone/>
            </a:pPr>
            <a:r>
              <a:rPr lang="en-US" sz="1600" b="1" dirty="0">
                <a:solidFill>
                  <a:schemeClr val="tx2"/>
                </a:solidFill>
              </a:rPr>
              <a:t>Session</a:t>
            </a:r>
            <a:endParaRPr lang="en-US" sz="1600" dirty="0"/>
          </a:p>
        </p:txBody>
      </p:sp>
      <p:sp>
        <p:nvSpPr>
          <p:cNvPr id="39" name="t_771"/>
          <p:cNvSpPr txBox="1"/>
          <p:nvPr/>
        </p:nvSpPr>
        <p:spPr>
          <a:xfrm>
            <a:off x="4507992" y="4736592"/>
            <a:ext cx="3154680" cy="640080"/>
          </a:xfrm>
          <a:prstGeom prst="rect">
            <a:avLst/>
          </a:prstGeom>
          <a:noFill/>
          <a:ln/>
        </p:spPr>
        <p:txBody>
          <a:bodyPr wrap="square" lIns="0" tIns="0" rIns="0" bIns="0" rtlCol="0" anchor="t"/>
          <a:lstStyle/>
          <a:p>
            <a:pPr indent="0" marL="0">
              <a:buNone/>
            </a:pPr>
            <a:r>
              <a:rPr lang="en-US" sz="1300" dirty="0">
                <a:solidFill>
                  <a:srgbClr val="3F4652"/>
                </a:solidFill>
              </a:rPr>
              <a:t>Ouverture en février ou septembre</a:t>
            </a:r>
            <a:endParaRPr lang="en-US" sz="1300" dirty="0"/>
          </a:p>
        </p:txBody>
      </p:sp>
      <p:sp>
        <p:nvSpPr>
          <p:cNvPr id="40" name="err_772"/>
          <p:cNvSpPr/>
          <p:nvPr/>
        </p:nvSpPr>
        <p:spPr>
          <a:xfrm>
            <a:off x="4507992" y="5468112"/>
            <a:ext cx="3108960" cy="438912"/>
          </a:xfrm>
          <a:prstGeom prst="roundRect">
            <a:avLst>
              <a:gd name="adj" fmla="val 20833"/>
            </a:avLst>
          </a:prstGeom>
          <a:solidFill>
            <a:srgbClr val="FCEDED"/>
          </a:solidFill>
          <a:ln/>
        </p:spPr>
      </p:sp>
      <p:pic>
        <p:nvPicPr>
          <p:cNvPr id="41" name="warn_773" descr="preencoded.png">    </p:cNvPr>
          <p:cNvPicPr>
            <a:picLocks noChangeAspect="1"/>
          </p:cNvPicPr>
          <p:nvPr/>
        </p:nvPicPr>
        <p:blipFill>
          <a:blip r:embed="rId10"/>
          <a:stretch>
            <a:fillRect/>
          </a:stretch>
        </p:blipFill>
        <p:spPr>
          <a:xfrm>
            <a:off x="4626864" y="5577840"/>
            <a:ext cx="219456" cy="219456"/>
          </a:xfrm>
          <a:prstGeom prst="rect">
            <a:avLst/>
          </a:prstGeom>
        </p:spPr>
      </p:pic>
      <p:sp>
        <p:nvSpPr>
          <p:cNvPr id="42" name="t_774"/>
          <p:cNvSpPr txBox="1"/>
          <p:nvPr/>
        </p:nvSpPr>
        <p:spPr>
          <a:xfrm>
            <a:off x="4937760" y="5468112"/>
            <a:ext cx="2606040" cy="438912"/>
          </a:xfrm>
          <a:prstGeom prst="rect">
            <a:avLst/>
          </a:prstGeom>
          <a:noFill/>
          <a:ln/>
        </p:spPr>
        <p:txBody>
          <a:bodyPr wrap="square" lIns="0" tIns="0" rIns="0" bIns="0" rtlCol="0" anchor="ctr"/>
          <a:lstStyle/>
          <a:p>
            <a:pPr indent="0" marL="0">
              <a:buNone/>
            </a:pPr>
            <a:r>
              <a:rPr lang="en-US" sz="1200" dirty="0">
                <a:solidFill>
                  <a:srgbClr val="C62828"/>
                </a:solidFill>
              </a:rPr>
              <a:t>Mois de début invalide</a:t>
            </a:r>
            <a:endParaRPr lang="en-US" sz="1200" dirty="0"/>
          </a:p>
        </p:txBody>
      </p:sp>
      <p:sp>
        <p:nvSpPr>
          <p:cNvPr id="43" name="card_775"/>
          <p:cNvSpPr/>
          <p:nvPr/>
        </p:nvSpPr>
        <p:spPr>
          <a:xfrm>
            <a:off x="8010144" y="3822192"/>
            <a:ext cx="3566160" cy="2331720"/>
          </a:xfrm>
          <a:prstGeom prst="roundRect">
            <a:avLst>
              <a:gd name="adj" fmla="val 4706"/>
            </a:avLst>
          </a:prstGeom>
          <a:solidFill>
            <a:schemeClr val="bg1"/>
          </a:solidFill>
          <a:ln/>
          <a:effectLst>
            <a:outerShdw sx="100000" sy="100000" kx="0" ky="0" algn="bl" rotWithShape="0" blurRad="76200" dist="19050" dir="5400000">
              <a:srgbClr val="1B2433">
                <a:alpha val="10000"/>
              </a:srgbClr>
            </a:outerShdw>
          </a:effectLst>
        </p:spPr>
      </p:sp>
      <p:sp>
        <p:nvSpPr>
          <p:cNvPr id="44" name="ic_bg_776"/>
          <p:cNvSpPr/>
          <p:nvPr/>
        </p:nvSpPr>
        <p:spPr>
          <a:xfrm>
            <a:off x="8238744" y="4050792"/>
            <a:ext cx="566928" cy="566928"/>
          </a:xfrm>
          <a:prstGeom prst="ellipse">
            <a:avLst/>
          </a:prstGeom>
          <a:solidFill>
            <a:srgbClr val="0A2F5C"/>
          </a:solidFill>
          <a:ln/>
        </p:spPr>
      </p:sp>
      <p:pic>
        <p:nvPicPr>
          <p:cNvPr id="45" name="ic_777" descr="FaLock">    </p:cNvPr>
          <p:cNvPicPr>
            <a:picLocks noChangeAspect="1"/>
          </p:cNvPicPr>
          <p:nvPr/>
        </p:nvPicPr>
        <p:blipFill>
          <a:blip r:embed="rId11"/>
          <a:stretch>
            <a:fillRect/>
          </a:stretch>
        </p:blipFill>
        <p:spPr>
          <a:xfrm>
            <a:off x="8380476" y="4192524"/>
            <a:ext cx="283464" cy="283464"/>
          </a:xfrm>
          <a:prstGeom prst="rect">
            <a:avLst/>
          </a:prstGeom>
        </p:spPr>
      </p:pic>
      <p:sp>
        <p:nvSpPr>
          <p:cNvPr id="46" name="t_778"/>
          <p:cNvSpPr txBox="1"/>
          <p:nvPr/>
        </p:nvSpPr>
        <p:spPr>
          <a:xfrm>
            <a:off x="8924544" y="4050792"/>
            <a:ext cx="2514600" cy="566928"/>
          </a:xfrm>
          <a:prstGeom prst="rect">
            <a:avLst/>
          </a:prstGeom>
          <a:noFill/>
          <a:ln/>
        </p:spPr>
        <p:txBody>
          <a:bodyPr wrap="square" lIns="0" tIns="0" rIns="0" bIns="0" rtlCol="0" anchor="ctr"/>
          <a:lstStyle/>
          <a:p>
            <a:pPr indent="0" marL="0">
              <a:buNone/>
            </a:pPr>
            <a:r>
              <a:rPr lang="en-US" sz="1600" b="1" dirty="0">
                <a:solidFill>
                  <a:schemeClr val="tx2"/>
                </a:solidFill>
              </a:rPr>
              <a:t>Connexion</a:t>
            </a:r>
            <a:endParaRPr lang="en-US" sz="1600" dirty="0"/>
          </a:p>
        </p:txBody>
      </p:sp>
      <p:sp>
        <p:nvSpPr>
          <p:cNvPr id="47" name="t_779"/>
          <p:cNvSpPr txBox="1"/>
          <p:nvPr/>
        </p:nvSpPr>
        <p:spPr>
          <a:xfrm>
            <a:off x="8238744" y="4736592"/>
            <a:ext cx="3154680" cy="640080"/>
          </a:xfrm>
          <a:prstGeom prst="rect">
            <a:avLst/>
          </a:prstGeom>
          <a:noFill/>
          <a:ln/>
        </p:spPr>
        <p:txBody>
          <a:bodyPr wrap="square" lIns="0" tIns="0" rIns="0" bIns="0" rtlCol="0" anchor="t"/>
          <a:lstStyle/>
          <a:p>
            <a:pPr indent="0" marL="0">
              <a:buNone/>
            </a:pPr>
            <a:r>
              <a:rPr lang="en-US" sz="1300" dirty="0">
                <a:solidFill>
                  <a:srgbClr val="3F4652"/>
                </a:solidFill>
              </a:rPr>
              <a:t>10 tentatives par minute au plus</a:t>
            </a:r>
            <a:endParaRPr lang="en-US" sz="1300" dirty="0"/>
          </a:p>
        </p:txBody>
      </p:sp>
      <p:sp>
        <p:nvSpPr>
          <p:cNvPr id="48" name="err_780"/>
          <p:cNvSpPr/>
          <p:nvPr/>
        </p:nvSpPr>
        <p:spPr>
          <a:xfrm>
            <a:off x="8238744" y="5468112"/>
            <a:ext cx="3108960" cy="438912"/>
          </a:xfrm>
          <a:prstGeom prst="roundRect">
            <a:avLst>
              <a:gd name="adj" fmla="val 20833"/>
            </a:avLst>
          </a:prstGeom>
          <a:solidFill>
            <a:srgbClr val="FCEDED"/>
          </a:solidFill>
          <a:ln/>
        </p:spPr>
      </p:sp>
      <p:pic>
        <p:nvPicPr>
          <p:cNvPr id="49" name="warn_781" descr="preencoded.png">    </p:cNvPr>
          <p:cNvPicPr>
            <a:picLocks noChangeAspect="1"/>
          </p:cNvPicPr>
          <p:nvPr/>
        </p:nvPicPr>
        <p:blipFill>
          <a:blip r:embed="rId12"/>
          <a:stretch>
            <a:fillRect/>
          </a:stretch>
        </p:blipFill>
        <p:spPr>
          <a:xfrm>
            <a:off x="8357616" y="5577840"/>
            <a:ext cx="219456" cy="219456"/>
          </a:xfrm>
          <a:prstGeom prst="rect">
            <a:avLst/>
          </a:prstGeom>
        </p:spPr>
      </p:pic>
      <p:sp>
        <p:nvSpPr>
          <p:cNvPr id="50" name="t_782"/>
          <p:cNvSpPr txBox="1"/>
          <p:nvPr/>
        </p:nvSpPr>
        <p:spPr>
          <a:xfrm>
            <a:off x="8668512" y="5468112"/>
            <a:ext cx="2606040" cy="438912"/>
          </a:xfrm>
          <a:prstGeom prst="rect">
            <a:avLst/>
          </a:prstGeom>
          <a:noFill/>
          <a:ln/>
        </p:spPr>
        <p:txBody>
          <a:bodyPr wrap="square" lIns="0" tIns="0" rIns="0" bIns="0" rtlCol="0" anchor="ctr"/>
          <a:lstStyle/>
          <a:p>
            <a:pPr indent="0" marL="0">
              <a:buNone/>
            </a:pPr>
            <a:r>
              <a:rPr lang="en-US" sz="1200" dirty="0">
                <a:solidFill>
                  <a:srgbClr val="C62828"/>
                </a:solidFill>
              </a:rPr>
              <a:t>Trop de tentatives</a:t>
            </a:r>
            <a:endParaRPr lang="en-US" sz="12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Contrôle et sécurité : sécurité</a:t>
            </a:r>
            <a:endParaRPr lang="en-US" sz="3000" dirty="0"/>
          </a:p>
        </p:txBody>
      </p:sp>
      <p:sp>
        <p:nvSpPr>
          <p:cNvPr id="3" name="card_783"/>
          <p:cNvSpPr/>
          <p:nvPr/>
        </p:nvSpPr>
        <p:spPr>
          <a:xfrm>
            <a:off x="4498848" y="2240280"/>
            <a:ext cx="3200400" cy="3200400"/>
          </a:xfrm>
          <a:prstGeom prst="roundRect">
            <a:avLst>
              <a:gd name="adj" fmla="val 5714"/>
            </a:avLst>
          </a:prstGeom>
          <a:solidFill>
            <a:schemeClr val="tx2"/>
          </a:solidFill>
          <a:ln/>
          <a:effectLst>
            <a:outerShdw sx="100000" sy="100000" kx="0" ky="0" algn="bl" rotWithShape="0" blurRad="127000" dist="38100" dir="5400000">
              <a:srgbClr val="1B2433">
                <a:alpha val="14000"/>
              </a:srgbClr>
            </a:outerShdw>
          </a:effectLst>
        </p:spPr>
      </p:sp>
      <p:sp>
        <p:nvSpPr>
          <p:cNvPr id="4" name="ic_bg_784"/>
          <p:cNvSpPr/>
          <p:nvPr/>
        </p:nvSpPr>
        <p:spPr>
          <a:xfrm>
            <a:off x="5321808" y="2651760"/>
            <a:ext cx="1554480" cy="1554480"/>
          </a:xfrm>
          <a:prstGeom prst="ellipse">
            <a:avLst/>
          </a:prstGeom>
          <a:solidFill>
            <a:srgbClr val="03909E"/>
          </a:solidFill>
          <a:ln/>
        </p:spPr>
      </p:sp>
      <p:pic>
        <p:nvPicPr>
          <p:cNvPr id="5" name="ic_785" descr="FaShieldHalved">    </p:cNvPr>
          <p:cNvPicPr>
            <a:picLocks noChangeAspect="1"/>
          </p:cNvPicPr>
          <p:nvPr/>
        </p:nvPicPr>
        <p:blipFill>
          <a:blip r:embed="rId1"/>
          <a:stretch>
            <a:fillRect/>
          </a:stretch>
        </p:blipFill>
        <p:spPr>
          <a:xfrm>
            <a:off x="5710428" y="3040380"/>
            <a:ext cx="777240" cy="777240"/>
          </a:xfrm>
          <a:prstGeom prst="rect">
            <a:avLst/>
          </a:prstGeom>
        </p:spPr>
      </p:pic>
      <p:sp>
        <p:nvSpPr>
          <p:cNvPr id="6" name="t_786"/>
          <p:cNvSpPr txBox="1"/>
          <p:nvPr/>
        </p:nvSpPr>
        <p:spPr>
          <a:xfrm>
            <a:off x="4572000" y="4434840"/>
            <a:ext cx="3063240" cy="731520"/>
          </a:xfrm>
          <a:prstGeom prst="rect">
            <a:avLst/>
          </a:prstGeom>
          <a:noFill/>
          <a:ln/>
        </p:spPr>
        <p:txBody>
          <a:bodyPr wrap="square" lIns="0" tIns="0" rIns="0" bIns="0" rtlCol="0" anchor="ctr"/>
          <a:lstStyle/>
          <a:p>
            <a:pPr algn="ctr" indent="0" marL="0">
              <a:buNone/>
            </a:pPr>
            <a:r>
              <a:rPr lang="en-US" sz="1700" b="1" dirty="0">
                <a:solidFill>
                  <a:srgbClr val="FFFFFF"/>
                </a:solidFill>
              </a:rPr>
              <a:t>Sécurité par couches</a:t>
            </a:r>
            <a:endParaRPr lang="en-US" sz="1700" dirty="0"/>
          </a:p>
        </p:txBody>
      </p:sp>
      <p:sp>
        <p:nvSpPr>
          <p:cNvPr id="7" name="card_787"/>
          <p:cNvSpPr/>
          <p:nvPr/>
        </p:nvSpPr>
        <p:spPr>
          <a:xfrm>
            <a:off x="548640" y="1280160"/>
            <a:ext cx="3657600" cy="1508760"/>
          </a:xfrm>
          <a:prstGeom prst="roundRect">
            <a:avLst>
              <a:gd name="adj" fmla="val 7273"/>
            </a:avLst>
          </a:prstGeom>
          <a:solidFill>
            <a:schemeClr val="bg1"/>
          </a:solidFill>
          <a:ln/>
          <a:effectLst>
            <a:outerShdw sx="100000" sy="100000" kx="0" ky="0" algn="bl" rotWithShape="0" blurRad="76200" dist="19050" dir="5400000">
              <a:srgbClr val="1B2433">
                <a:alpha val="10000"/>
              </a:srgbClr>
            </a:outerShdw>
          </a:effectLst>
        </p:spPr>
      </p:sp>
      <p:sp>
        <p:nvSpPr>
          <p:cNvPr id="8" name="ic_bg_788"/>
          <p:cNvSpPr/>
          <p:nvPr/>
        </p:nvSpPr>
        <p:spPr>
          <a:xfrm>
            <a:off x="749808" y="1508760"/>
            <a:ext cx="548640" cy="548640"/>
          </a:xfrm>
          <a:prstGeom prst="ellipse">
            <a:avLst/>
          </a:prstGeom>
          <a:solidFill>
            <a:srgbClr val="0A2F5C"/>
          </a:solidFill>
          <a:ln/>
        </p:spPr>
      </p:sp>
      <p:pic>
        <p:nvPicPr>
          <p:cNvPr id="9" name="ic_789" descr="FaKey">    </p:cNvPr>
          <p:cNvPicPr>
            <a:picLocks noChangeAspect="1"/>
          </p:cNvPicPr>
          <p:nvPr/>
        </p:nvPicPr>
        <p:blipFill>
          <a:blip r:embed="rId2"/>
          <a:stretch>
            <a:fillRect/>
          </a:stretch>
        </p:blipFill>
        <p:spPr>
          <a:xfrm>
            <a:off x="886968" y="1645920"/>
            <a:ext cx="274320" cy="274320"/>
          </a:xfrm>
          <a:prstGeom prst="rect">
            <a:avLst/>
          </a:prstGeom>
        </p:spPr>
      </p:pic>
      <p:sp>
        <p:nvSpPr>
          <p:cNvPr id="10" name="t_790"/>
          <p:cNvSpPr txBox="1"/>
          <p:nvPr/>
        </p:nvSpPr>
        <p:spPr>
          <a:xfrm>
            <a:off x="1444752" y="1508760"/>
            <a:ext cx="2651760" cy="548640"/>
          </a:xfrm>
          <a:prstGeom prst="rect">
            <a:avLst/>
          </a:prstGeom>
          <a:noFill/>
          <a:ln/>
        </p:spPr>
        <p:txBody>
          <a:bodyPr wrap="square" lIns="0" tIns="0" rIns="0" bIns="0" rtlCol="0" anchor="ctr"/>
          <a:lstStyle/>
          <a:p>
            <a:pPr indent="0" marL="0">
              <a:buNone/>
            </a:pPr>
            <a:r>
              <a:rPr lang="en-US" sz="1500" b="1" dirty="0">
                <a:solidFill>
                  <a:schemeClr val="tx2"/>
                </a:solidFill>
              </a:rPr>
              <a:t>Mots de passe hachés</a:t>
            </a:r>
            <a:endParaRPr lang="en-US" sz="1500" dirty="0"/>
          </a:p>
        </p:txBody>
      </p:sp>
      <p:sp>
        <p:nvSpPr>
          <p:cNvPr id="11" name="t_791"/>
          <p:cNvSpPr txBox="1"/>
          <p:nvPr/>
        </p:nvSpPr>
        <p:spPr>
          <a:xfrm>
            <a:off x="749808" y="2148840"/>
            <a:ext cx="3337560" cy="548640"/>
          </a:xfrm>
          <a:prstGeom prst="rect">
            <a:avLst/>
          </a:prstGeom>
          <a:noFill/>
          <a:ln/>
        </p:spPr>
        <p:txBody>
          <a:bodyPr wrap="square" lIns="0" tIns="0" rIns="0" bIns="0" rtlCol="0" anchor="t"/>
          <a:lstStyle/>
          <a:p>
            <a:pPr indent="0" marL="0">
              <a:buNone/>
            </a:pPr>
            <a:r>
              <a:rPr lang="en-US" sz="1200" dirty="0">
                <a:solidFill>
                  <a:srgbClr val="6B7585"/>
                </a:solidFill>
              </a:rPr>
              <a:t>Algorithme bcrypt, jamais renvoyés par l'API</a:t>
            </a:r>
            <a:endParaRPr lang="en-US" sz="1200" dirty="0"/>
          </a:p>
        </p:txBody>
      </p:sp>
      <p:sp>
        <p:nvSpPr>
          <p:cNvPr id="12" name="card_792"/>
          <p:cNvSpPr/>
          <p:nvPr/>
        </p:nvSpPr>
        <p:spPr>
          <a:xfrm>
            <a:off x="548640" y="2971800"/>
            <a:ext cx="3657600" cy="1508760"/>
          </a:xfrm>
          <a:prstGeom prst="roundRect">
            <a:avLst>
              <a:gd name="adj" fmla="val 7273"/>
            </a:avLst>
          </a:prstGeom>
          <a:solidFill>
            <a:schemeClr val="bg1"/>
          </a:solidFill>
          <a:ln/>
          <a:effectLst>
            <a:outerShdw sx="100000" sy="100000" kx="0" ky="0" algn="bl" rotWithShape="0" blurRad="76200" dist="19050" dir="5400000">
              <a:srgbClr val="1B2433">
                <a:alpha val="10000"/>
              </a:srgbClr>
            </a:outerShdw>
          </a:effectLst>
        </p:spPr>
      </p:sp>
      <p:sp>
        <p:nvSpPr>
          <p:cNvPr id="13" name="ic_bg_793"/>
          <p:cNvSpPr/>
          <p:nvPr/>
        </p:nvSpPr>
        <p:spPr>
          <a:xfrm>
            <a:off x="749808" y="3200400"/>
            <a:ext cx="548640" cy="548640"/>
          </a:xfrm>
          <a:prstGeom prst="ellipse">
            <a:avLst/>
          </a:prstGeom>
          <a:solidFill>
            <a:srgbClr val="0A2F5C"/>
          </a:solidFill>
          <a:ln/>
        </p:spPr>
      </p:sp>
      <p:pic>
        <p:nvPicPr>
          <p:cNvPr id="14" name="ic_794" descr="FaLock">    </p:cNvPr>
          <p:cNvPicPr>
            <a:picLocks noChangeAspect="1"/>
          </p:cNvPicPr>
          <p:nvPr/>
        </p:nvPicPr>
        <p:blipFill>
          <a:blip r:embed="rId3"/>
          <a:stretch>
            <a:fillRect/>
          </a:stretch>
        </p:blipFill>
        <p:spPr>
          <a:xfrm>
            <a:off x="886968" y="3337560"/>
            <a:ext cx="274320" cy="274320"/>
          </a:xfrm>
          <a:prstGeom prst="rect">
            <a:avLst/>
          </a:prstGeom>
        </p:spPr>
      </p:pic>
      <p:sp>
        <p:nvSpPr>
          <p:cNvPr id="15" name="t_795"/>
          <p:cNvSpPr txBox="1"/>
          <p:nvPr/>
        </p:nvSpPr>
        <p:spPr>
          <a:xfrm>
            <a:off x="1444752" y="3200400"/>
            <a:ext cx="2651760" cy="548640"/>
          </a:xfrm>
          <a:prstGeom prst="rect">
            <a:avLst/>
          </a:prstGeom>
          <a:noFill/>
          <a:ln/>
        </p:spPr>
        <p:txBody>
          <a:bodyPr wrap="square" lIns="0" tIns="0" rIns="0" bIns="0" rtlCol="0" anchor="ctr"/>
          <a:lstStyle/>
          <a:p>
            <a:pPr indent="0" marL="0">
              <a:buNone/>
            </a:pPr>
            <a:r>
              <a:rPr lang="en-US" sz="1500" b="1" dirty="0">
                <a:solidFill>
                  <a:schemeClr val="tx2"/>
                </a:solidFill>
              </a:rPr>
              <a:t>Cookie httpOnly + CSRF</a:t>
            </a:r>
            <a:endParaRPr lang="en-US" sz="1500" dirty="0"/>
          </a:p>
        </p:txBody>
      </p:sp>
      <p:sp>
        <p:nvSpPr>
          <p:cNvPr id="16" name="t_796"/>
          <p:cNvSpPr txBox="1"/>
          <p:nvPr/>
        </p:nvSpPr>
        <p:spPr>
          <a:xfrm>
            <a:off x="749808" y="3840480"/>
            <a:ext cx="3337560" cy="548640"/>
          </a:xfrm>
          <a:prstGeom prst="rect">
            <a:avLst/>
          </a:prstGeom>
          <a:noFill/>
          <a:ln/>
        </p:spPr>
        <p:txBody>
          <a:bodyPr wrap="square" lIns="0" tIns="0" rIns="0" bIns="0" rtlCol="0" anchor="t"/>
          <a:lstStyle/>
          <a:p>
            <a:pPr indent="0" marL="0">
              <a:buNone/>
            </a:pPr>
            <a:r>
              <a:rPr lang="en-US" sz="1200" dirty="0">
                <a:solidFill>
                  <a:srgbClr val="6B7585"/>
                </a:solidFill>
              </a:rPr>
              <a:t>Session Laravel Sanctum, régénérée à la connexion</a:t>
            </a:r>
            <a:endParaRPr lang="en-US" sz="1200" dirty="0"/>
          </a:p>
        </p:txBody>
      </p:sp>
      <p:sp>
        <p:nvSpPr>
          <p:cNvPr id="17" name="card_797"/>
          <p:cNvSpPr/>
          <p:nvPr/>
        </p:nvSpPr>
        <p:spPr>
          <a:xfrm>
            <a:off x="548640" y="4663440"/>
            <a:ext cx="3657600" cy="1508760"/>
          </a:xfrm>
          <a:prstGeom prst="roundRect">
            <a:avLst>
              <a:gd name="adj" fmla="val 7273"/>
            </a:avLst>
          </a:prstGeom>
          <a:solidFill>
            <a:schemeClr val="bg1"/>
          </a:solidFill>
          <a:ln/>
          <a:effectLst>
            <a:outerShdw sx="100000" sy="100000" kx="0" ky="0" algn="bl" rotWithShape="0" blurRad="76200" dist="19050" dir="5400000">
              <a:srgbClr val="1B2433">
                <a:alpha val="10000"/>
              </a:srgbClr>
            </a:outerShdw>
          </a:effectLst>
        </p:spPr>
      </p:sp>
      <p:sp>
        <p:nvSpPr>
          <p:cNvPr id="18" name="ic_bg_798"/>
          <p:cNvSpPr/>
          <p:nvPr/>
        </p:nvSpPr>
        <p:spPr>
          <a:xfrm>
            <a:off x="749808" y="4892040"/>
            <a:ext cx="548640" cy="548640"/>
          </a:xfrm>
          <a:prstGeom prst="ellipse">
            <a:avLst/>
          </a:prstGeom>
          <a:solidFill>
            <a:srgbClr val="0A2F5C"/>
          </a:solidFill>
          <a:ln/>
        </p:spPr>
      </p:sp>
      <p:pic>
        <p:nvPicPr>
          <p:cNvPr id="19" name="ic_799" descr="FaUserShield">    </p:cNvPr>
          <p:cNvPicPr>
            <a:picLocks noChangeAspect="1"/>
          </p:cNvPicPr>
          <p:nvPr/>
        </p:nvPicPr>
        <p:blipFill>
          <a:blip r:embed="rId4"/>
          <a:stretch>
            <a:fillRect/>
          </a:stretch>
        </p:blipFill>
        <p:spPr>
          <a:xfrm>
            <a:off x="886968" y="5029200"/>
            <a:ext cx="274320" cy="274320"/>
          </a:xfrm>
          <a:prstGeom prst="rect">
            <a:avLst/>
          </a:prstGeom>
        </p:spPr>
      </p:pic>
      <p:sp>
        <p:nvSpPr>
          <p:cNvPr id="20" name="t_800"/>
          <p:cNvSpPr txBox="1"/>
          <p:nvPr/>
        </p:nvSpPr>
        <p:spPr>
          <a:xfrm>
            <a:off x="1444752" y="4892040"/>
            <a:ext cx="2651760" cy="548640"/>
          </a:xfrm>
          <a:prstGeom prst="rect">
            <a:avLst/>
          </a:prstGeom>
          <a:noFill/>
          <a:ln/>
        </p:spPr>
        <p:txBody>
          <a:bodyPr wrap="square" lIns="0" tIns="0" rIns="0" bIns="0" rtlCol="0" anchor="ctr"/>
          <a:lstStyle/>
          <a:p>
            <a:pPr indent="0" marL="0">
              <a:buNone/>
            </a:pPr>
            <a:r>
              <a:rPr lang="en-US" sz="1500" b="1" dirty="0">
                <a:solidFill>
                  <a:schemeClr val="tx2"/>
                </a:solidFill>
              </a:rPr>
              <a:t>Contrôle d'accès</a:t>
            </a:r>
            <a:endParaRPr lang="en-US" sz="1500" dirty="0"/>
          </a:p>
        </p:txBody>
      </p:sp>
      <p:sp>
        <p:nvSpPr>
          <p:cNvPr id="21" name="t_801"/>
          <p:cNvSpPr txBox="1"/>
          <p:nvPr/>
        </p:nvSpPr>
        <p:spPr>
          <a:xfrm>
            <a:off x="749808" y="5532120"/>
            <a:ext cx="3337560" cy="548640"/>
          </a:xfrm>
          <a:prstGeom prst="rect">
            <a:avLst/>
          </a:prstGeom>
          <a:noFill/>
          <a:ln/>
        </p:spPr>
        <p:txBody>
          <a:bodyPr wrap="square" lIns="0" tIns="0" rIns="0" bIns="0" rtlCol="0" anchor="t"/>
          <a:lstStyle/>
          <a:p>
            <a:pPr indent="0" marL="0">
              <a:buNone/>
            </a:pPr>
            <a:r>
              <a:rPr lang="en-US" sz="1200" dirty="0">
                <a:solidFill>
                  <a:srgbClr val="6B7585"/>
                </a:solidFill>
              </a:rPr>
              <a:t>Middlewares auth, approved et role</a:t>
            </a:r>
            <a:endParaRPr lang="en-US" sz="1200" dirty="0"/>
          </a:p>
        </p:txBody>
      </p:sp>
      <p:sp>
        <p:nvSpPr>
          <p:cNvPr id="22" name="card_802"/>
          <p:cNvSpPr/>
          <p:nvPr/>
        </p:nvSpPr>
        <p:spPr>
          <a:xfrm>
            <a:off x="8001000" y="1280160"/>
            <a:ext cx="3657600" cy="1508760"/>
          </a:xfrm>
          <a:prstGeom prst="roundRect">
            <a:avLst>
              <a:gd name="adj" fmla="val 7273"/>
            </a:avLst>
          </a:prstGeom>
          <a:solidFill>
            <a:schemeClr val="bg1"/>
          </a:solidFill>
          <a:ln/>
          <a:effectLst>
            <a:outerShdw sx="100000" sy="100000" kx="0" ky="0" algn="bl" rotWithShape="0" blurRad="76200" dist="19050" dir="5400000">
              <a:srgbClr val="1B2433">
                <a:alpha val="10000"/>
              </a:srgbClr>
            </a:outerShdw>
          </a:effectLst>
        </p:spPr>
      </p:sp>
      <p:sp>
        <p:nvSpPr>
          <p:cNvPr id="23" name="ic_bg_803"/>
          <p:cNvSpPr/>
          <p:nvPr/>
        </p:nvSpPr>
        <p:spPr>
          <a:xfrm>
            <a:off x="8202168" y="1508760"/>
            <a:ext cx="548640" cy="548640"/>
          </a:xfrm>
          <a:prstGeom prst="ellipse">
            <a:avLst/>
          </a:prstGeom>
          <a:solidFill>
            <a:srgbClr val="03909E"/>
          </a:solidFill>
          <a:ln/>
        </p:spPr>
      </p:sp>
      <p:pic>
        <p:nvPicPr>
          <p:cNvPr id="24" name="ic_804" descr="FaFilter">    </p:cNvPr>
          <p:cNvPicPr>
            <a:picLocks noChangeAspect="1"/>
          </p:cNvPicPr>
          <p:nvPr/>
        </p:nvPicPr>
        <p:blipFill>
          <a:blip r:embed="rId5"/>
          <a:stretch>
            <a:fillRect/>
          </a:stretch>
        </p:blipFill>
        <p:spPr>
          <a:xfrm>
            <a:off x="8339328" y="1645920"/>
            <a:ext cx="274320" cy="274320"/>
          </a:xfrm>
          <a:prstGeom prst="rect">
            <a:avLst/>
          </a:prstGeom>
        </p:spPr>
      </p:pic>
      <p:sp>
        <p:nvSpPr>
          <p:cNvPr id="25" name="t_805"/>
          <p:cNvSpPr txBox="1"/>
          <p:nvPr/>
        </p:nvSpPr>
        <p:spPr>
          <a:xfrm>
            <a:off x="8897112" y="1508760"/>
            <a:ext cx="2651760" cy="548640"/>
          </a:xfrm>
          <a:prstGeom prst="rect">
            <a:avLst/>
          </a:prstGeom>
          <a:noFill/>
          <a:ln/>
        </p:spPr>
        <p:txBody>
          <a:bodyPr wrap="square" lIns="0" tIns="0" rIns="0" bIns="0" rtlCol="0" anchor="ctr"/>
          <a:lstStyle/>
          <a:p>
            <a:pPr indent="0" marL="0">
              <a:buNone/>
            </a:pPr>
            <a:r>
              <a:rPr lang="en-US" sz="1500" b="1" dirty="0">
                <a:solidFill>
                  <a:schemeClr val="tx2"/>
                </a:solidFill>
              </a:rPr>
              <a:t>Limitation du débit</a:t>
            </a:r>
            <a:endParaRPr lang="en-US" sz="1500" dirty="0"/>
          </a:p>
        </p:txBody>
      </p:sp>
      <p:sp>
        <p:nvSpPr>
          <p:cNvPr id="26" name="t_806"/>
          <p:cNvSpPr txBox="1"/>
          <p:nvPr/>
        </p:nvSpPr>
        <p:spPr>
          <a:xfrm>
            <a:off x="8202168" y="2148840"/>
            <a:ext cx="3337560" cy="548640"/>
          </a:xfrm>
          <a:prstGeom prst="rect">
            <a:avLst/>
          </a:prstGeom>
          <a:noFill/>
          <a:ln/>
        </p:spPr>
        <p:txBody>
          <a:bodyPr wrap="square" lIns="0" tIns="0" rIns="0" bIns="0" rtlCol="0" anchor="t"/>
          <a:lstStyle/>
          <a:p>
            <a:pPr indent="0" marL="0">
              <a:buNone/>
            </a:pPr>
            <a:r>
              <a:rPr lang="en-US" sz="1200" dirty="0">
                <a:solidFill>
                  <a:srgbClr val="6B7585"/>
                </a:solidFill>
              </a:rPr>
              <a:t>Connexion 10/min · inscription 3/h · chatbot 15/min</a:t>
            </a:r>
            <a:endParaRPr lang="en-US" sz="1200" dirty="0"/>
          </a:p>
        </p:txBody>
      </p:sp>
      <p:sp>
        <p:nvSpPr>
          <p:cNvPr id="27" name="card_807"/>
          <p:cNvSpPr/>
          <p:nvPr/>
        </p:nvSpPr>
        <p:spPr>
          <a:xfrm>
            <a:off x="8001000" y="2971800"/>
            <a:ext cx="3657600" cy="1508760"/>
          </a:xfrm>
          <a:prstGeom prst="roundRect">
            <a:avLst>
              <a:gd name="adj" fmla="val 7273"/>
            </a:avLst>
          </a:prstGeom>
          <a:solidFill>
            <a:schemeClr val="bg1"/>
          </a:solidFill>
          <a:ln/>
          <a:effectLst>
            <a:outerShdw sx="100000" sy="100000" kx="0" ky="0" algn="bl" rotWithShape="0" blurRad="76200" dist="19050" dir="5400000">
              <a:srgbClr val="1B2433">
                <a:alpha val="10000"/>
              </a:srgbClr>
            </a:outerShdw>
          </a:effectLst>
        </p:spPr>
      </p:sp>
      <p:sp>
        <p:nvSpPr>
          <p:cNvPr id="28" name="ic_bg_808"/>
          <p:cNvSpPr/>
          <p:nvPr/>
        </p:nvSpPr>
        <p:spPr>
          <a:xfrm>
            <a:off x="8202168" y="3200400"/>
            <a:ext cx="548640" cy="548640"/>
          </a:xfrm>
          <a:prstGeom prst="ellipse">
            <a:avLst/>
          </a:prstGeom>
          <a:solidFill>
            <a:srgbClr val="03909E"/>
          </a:solidFill>
          <a:ln/>
        </p:spPr>
      </p:sp>
      <p:pic>
        <p:nvPicPr>
          <p:cNvPr id="29" name="ic_809" descr="FaCode">    </p:cNvPr>
          <p:cNvPicPr>
            <a:picLocks noChangeAspect="1"/>
          </p:cNvPicPr>
          <p:nvPr/>
        </p:nvPicPr>
        <p:blipFill>
          <a:blip r:embed="rId6"/>
          <a:stretch>
            <a:fillRect/>
          </a:stretch>
        </p:blipFill>
        <p:spPr>
          <a:xfrm>
            <a:off x="8339328" y="3337560"/>
            <a:ext cx="274320" cy="274320"/>
          </a:xfrm>
          <a:prstGeom prst="rect">
            <a:avLst/>
          </a:prstGeom>
        </p:spPr>
      </p:pic>
      <p:sp>
        <p:nvSpPr>
          <p:cNvPr id="30" name="t_810"/>
          <p:cNvSpPr txBox="1"/>
          <p:nvPr/>
        </p:nvSpPr>
        <p:spPr>
          <a:xfrm>
            <a:off x="8897112" y="3200400"/>
            <a:ext cx="2651760" cy="548640"/>
          </a:xfrm>
          <a:prstGeom prst="rect">
            <a:avLst/>
          </a:prstGeom>
          <a:noFill/>
          <a:ln/>
        </p:spPr>
        <p:txBody>
          <a:bodyPr wrap="square" lIns="0" tIns="0" rIns="0" bIns="0" rtlCol="0" anchor="ctr"/>
          <a:lstStyle/>
          <a:p>
            <a:pPr indent="0" marL="0">
              <a:buNone/>
            </a:pPr>
            <a:r>
              <a:rPr lang="en-US" sz="1500" b="1" dirty="0">
                <a:solidFill>
                  <a:schemeClr val="tx2"/>
                </a:solidFill>
              </a:rPr>
              <a:t>Validation et anti-XSS</a:t>
            </a:r>
            <a:endParaRPr lang="en-US" sz="1500" dirty="0"/>
          </a:p>
        </p:txBody>
      </p:sp>
      <p:sp>
        <p:nvSpPr>
          <p:cNvPr id="31" name="t_811"/>
          <p:cNvSpPr txBox="1"/>
          <p:nvPr/>
        </p:nvSpPr>
        <p:spPr>
          <a:xfrm>
            <a:off x="8202168" y="3840480"/>
            <a:ext cx="3337560" cy="548640"/>
          </a:xfrm>
          <a:prstGeom prst="rect">
            <a:avLst/>
          </a:prstGeom>
          <a:noFill/>
          <a:ln/>
        </p:spPr>
        <p:txBody>
          <a:bodyPr wrap="square" lIns="0" tIns="0" rIns="0" bIns="0" rtlCol="0" anchor="t"/>
          <a:lstStyle/>
          <a:p>
            <a:pPr indent="0" marL="0">
              <a:buNone/>
            </a:pPr>
            <a:r>
              <a:rPr lang="en-US" sz="1200" dirty="0">
                <a:solidFill>
                  <a:srgbClr val="6B7585"/>
                </a:solidFill>
              </a:rPr>
              <a:t>Entrées validées, caractères HTML neutralisés</a:t>
            </a:r>
            <a:endParaRPr lang="en-US" sz="1200" dirty="0"/>
          </a:p>
        </p:txBody>
      </p:sp>
      <p:sp>
        <p:nvSpPr>
          <p:cNvPr id="32" name="card_812"/>
          <p:cNvSpPr/>
          <p:nvPr/>
        </p:nvSpPr>
        <p:spPr>
          <a:xfrm>
            <a:off x="8001000" y="4663440"/>
            <a:ext cx="3657600" cy="1508760"/>
          </a:xfrm>
          <a:prstGeom prst="roundRect">
            <a:avLst>
              <a:gd name="adj" fmla="val 7273"/>
            </a:avLst>
          </a:prstGeom>
          <a:solidFill>
            <a:schemeClr val="bg1"/>
          </a:solidFill>
          <a:ln/>
          <a:effectLst>
            <a:outerShdw sx="100000" sy="100000" kx="0" ky="0" algn="bl" rotWithShape="0" blurRad="76200" dist="19050" dir="5400000">
              <a:srgbClr val="1B2433">
                <a:alpha val="10000"/>
              </a:srgbClr>
            </a:outerShdw>
          </a:effectLst>
        </p:spPr>
      </p:sp>
      <p:sp>
        <p:nvSpPr>
          <p:cNvPr id="33" name="ic_bg_813"/>
          <p:cNvSpPr/>
          <p:nvPr/>
        </p:nvSpPr>
        <p:spPr>
          <a:xfrm>
            <a:off x="8202168" y="4892040"/>
            <a:ext cx="548640" cy="548640"/>
          </a:xfrm>
          <a:prstGeom prst="ellipse">
            <a:avLst/>
          </a:prstGeom>
          <a:solidFill>
            <a:srgbClr val="03909E"/>
          </a:solidFill>
          <a:ln/>
        </p:spPr>
      </p:sp>
      <p:pic>
        <p:nvPicPr>
          <p:cNvPr id="34" name="ic_814" descr="FaDatabase">    </p:cNvPr>
          <p:cNvPicPr>
            <a:picLocks noChangeAspect="1"/>
          </p:cNvPicPr>
          <p:nvPr/>
        </p:nvPicPr>
        <p:blipFill>
          <a:blip r:embed="rId7"/>
          <a:stretch>
            <a:fillRect/>
          </a:stretch>
        </p:blipFill>
        <p:spPr>
          <a:xfrm>
            <a:off x="8339328" y="5029200"/>
            <a:ext cx="274320" cy="274320"/>
          </a:xfrm>
          <a:prstGeom prst="rect">
            <a:avLst/>
          </a:prstGeom>
        </p:spPr>
      </p:pic>
      <p:sp>
        <p:nvSpPr>
          <p:cNvPr id="35" name="t_815"/>
          <p:cNvSpPr txBox="1"/>
          <p:nvPr/>
        </p:nvSpPr>
        <p:spPr>
          <a:xfrm>
            <a:off x="8897112" y="4892040"/>
            <a:ext cx="2651760" cy="548640"/>
          </a:xfrm>
          <a:prstGeom prst="rect">
            <a:avLst/>
          </a:prstGeom>
          <a:noFill/>
          <a:ln/>
        </p:spPr>
        <p:txBody>
          <a:bodyPr wrap="square" lIns="0" tIns="0" rIns="0" bIns="0" rtlCol="0" anchor="ctr"/>
          <a:lstStyle/>
          <a:p>
            <a:pPr indent="0" marL="0">
              <a:buNone/>
            </a:pPr>
            <a:r>
              <a:rPr lang="en-US" sz="1500" b="1" dirty="0">
                <a:solidFill>
                  <a:schemeClr val="tx2"/>
                </a:solidFill>
              </a:rPr>
              <a:t>Transactions</a:t>
            </a:r>
            <a:endParaRPr lang="en-US" sz="1500" dirty="0"/>
          </a:p>
        </p:txBody>
      </p:sp>
      <p:sp>
        <p:nvSpPr>
          <p:cNvPr id="36" name="t_816"/>
          <p:cNvSpPr txBox="1"/>
          <p:nvPr/>
        </p:nvSpPr>
        <p:spPr>
          <a:xfrm>
            <a:off x="8202168" y="5532120"/>
            <a:ext cx="3337560" cy="548640"/>
          </a:xfrm>
          <a:prstGeom prst="rect">
            <a:avLst/>
          </a:prstGeom>
          <a:noFill/>
          <a:ln/>
        </p:spPr>
        <p:txBody>
          <a:bodyPr wrap="square" lIns="0" tIns="0" rIns="0" bIns="0" rtlCol="0" anchor="t"/>
          <a:lstStyle/>
          <a:p>
            <a:pPr indent="0" marL="0">
              <a:buNone/>
            </a:pPr>
            <a:r>
              <a:rPr lang="en-US" sz="1200" dirty="0">
                <a:solidFill>
                  <a:srgbClr val="6B7585"/>
                </a:solidFill>
              </a:rPr>
              <a:t>Inscription, notes et présences sans incohérence</a:t>
            </a:r>
            <a:endParaRPr lang="en-US" sz="1200" dirty="0"/>
          </a:p>
        </p:txBody>
      </p:sp>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424160" cy="658368"/>
          </a:xfrm>
          <a:prstGeom prst="rect">
            <a:avLst/>
          </a:prstGeom>
          <a:noFill/>
          <a:ln/>
        </p:spPr>
        <p:txBody>
          <a:bodyPr wrap="square" lIns="0" tIns="0" rIns="0" bIns="0" rtlCol="0" anchor="ctr"/>
          <a:lstStyle/>
          <a:p>
            <a:pPr algn="l" indent="0" marL="0">
              <a:buNone/>
            </a:pPr>
            <a:r>
              <a:rPr lang="en-US" sz="3000" b="1" dirty="0">
                <a:solidFill>
                  <a:srgbClr val="0A2F5C"/>
                </a:solidFill>
                <a:latin typeface="Segoe UI Semibold" pitchFamily="34" charset="0"/>
                <a:ea typeface="Segoe UI Semibold" pitchFamily="34" charset="-122"/>
                <a:cs typeface="Segoe UI Semibold" pitchFamily="34" charset="-120"/>
              </a:rPr>
              <a:t>Conclusion</a:t>
            </a:r>
            <a:endParaRPr lang="en-US" sz="3000" dirty="0"/>
          </a:p>
        </p:txBody>
      </p:sp>
      <p:sp>
        <p:nvSpPr>
          <p:cNvPr id="3" name="card_817"/>
          <p:cNvSpPr/>
          <p:nvPr/>
        </p:nvSpPr>
        <p:spPr>
          <a:xfrm>
            <a:off x="548640" y="1280160"/>
            <a:ext cx="5394960" cy="1508760"/>
          </a:xfrm>
          <a:prstGeom prst="roundRect">
            <a:avLst>
              <a:gd name="adj" fmla="val 7273"/>
            </a:avLst>
          </a:prstGeom>
          <a:solidFill>
            <a:schemeClr val="bg1"/>
          </a:solidFill>
          <a:ln/>
          <a:effectLst>
            <a:outerShdw sx="100000" sy="100000" kx="0" ky="0" algn="bl" rotWithShape="0" blurRad="76200" dist="19050" dir="5400000">
              <a:srgbClr val="1B2433">
                <a:alpha val="10000"/>
              </a:srgbClr>
            </a:outerShdw>
          </a:effectLst>
        </p:spPr>
      </p:sp>
      <p:sp>
        <p:nvSpPr>
          <p:cNvPr id="4" name="ic_bg_818"/>
          <p:cNvSpPr/>
          <p:nvPr/>
        </p:nvSpPr>
        <p:spPr>
          <a:xfrm>
            <a:off x="777240" y="1554480"/>
            <a:ext cx="685800" cy="685800"/>
          </a:xfrm>
          <a:prstGeom prst="ellipse">
            <a:avLst/>
          </a:prstGeom>
          <a:solidFill>
            <a:srgbClr val="0A2F5C"/>
          </a:solidFill>
          <a:ln/>
        </p:spPr>
      </p:sp>
      <p:pic>
        <p:nvPicPr>
          <p:cNvPr id="5" name="ic_819" descr="FaRoute">    </p:cNvPr>
          <p:cNvPicPr>
            <a:picLocks noChangeAspect="1"/>
          </p:cNvPicPr>
          <p:nvPr/>
        </p:nvPicPr>
        <p:blipFill>
          <a:blip r:embed="rId1"/>
          <a:stretch>
            <a:fillRect/>
          </a:stretch>
        </p:blipFill>
        <p:spPr>
          <a:xfrm>
            <a:off x="948690" y="1725930"/>
            <a:ext cx="342900" cy="342900"/>
          </a:xfrm>
          <a:prstGeom prst="rect">
            <a:avLst/>
          </a:prstGeom>
        </p:spPr>
      </p:pic>
      <p:sp>
        <p:nvSpPr>
          <p:cNvPr id="6" name="t_820"/>
          <p:cNvSpPr txBox="1"/>
          <p:nvPr/>
        </p:nvSpPr>
        <p:spPr>
          <a:xfrm>
            <a:off x="1691640" y="1463040"/>
            <a:ext cx="4114800" cy="365760"/>
          </a:xfrm>
          <a:prstGeom prst="rect">
            <a:avLst/>
          </a:prstGeom>
          <a:noFill/>
          <a:ln/>
        </p:spPr>
        <p:txBody>
          <a:bodyPr wrap="square" lIns="0" tIns="0" rIns="0" bIns="0" rtlCol="0" anchor="t"/>
          <a:lstStyle/>
          <a:p>
            <a:pPr indent="0" marL="0">
              <a:buNone/>
            </a:pPr>
            <a:r>
              <a:rPr lang="en-US" sz="1700" b="1" dirty="0">
                <a:solidFill>
                  <a:schemeClr val="tx2"/>
                </a:solidFill>
              </a:rPr>
              <a:t>Une démarche structurée</a:t>
            </a:r>
            <a:endParaRPr lang="en-US" sz="1700" dirty="0"/>
          </a:p>
        </p:txBody>
      </p:sp>
      <p:sp>
        <p:nvSpPr>
          <p:cNvPr id="7" name="t_821"/>
          <p:cNvSpPr txBox="1"/>
          <p:nvPr/>
        </p:nvSpPr>
        <p:spPr>
          <a:xfrm>
            <a:off x="1691640" y="1847088"/>
            <a:ext cx="4114800" cy="868680"/>
          </a:xfrm>
          <a:prstGeom prst="rect">
            <a:avLst/>
          </a:prstGeom>
          <a:noFill/>
          <a:ln/>
        </p:spPr>
        <p:txBody>
          <a:bodyPr wrap="square" lIns="0" tIns="0" rIns="0" bIns="0" rtlCol="0" anchor="t"/>
          <a:lstStyle/>
          <a:p>
            <a:pPr indent="0" marL="0">
              <a:buNone/>
            </a:pPr>
            <a:r>
              <a:rPr lang="en-US" sz="1300" dirty="0">
                <a:solidFill>
                  <a:srgbClr val="6B7585"/>
                </a:solidFill>
              </a:rPr>
              <a:t>Étude préalable, analyse de l'existant, conception UML, puis réalisation</a:t>
            </a:r>
            <a:endParaRPr lang="en-US" sz="1300" dirty="0"/>
          </a:p>
        </p:txBody>
      </p:sp>
      <p:sp>
        <p:nvSpPr>
          <p:cNvPr id="8" name="card_822"/>
          <p:cNvSpPr/>
          <p:nvPr/>
        </p:nvSpPr>
        <p:spPr>
          <a:xfrm>
            <a:off x="548640" y="2971800"/>
            <a:ext cx="5394960" cy="1508760"/>
          </a:xfrm>
          <a:prstGeom prst="roundRect">
            <a:avLst>
              <a:gd name="adj" fmla="val 7273"/>
            </a:avLst>
          </a:prstGeom>
          <a:solidFill>
            <a:schemeClr val="bg1"/>
          </a:solidFill>
          <a:ln/>
          <a:effectLst>
            <a:outerShdw sx="100000" sy="100000" kx="0" ky="0" algn="bl" rotWithShape="0" blurRad="76200" dist="19050" dir="5400000">
              <a:srgbClr val="1B2433">
                <a:alpha val="10000"/>
              </a:srgbClr>
            </a:outerShdw>
          </a:effectLst>
        </p:spPr>
      </p:sp>
      <p:sp>
        <p:nvSpPr>
          <p:cNvPr id="9" name="ic_bg_823"/>
          <p:cNvSpPr/>
          <p:nvPr/>
        </p:nvSpPr>
        <p:spPr>
          <a:xfrm>
            <a:off x="777240" y="3246120"/>
            <a:ext cx="685800" cy="685800"/>
          </a:xfrm>
          <a:prstGeom prst="ellipse">
            <a:avLst/>
          </a:prstGeom>
          <a:solidFill>
            <a:srgbClr val="03909E"/>
          </a:solidFill>
          <a:ln/>
        </p:spPr>
      </p:sp>
      <p:pic>
        <p:nvPicPr>
          <p:cNvPr id="10" name="ic_824" descr="FaLayerGroup">    </p:cNvPr>
          <p:cNvPicPr>
            <a:picLocks noChangeAspect="1"/>
          </p:cNvPicPr>
          <p:nvPr/>
        </p:nvPicPr>
        <p:blipFill>
          <a:blip r:embed="rId2"/>
          <a:stretch>
            <a:fillRect/>
          </a:stretch>
        </p:blipFill>
        <p:spPr>
          <a:xfrm>
            <a:off x="948690" y="3417570"/>
            <a:ext cx="342900" cy="342900"/>
          </a:xfrm>
          <a:prstGeom prst="rect">
            <a:avLst/>
          </a:prstGeom>
        </p:spPr>
      </p:pic>
      <p:sp>
        <p:nvSpPr>
          <p:cNvPr id="11" name="t_825"/>
          <p:cNvSpPr txBox="1"/>
          <p:nvPr/>
        </p:nvSpPr>
        <p:spPr>
          <a:xfrm>
            <a:off x="1691640" y="3154680"/>
            <a:ext cx="4114800" cy="365760"/>
          </a:xfrm>
          <a:prstGeom prst="rect">
            <a:avLst/>
          </a:prstGeom>
          <a:noFill/>
          <a:ln/>
        </p:spPr>
        <p:txBody>
          <a:bodyPr wrap="square" lIns="0" tIns="0" rIns="0" bIns="0" rtlCol="0" anchor="t"/>
          <a:lstStyle/>
          <a:p>
            <a:pPr indent="0" marL="0">
              <a:buNone/>
            </a:pPr>
            <a:r>
              <a:rPr lang="en-US" sz="1700" b="1" dirty="0">
                <a:solidFill>
                  <a:schemeClr val="tx2"/>
                </a:solidFill>
              </a:rPr>
              <a:t>Une solution complète</a:t>
            </a:r>
            <a:endParaRPr lang="en-US" sz="1700" dirty="0"/>
          </a:p>
        </p:txBody>
      </p:sp>
      <p:sp>
        <p:nvSpPr>
          <p:cNvPr id="12" name="t_826"/>
          <p:cNvSpPr txBox="1"/>
          <p:nvPr/>
        </p:nvSpPr>
        <p:spPr>
          <a:xfrm>
            <a:off x="1691640" y="3538728"/>
            <a:ext cx="4114800" cy="868680"/>
          </a:xfrm>
          <a:prstGeom prst="rect">
            <a:avLst/>
          </a:prstGeom>
          <a:noFill/>
          <a:ln/>
        </p:spPr>
        <p:txBody>
          <a:bodyPr wrap="square" lIns="0" tIns="0" rIns="0" bIns="0" rtlCol="0" anchor="t"/>
          <a:lstStyle/>
          <a:p>
            <a:pPr indent="0" marL="0">
              <a:buNone/>
            </a:pPr>
            <a:r>
              <a:rPr lang="en-US" sz="1300" dirty="0">
                <a:solidFill>
                  <a:srgbClr val="6B7585"/>
                </a:solidFill>
              </a:rPr>
              <a:t>Inscription, sessions, emplois du temps, assiduité, notes, délibérations, devoirs, documents, messagerie et assistant</a:t>
            </a:r>
            <a:endParaRPr lang="en-US" sz="1300" dirty="0"/>
          </a:p>
        </p:txBody>
      </p:sp>
      <p:sp>
        <p:nvSpPr>
          <p:cNvPr id="13" name="card_827"/>
          <p:cNvSpPr/>
          <p:nvPr/>
        </p:nvSpPr>
        <p:spPr>
          <a:xfrm>
            <a:off x="548640" y="4663440"/>
            <a:ext cx="5394960" cy="1508760"/>
          </a:xfrm>
          <a:prstGeom prst="roundRect">
            <a:avLst>
              <a:gd name="adj" fmla="val 7273"/>
            </a:avLst>
          </a:prstGeom>
          <a:solidFill>
            <a:schemeClr val="bg1"/>
          </a:solidFill>
          <a:ln/>
          <a:effectLst>
            <a:outerShdw sx="100000" sy="100000" kx="0" ky="0" algn="bl" rotWithShape="0" blurRad="76200" dist="19050" dir="5400000">
              <a:srgbClr val="1B2433">
                <a:alpha val="10000"/>
              </a:srgbClr>
            </a:outerShdw>
          </a:effectLst>
        </p:spPr>
      </p:sp>
      <p:sp>
        <p:nvSpPr>
          <p:cNvPr id="14" name="ic_bg_828"/>
          <p:cNvSpPr/>
          <p:nvPr/>
        </p:nvSpPr>
        <p:spPr>
          <a:xfrm>
            <a:off x="777240" y="4937760"/>
            <a:ext cx="685800" cy="685800"/>
          </a:xfrm>
          <a:prstGeom prst="ellipse">
            <a:avLst/>
          </a:prstGeom>
          <a:solidFill>
            <a:srgbClr val="D7971D"/>
          </a:solidFill>
          <a:ln/>
        </p:spPr>
      </p:sp>
      <p:pic>
        <p:nvPicPr>
          <p:cNvPr id="15" name="ic_829" descr="FaLaptopCode">    </p:cNvPr>
          <p:cNvPicPr>
            <a:picLocks noChangeAspect="1"/>
          </p:cNvPicPr>
          <p:nvPr/>
        </p:nvPicPr>
        <p:blipFill>
          <a:blip r:embed="rId3"/>
          <a:stretch>
            <a:fillRect/>
          </a:stretch>
        </p:blipFill>
        <p:spPr>
          <a:xfrm>
            <a:off x="948690" y="5109210"/>
            <a:ext cx="342900" cy="342900"/>
          </a:xfrm>
          <a:prstGeom prst="rect">
            <a:avLst/>
          </a:prstGeom>
        </p:spPr>
      </p:pic>
      <p:sp>
        <p:nvSpPr>
          <p:cNvPr id="16" name="t_830"/>
          <p:cNvSpPr txBox="1"/>
          <p:nvPr/>
        </p:nvSpPr>
        <p:spPr>
          <a:xfrm>
            <a:off x="1691640" y="4846320"/>
            <a:ext cx="4114800" cy="365760"/>
          </a:xfrm>
          <a:prstGeom prst="rect">
            <a:avLst/>
          </a:prstGeom>
          <a:noFill/>
          <a:ln/>
        </p:spPr>
        <p:txBody>
          <a:bodyPr wrap="square" lIns="0" tIns="0" rIns="0" bIns="0" rtlCol="0" anchor="t"/>
          <a:lstStyle/>
          <a:p>
            <a:pPr indent="0" marL="0">
              <a:buNone/>
            </a:pPr>
            <a:r>
              <a:rPr lang="en-US" sz="1700" b="1" dirty="0">
                <a:solidFill>
                  <a:schemeClr val="tx2"/>
                </a:solidFill>
              </a:rPr>
              <a:t>Des technologies actuelles</a:t>
            </a:r>
            <a:endParaRPr lang="en-US" sz="1700" dirty="0"/>
          </a:p>
        </p:txBody>
      </p:sp>
      <p:sp>
        <p:nvSpPr>
          <p:cNvPr id="17" name="t_831"/>
          <p:cNvSpPr txBox="1"/>
          <p:nvPr/>
        </p:nvSpPr>
        <p:spPr>
          <a:xfrm>
            <a:off x="1691640" y="5230368"/>
            <a:ext cx="4114800" cy="868680"/>
          </a:xfrm>
          <a:prstGeom prst="rect">
            <a:avLst/>
          </a:prstGeom>
          <a:noFill/>
          <a:ln/>
        </p:spPr>
        <p:txBody>
          <a:bodyPr wrap="square" lIns="0" tIns="0" rIns="0" bIns="0" rtlCol="0" anchor="t"/>
          <a:lstStyle/>
          <a:p>
            <a:pPr indent="0" marL="0">
              <a:buNone/>
            </a:pPr>
            <a:r>
              <a:rPr lang="en-US" sz="1300" dirty="0">
                <a:solidFill>
                  <a:srgbClr val="6B7585"/>
                </a:solidFill>
              </a:rPr>
              <a:t>Laravel, Vue.js, Tailwind CSS et MySQL, dans une organisation agile SCRUM</a:t>
            </a:r>
            <a:endParaRPr lang="en-US" sz="1300" dirty="0"/>
          </a:p>
        </p:txBody>
      </p:sp>
      <p:sp>
        <p:nvSpPr>
          <p:cNvPr id="18" name="win_832"/>
          <p:cNvSpPr/>
          <p:nvPr/>
        </p:nvSpPr>
        <p:spPr>
          <a:xfrm>
            <a:off x="6263640" y="1280160"/>
            <a:ext cx="5394960" cy="3467679"/>
          </a:xfrm>
          <a:prstGeom prst="roundRect">
            <a:avLst>
              <a:gd name="adj" fmla="val 2110"/>
            </a:avLst>
          </a:prstGeom>
          <a:solidFill>
            <a:srgbClr val="E6EAF0"/>
          </a:solidFill>
          <a:ln w="9525">
            <a:solidFill>
              <a:srgbClr val="D5DCE5"/>
            </a:solidFill>
            <a:prstDash val="solid"/>
          </a:ln>
          <a:effectLst>
            <a:outerShdw sx="100000" sy="100000" kx="0" ky="0" algn="bl" rotWithShape="0" blurRad="127000" dist="38100" dir="5400000">
              <a:srgbClr val="1B2433">
                <a:alpha val="14000"/>
              </a:srgbClr>
            </a:outerShdw>
          </a:effectLst>
        </p:spPr>
      </p:sp>
      <p:sp>
        <p:nvSpPr>
          <p:cNvPr id="19" name="dot_833"/>
          <p:cNvSpPr/>
          <p:nvPr/>
        </p:nvSpPr>
        <p:spPr>
          <a:xfrm>
            <a:off x="6373368" y="1362456"/>
            <a:ext cx="82296" cy="82296"/>
          </a:xfrm>
          <a:prstGeom prst="ellipse">
            <a:avLst/>
          </a:prstGeom>
          <a:solidFill>
            <a:srgbClr val="FF5F57"/>
          </a:solidFill>
          <a:ln/>
        </p:spPr>
      </p:sp>
      <p:sp>
        <p:nvSpPr>
          <p:cNvPr id="20" name="dot_834"/>
          <p:cNvSpPr/>
          <p:nvPr/>
        </p:nvSpPr>
        <p:spPr>
          <a:xfrm>
            <a:off x="6501384" y="1362456"/>
            <a:ext cx="82296" cy="82296"/>
          </a:xfrm>
          <a:prstGeom prst="ellipse">
            <a:avLst/>
          </a:prstGeom>
          <a:solidFill>
            <a:srgbClr val="FEBC2E"/>
          </a:solidFill>
          <a:ln/>
        </p:spPr>
      </p:sp>
      <p:sp>
        <p:nvSpPr>
          <p:cNvPr id="21" name="dot_835"/>
          <p:cNvSpPr/>
          <p:nvPr/>
        </p:nvSpPr>
        <p:spPr>
          <a:xfrm>
            <a:off x="6629400" y="1362456"/>
            <a:ext cx="82296" cy="82296"/>
          </a:xfrm>
          <a:prstGeom prst="ellipse">
            <a:avLst/>
          </a:prstGeom>
          <a:solidFill>
            <a:srgbClr val="28C840"/>
          </a:solidFill>
          <a:ln/>
        </p:spPr>
      </p:sp>
      <p:sp>
        <p:nvSpPr>
          <p:cNvPr id="22" name="url_836"/>
          <p:cNvSpPr/>
          <p:nvPr/>
        </p:nvSpPr>
        <p:spPr>
          <a:xfrm>
            <a:off x="6812280" y="1325880"/>
            <a:ext cx="2265883" cy="155448"/>
          </a:xfrm>
          <a:prstGeom prst="roundRect">
            <a:avLst>
              <a:gd name="adj" fmla="val 35294"/>
            </a:avLst>
          </a:prstGeom>
          <a:solidFill>
            <a:srgbClr val="FFFFFF"/>
          </a:solidFill>
          <a:ln/>
        </p:spPr>
      </p:sp>
      <p:sp>
        <p:nvSpPr>
          <p:cNvPr id="23" name="urltxt_837"/>
          <p:cNvSpPr txBox="1"/>
          <p:nvPr/>
        </p:nvSpPr>
        <p:spPr>
          <a:xfrm>
            <a:off x="6903720" y="1325880"/>
            <a:ext cx="2174443" cy="155448"/>
          </a:xfrm>
          <a:prstGeom prst="rect">
            <a:avLst/>
          </a:prstGeom>
          <a:noFill/>
          <a:ln/>
        </p:spPr>
        <p:txBody>
          <a:bodyPr wrap="square" lIns="0" tIns="0" rIns="0" bIns="0" rtlCol="0" anchor="ctr"/>
          <a:lstStyle/>
          <a:p>
            <a:pPr indent="0" marL="0">
              <a:buNone/>
            </a:pPr>
            <a:r>
              <a:rPr lang="en-US" sz="700" dirty="0">
                <a:solidFill>
                  <a:srgbClr val="7A8494"/>
                </a:solidFill>
              </a:rPr>
              <a:t>insfp.dz/admin/dashboard</a:t>
            </a:r>
            <a:endParaRPr lang="en-US" sz="700" dirty="0"/>
          </a:p>
        </p:txBody>
      </p:sp>
      <p:pic>
        <p:nvPicPr>
          <p:cNvPr id="24" name="shot_838" descr="capture">    </p:cNvPr>
          <p:cNvPicPr>
            <a:picLocks noChangeAspect="1"/>
          </p:cNvPicPr>
          <p:nvPr/>
        </p:nvPicPr>
        <p:blipFill>
          <a:blip r:embed="rId4"/>
          <a:stretch>
            <a:fillRect/>
          </a:stretch>
        </p:blipFill>
        <p:spPr>
          <a:xfrm>
            <a:off x="6272784" y="1527048"/>
            <a:ext cx="5376672" cy="3211647"/>
          </a:xfrm>
          <a:prstGeom prst="rect">
            <a:avLst/>
          </a:prstGeom>
        </p:spPr>
      </p:pic>
      <p:sp>
        <p:nvSpPr>
          <p:cNvPr id="25" name="win_839"/>
          <p:cNvSpPr/>
          <p:nvPr/>
        </p:nvSpPr>
        <p:spPr>
          <a:xfrm>
            <a:off x="7635240" y="3931920"/>
            <a:ext cx="3568764" cy="2377440"/>
          </a:xfrm>
          <a:prstGeom prst="roundRect">
            <a:avLst>
              <a:gd name="adj" fmla="val 3077"/>
            </a:avLst>
          </a:prstGeom>
          <a:solidFill>
            <a:srgbClr val="E6EAF0"/>
          </a:solidFill>
          <a:ln w="9525">
            <a:solidFill>
              <a:srgbClr val="D5DCE5"/>
            </a:solidFill>
            <a:prstDash val="solid"/>
          </a:ln>
          <a:effectLst>
            <a:outerShdw sx="100000" sy="100000" kx="0" ky="0" algn="bl" rotWithShape="0" blurRad="127000" dist="38100" dir="5400000">
              <a:srgbClr val="1B2433">
                <a:alpha val="14000"/>
              </a:srgbClr>
            </a:outerShdw>
          </a:effectLst>
        </p:spPr>
      </p:sp>
      <p:sp>
        <p:nvSpPr>
          <p:cNvPr id="26" name="dot_840"/>
          <p:cNvSpPr/>
          <p:nvPr/>
        </p:nvSpPr>
        <p:spPr>
          <a:xfrm>
            <a:off x="7744968" y="4014216"/>
            <a:ext cx="82296" cy="82296"/>
          </a:xfrm>
          <a:prstGeom prst="ellipse">
            <a:avLst/>
          </a:prstGeom>
          <a:solidFill>
            <a:srgbClr val="FF5F57"/>
          </a:solidFill>
          <a:ln/>
        </p:spPr>
      </p:sp>
      <p:sp>
        <p:nvSpPr>
          <p:cNvPr id="27" name="dot_841"/>
          <p:cNvSpPr/>
          <p:nvPr/>
        </p:nvSpPr>
        <p:spPr>
          <a:xfrm>
            <a:off x="7872984" y="4014216"/>
            <a:ext cx="82296" cy="82296"/>
          </a:xfrm>
          <a:prstGeom prst="ellipse">
            <a:avLst/>
          </a:prstGeom>
          <a:solidFill>
            <a:srgbClr val="FEBC2E"/>
          </a:solidFill>
          <a:ln/>
        </p:spPr>
      </p:sp>
      <p:sp>
        <p:nvSpPr>
          <p:cNvPr id="28" name="dot_842"/>
          <p:cNvSpPr/>
          <p:nvPr/>
        </p:nvSpPr>
        <p:spPr>
          <a:xfrm>
            <a:off x="8001000" y="4014216"/>
            <a:ext cx="82296" cy="82296"/>
          </a:xfrm>
          <a:prstGeom prst="ellipse">
            <a:avLst/>
          </a:prstGeom>
          <a:solidFill>
            <a:srgbClr val="28C840"/>
          </a:solidFill>
          <a:ln/>
        </p:spPr>
      </p:sp>
      <p:sp>
        <p:nvSpPr>
          <p:cNvPr id="29" name="url_843"/>
          <p:cNvSpPr/>
          <p:nvPr/>
        </p:nvSpPr>
        <p:spPr>
          <a:xfrm>
            <a:off x="8183880" y="3977640"/>
            <a:ext cx="1498881" cy="155448"/>
          </a:xfrm>
          <a:prstGeom prst="roundRect">
            <a:avLst>
              <a:gd name="adj" fmla="val 35294"/>
            </a:avLst>
          </a:prstGeom>
          <a:solidFill>
            <a:srgbClr val="FFFFFF"/>
          </a:solidFill>
          <a:ln/>
        </p:spPr>
      </p:sp>
      <p:sp>
        <p:nvSpPr>
          <p:cNvPr id="30" name="urltxt_844"/>
          <p:cNvSpPr txBox="1"/>
          <p:nvPr/>
        </p:nvSpPr>
        <p:spPr>
          <a:xfrm>
            <a:off x="8275320" y="3977640"/>
            <a:ext cx="1407441" cy="155448"/>
          </a:xfrm>
          <a:prstGeom prst="rect">
            <a:avLst/>
          </a:prstGeom>
          <a:noFill/>
          <a:ln/>
        </p:spPr>
        <p:txBody>
          <a:bodyPr wrap="square" lIns="0" tIns="0" rIns="0" bIns="0" rtlCol="0" anchor="ctr"/>
          <a:lstStyle/>
          <a:p>
            <a:pPr indent="0" marL="0">
              <a:buNone/>
            </a:pPr>
            <a:r>
              <a:rPr lang="en-US" sz="700" dirty="0">
                <a:solidFill>
                  <a:srgbClr val="7A8494"/>
                </a:solidFill>
              </a:rPr>
              <a:t>insfp.dz/student/exams</a:t>
            </a:r>
            <a:endParaRPr lang="en-US" sz="700" dirty="0"/>
          </a:p>
        </p:txBody>
      </p:sp>
      <p:pic>
        <p:nvPicPr>
          <p:cNvPr id="31" name="shot_845" descr="capture">    </p:cNvPr>
          <p:cNvPicPr>
            <a:picLocks noChangeAspect="1"/>
          </p:cNvPicPr>
          <p:nvPr/>
        </p:nvPicPr>
        <p:blipFill>
          <a:blip r:embed="rId5"/>
          <a:stretch>
            <a:fillRect/>
          </a:stretch>
        </p:blipFill>
        <p:spPr>
          <a:xfrm>
            <a:off x="7644384" y="4178808"/>
            <a:ext cx="3550476" cy="2121408"/>
          </a:xfrm>
          <a:prstGeom prst="rect">
            <a:avLst/>
          </a:prstGeom>
        </p:spPr>
      </p:pic>
      <p:sp>
        <p:nvSpPr>
          <p:cNvPr id="25" name="Slide Number Placeholder 0"/>
          <p:cNvSpPr>
            <a:spLocks noGrp="1"/>
          </p:cNvSpPr>
          <p:nvPr>
            <p:ph type="sldNum" sz="quarter" idx="4294967295"/>
          </p:nvPr>
        </p:nvSpPr>
        <p:spPr>
          <a:xfrm>
            <a:off x="1120140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deco3"/>
          <p:cNvSpPr/>
          <p:nvPr/>
        </p:nvSpPr>
        <p:spPr>
          <a:xfrm>
            <a:off x="7498080" y="-2011680"/>
            <a:ext cx="6400800" cy="6400800"/>
          </a:xfrm>
          <a:prstGeom prst="ellipse">
            <a:avLst/>
          </a:prstGeom>
          <a:solidFill>
            <a:srgbClr val="03909E">
              <a:alpha val="18000"/>
            </a:srgbClr>
          </a:solidFill>
          <a:ln/>
        </p:spPr>
      </p:sp>
      <p:sp>
        <p:nvSpPr>
          <p:cNvPr id="3" name="deco4"/>
          <p:cNvSpPr/>
          <p:nvPr/>
        </p:nvSpPr>
        <p:spPr>
          <a:xfrm>
            <a:off x="-1828800" y="4023360"/>
            <a:ext cx="4754880" cy="4754880"/>
          </a:xfrm>
          <a:prstGeom prst="ellipse">
            <a:avLst/>
          </a:prstGeom>
          <a:solidFill>
            <a:srgbClr val="D7971D">
              <a:alpha val="12000"/>
            </a:srgbClr>
          </a:solidFill>
          <a:ln/>
        </p:spPr>
      </p:sp>
      <p:sp>
        <p:nvSpPr>
          <p:cNvPr id="4" name="card_846"/>
          <p:cNvSpPr/>
          <p:nvPr/>
        </p:nvSpPr>
        <p:spPr>
          <a:xfrm>
            <a:off x="5184648" y="822960"/>
            <a:ext cx="1828800" cy="2103120"/>
          </a:xfrm>
          <a:prstGeom prst="roundRect">
            <a:avLst>
              <a:gd name="adj" fmla="val 10000"/>
            </a:avLst>
          </a:prstGeom>
          <a:solidFill>
            <a:schemeClr val="bg1"/>
          </a:solidFill>
          <a:ln/>
        </p:spPr>
      </p:sp>
      <p:pic>
        <p:nvPicPr>
          <p:cNvPr id="5" name="logo_end" descr="C:\Users\User\AppData\Local\Temp\claude\C--laragon-www-insfp\daa683c1-51f9-43fb-93f8-0512c893b7b2\scratchpad\di\logo64.png">    </p:cNvPr>
          <p:cNvPicPr>
            <a:picLocks noChangeAspect="1"/>
          </p:cNvPicPr>
          <p:nvPr/>
        </p:nvPicPr>
        <p:blipFill>
          <a:blip r:embed="rId1"/>
          <a:stretch>
            <a:fillRect/>
          </a:stretch>
        </p:blipFill>
        <p:spPr>
          <a:xfrm>
            <a:off x="5413248" y="914400"/>
            <a:ext cx="1371600" cy="1686676"/>
          </a:xfrm>
          <a:prstGeom prst="rect">
            <a:avLst/>
          </a:prstGeom>
        </p:spPr>
      </p:pic>
      <p:sp>
        <p:nvSpPr>
          <p:cNvPr id="6" name="t_847"/>
          <p:cNvSpPr txBox="1"/>
          <p:nvPr/>
        </p:nvSpPr>
        <p:spPr>
          <a:xfrm>
            <a:off x="914400" y="3246120"/>
            <a:ext cx="10360152" cy="914400"/>
          </a:xfrm>
          <a:prstGeom prst="rect">
            <a:avLst/>
          </a:prstGeom>
          <a:noFill/>
          <a:ln/>
        </p:spPr>
        <p:txBody>
          <a:bodyPr wrap="square" lIns="0" tIns="0" rIns="0" bIns="0" rtlCol="0" anchor="t"/>
          <a:lstStyle/>
          <a:p>
            <a:pPr algn="ctr" indent="0" marL="0">
              <a:buNone/>
            </a:pPr>
            <a:r>
              <a:rPr lang="en-US" sz="4400" b="1" dirty="0">
                <a:solidFill>
                  <a:srgbClr val="FFFFFF"/>
                </a:solidFill>
                <a:latin typeface="Segoe UI Semibold" pitchFamily="34" charset="0"/>
                <a:ea typeface="Segoe UI Semibold" pitchFamily="34" charset="-122"/>
                <a:cs typeface="Segoe UI Semibold" pitchFamily="34" charset="-120"/>
              </a:rPr>
              <a:t>Merci pour votre attention</a:t>
            </a:r>
            <a:endParaRPr lang="en-US" sz="4400" dirty="0"/>
          </a:p>
        </p:txBody>
      </p:sp>
      <p:sp>
        <p:nvSpPr>
          <p:cNvPr id="7" name="t_848"/>
          <p:cNvSpPr txBox="1"/>
          <p:nvPr/>
        </p:nvSpPr>
        <p:spPr>
          <a:xfrm>
            <a:off x="914400" y="4754880"/>
            <a:ext cx="10360152" cy="365760"/>
          </a:xfrm>
          <a:prstGeom prst="rect">
            <a:avLst/>
          </a:prstGeom>
          <a:noFill/>
          <a:ln/>
        </p:spPr>
        <p:txBody>
          <a:bodyPr wrap="square" lIns="0" tIns="0" rIns="0" bIns="0" rtlCol="0" anchor="t"/>
          <a:lstStyle/>
          <a:p>
            <a:pPr algn="ctr" indent="0" marL="0">
              <a:buNone/>
            </a:pPr>
            <a:r>
              <a:rPr lang="en-US" sz="1400" dirty="0">
                <a:solidFill>
                  <a:srgbClr val="CFE3F0"/>
                </a:solidFill>
              </a:rPr>
              <a:t>Nos remerciements à Mme SAIGHI ainsi qu'à la direction et au personnel de l'INSFP</a:t>
            </a:r>
            <a:endParaRPr lang="en-US" sz="1400" dirty="0"/>
          </a:p>
        </p:txBody>
      </p:sp>
      <p:sp>
        <p:nvSpPr>
          <p:cNvPr id="8" name="t_849"/>
          <p:cNvSpPr txBox="1"/>
          <p:nvPr/>
        </p:nvSpPr>
        <p:spPr>
          <a:xfrm>
            <a:off x="914400" y="4206240"/>
            <a:ext cx="10360152" cy="457200"/>
          </a:xfrm>
          <a:prstGeom prst="rect">
            <a:avLst/>
          </a:prstGeom>
          <a:noFill/>
          <a:ln/>
        </p:spPr>
        <p:txBody>
          <a:bodyPr wrap="square" lIns="0" tIns="0" rIns="0" bIns="0" rtlCol="0" anchor="t"/>
          <a:lstStyle/>
          <a:p>
            <a:pPr algn="ctr" indent="0" marL="0">
              <a:buNone/>
            </a:pPr>
            <a:r>
              <a:rPr lang="en-US" sz="1800" dirty="0">
                <a:solidFill>
                  <a:srgbClr val="D7971D"/>
                </a:solidFill>
              </a:rPr>
              <a:t>Questions ?</a:t>
            </a:r>
            <a:endParaRPr lang="en-US" sz="1800" dirty="0"/>
          </a:p>
        </p:txBody>
      </p:sp>
      <p:sp>
        <p:nvSpPr>
          <p:cNvPr id="9" name="t_850"/>
          <p:cNvSpPr txBox="1"/>
          <p:nvPr/>
        </p:nvSpPr>
        <p:spPr>
          <a:xfrm>
            <a:off x="914400" y="5760720"/>
            <a:ext cx="10360152" cy="365760"/>
          </a:xfrm>
          <a:prstGeom prst="rect">
            <a:avLst/>
          </a:prstGeom>
          <a:noFill/>
          <a:ln/>
        </p:spPr>
        <p:txBody>
          <a:bodyPr wrap="square" lIns="0" tIns="0" rIns="0" bIns="0" rtlCol="0" anchor="t"/>
          <a:lstStyle/>
          <a:p>
            <a:pPr algn="ctr" indent="0" marL="0">
              <a:buNone/>
            </a:pPr>
            <a:r>
              <a:rPr lang="en-US" sz="1300" dirty="0">
                <a:solidFill>
                  <a:srgbClr val="CFE3F0"/>
                </a:solidFill>
              </a:rPr>
              <a:t>HAOUES Yasser  ·  CHRMAT Khaled  ·  LASSEL Abdelmalek     |     Promotrice : Mme SAIGHI</a:t>
            </a:r>
            <a:endParaRPr lang="en-US" sz="1300" dirty="0"/>
          </a:p>
        </p:txBody>
      </p:sp>
    </p:spTree>
  </p:cSld>
  <p:clrMapOvr>
    <a:masterClrMapping/>
  </p:clrMapOvr>
</p:sld>
</file>

<file path=ppt/theme/theme1.xml><?xml version="1.0" encoding="utf-8"?>
<a:theme xmlns:a="http://schemas.openxmlformats.org/drawingml/2006/main" name="INSFP">
  <a:themeElements>
    <a:clrScheme name="INSFP">
      <a:dk1>
        <a:srgbClr val="1B2433"/>
      </a:dk1>
      <a:lt1>
        <a:srgbClr val="FFFFFF"/>
      </a:lt1>
      <a:dk2>
        <a:srgbClr val="0A2F5C"/>
      </a:dk2>
      <a:lt2>
        <a:srgbClr val="F4F7FA"/>
      </a:lt2>
      <a:accent1>
        <a:srgbClr val="03909E"/>
      </a:accent1>
      <a:accent2>
        <a:srgbClr val="D7971D"/>
      </a:accent2>
      <a:accent3>
        <a:srgbClr val="1E8E5A"/>
      </a:accent3>
      <a:accent4>
        <a:srgbClr val="C62828"/>
      </a:accent4>
      <a:accent5>
        <a:srgbClr val="3F4652"/>
      </a:accent5>
      <a:accent6>
        <a:srgbClr val="5B8DEF"/>
      </a:accent6>
      <a:hlink>
        <a:srgbClr val="03909E"/>
      </a:hlink>
      <a:folHlink>
        <a:srgbClr val="0A2F5C"/>
      </a:folHlink>
    </a:clrScheme>
    <a:fontScheme name="INSFP">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INSFP Mohamed Tayeb Boucenna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Plateforme de gestion intégrée de l'INSFP</dc:title>
  <dc:subject>PptxGenJS Presentation</dc:subject>
  <dc:creator>HAOUES Yasser, CHRMAT Khaled, LASSEL Abdelmalek</dc:creator>
  <cp:lastModifiedBy>HAOUES Yasser, CHRMAT Khaled, LASSEL Abdelmalek</cp:lastModifiedBy>
  <cp:revision>1</cp:revision>
  <dcterms:created xsi:type="dcterms:W3CDTF">2026-10-09T23:41:55Z</dcterms:created>
  <dcterms:modified xsi:type="dcterms:W3CDTF">2026-10-09T23:41:55Z</dcterms:modified>
</cp:coreProperties>
</file>